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2" r:id="rId8"/>
    <p:sldId id="263" r:id="rId9"/>
    <p:sldId id="264" r:id="rId10"/>
    <p:sldId id="265" r:id="rId11"/>
    <p:sldId id="266" r:id="rId12"/>
    <p:sldId id="267" r:id="rId13"/>
  </p:sldIdLst>
  <p:sldSz cx="12192000" cy="6858000" type="screen16x9"/>
  <p:notesSz cx="6858000" cy="9144000"/>
  <p:defaultTextStyle>
    <a:defPPr>
      <a:defRPr lang="vi-VN"/>
    </a:defPPr>
    <a:lvl1pPr marL="0" algn="l" defTabSz="457200" rtl="0" eaLnBrk="1" latinLnBrk="0" hangingPunct="1">
      <a:defRPr lang="vi-VN" sz="1800" kern="1200">
        <a:solidFill>
          <a:schemeClr val="tx1"/>
        </a:solidFill>
        <a:latin typeface="+mn-lt"/>
        <a:ea typeface="+mn-ea"/>
        <a:cs typeface="+mn-cs"/>
      </a:defRPr>
    </a:lvl1pPr>
    <a:lvl2pPr marL="457200" algn="l" defTabSz="457200" rtl="0" eaLnBrk="1" latinLnBrk="0" hangingPunct="1">
      <a:defRPr lang="vi-VN" sz="1800" kern="1200">
        <a:solidFill>
          <a:schemeClr val="tx1"/>
        </a:solidFill>
        <a:latin typeface="+mn-lt"/>
        <a:ea typeface="+mn-ea"/>
        <a:cs typeface="+mn-cs"/>
      </a:defRPr>
    </a:lvl2pPr>
    <a:lvl3pPr marL="914400" algn="l" defTabSz="457200" rtl="0" eaLnBrk="1" latinLnBrk="0" hangingPunct="1">
      <a:defRPr lang="vi-VN" sz="1800" kern="1200">
        <a:solidFill>
          <a:schemeClr val="tx1"/>
        </a:solidFill>
        <a:latin typeface="+mn-lt"/>
        <a:ea typeface="+mn-ea"/>
        <a:cs typeface="+mn-cs"/>
      </a:defRPr>
    </a:lvl3pPr>
    <a:lvl4pPr marL="1371600" algn="l" defTabSz="457200" rtl="0" eaLnBrk="1" latinLnBrk="0" hangingPunct="1">
      <a:defRPr lang="vi-VN" sz="1800" kern="1200">
        <a:solidFill>
          <a:schemeClr val="tx1"/>
        </a:solidFill>
        <a:latin typeface="+mn-lt"/>
        <a:ea typeface="+mn-ea"/>
        <a:cs typeface="+mn-cs"/>
      </a:defRPr>
    </a:lvl4pPr>
    <a:lvl5pPr marL="1828800" algn="l" defTabSz="457200" rtl="0" eaLnBrk="1" latinLnBrk="0" hangingPunct="1">
      <a:defRPr lang="vi-VN" sz="1800" kern="1200">
        <a:solidFill>
          <a:schemeClr val="tx1"/>
        </a:solidFill>
        <a:latin typeface="+mn-lt"/>
        <a:ea typeface="+mn-ea"/>
        <a:cs typeface="+mn-cs"/>
      </a:defRPr>
    </a:lvl5pPr>
    <a:lvl6pPr marL="2286000" algn="l" defTabSz="457200" rtl="0" eaLnBrk="1" latinLnBrk="0" hangingPunct="1">
      <a:defRPr lang="vi-VN" sz="1800" kern="1200">
        <a:solidFill>
          <a:schemeClr val="tx1"/>
        </a:solidFill>
        <a:latin typeface="+mn-lt"/>
        <a:ea typeface="+mn-ea"/>
        <a:cs typeface="+mn-cs"/>
      </a:defRPr>
    </a:lvl6pPr>
    <a:lvl7pPr marL="2743200" algn="l" defTabSz="457200" rtl="0" eaLnBrk="1" latinLnBrk="0" hangingPunct="1">
      <a:defRPr lang="vi-VN" sz="1800" kern="1200">
        <a:solidFill>
          <a:schemeClr val="tx1"/>
        </a:solidFill>
        <a:latin typeface="+mn-lt"/>
        <a:ea typeface="+mn-ea"/>
        <a:cs typeface="+mn-cs"/>
      </a:defRPr>
    </a:lvl7pPr>
    <a:lvl8pPr marL="3200400" algn="l" defTabSz="457200" rtl="0" eaLnBrk="1" latinLnBrk="0" hangingPunct="1">
      <a:defRPr lang="vi-VN" sz="1800" kern="1200">
        <a:solidFill>
          <a:schemeClr val="tx1"/>
        </a:solidFill>
        <a:latin typeface="+mn-lt"/>
        <a:ea typeface="+mn-ea"/>
        <a:cs typeface="+mn-cs"/>
      </a:defRPr>
    </a:lvl8pPr>
    <a:lvl9pPr marL="3657600" algn="l" defTabSz="457200" rtl="0" eaLnBrk="1" latinLnBrk="0" hangingPunct="1">
      <a:defRPr lang="vi-V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vi-VN"/>
          </a:p>
        </p:txBody>
      </p:sp>
    </p:spTree>
  </p:cSld>
  <p:clrMap bg1="lt1" tx1="dk1" bg2="lt2" tx2="dk2" accent1="accent1" accent2="accent2" accent3="accent3" accent4="accent4" accent5="accent5" accent6="accent6" hlink="hlink" folHlink="folHlink"/>
  <p:hf/>
  <p:notesStyle>
    <a:lvl1pPr marL="0" algn="l">
      <a:defRPr lang="vi-VN"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Em chào thầy và các bạn. Nhóm em xin trình bày đồ án EmoTune, một hộp nhạc hiểu cảm xúc. Đây là thiết bị chạy trên Raspberry Pi: nó nhìn khuôn mặt người dùng, nhận ra cảm xúc của họ và tự phát bản nhạc phù hợp. Hôm nay là buổi báo cáo tiến độ, cuối buổi nhóm em sẽ demo trực tiếp trên thiết bị thật.</a:t>
            </a:r>
            <a:endParaRPr lang="vi-V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Bắt đầu từ một vấn đề rất quen thuộc: muốn nghe nhạc hợp tâm trạng thì mình phải tự tìm, tự chọn, và việc đó khá mất công, nhất là lúc đang mệt hay đang buồn. Cách cũ là mở app, tìm rồi chọn; với EmoTune, người dùng chỉ cần ngồi xuống là nhạc tự phát. Ý tưởng của nhóm gồm bốn điểm: thiết bị tự nhận biết cảm xúc qua khuôn mặt, tự phát nhạc phù hợp, học dần sở thích qua cách người dùng nghe mà không cần bấm like, và được đặt trong phòng như một vật dụng, không cần mở máy tính. Vì đây là môn tương tác người–máy, nhóm muốn người dùng thao tác càng ít càng tốt, còn máy thì chủ động hiểu người dùng.</a:t>
            </a:r>
            <a:endParaRPr lang="vi-V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Về kiến trúc, toàn bộ phần mềm chạy trên Raspberry Pi 5, gồm bốn khối. Webcam gửi hình vào giao diện React, giao diện gửi ảnh sang backend Node.js, rồi backend gọi khối AI viết bằng Flask và PyTorch để nhận diện cảm xúc. Backend đọc và ghi PostgreSQL, nơi lưu bài hát, điểm yêu thích và lịch sử cảm xúc, sau đó trả file nhạc mp3 về cho giao diện phát ra loa Bluetooth. Riêng đèn và nút bấm do một GPIO service nhỏ điều khiển, nối với đèn LED RGB và hai nút. Mỗi khối làm một việc riêng, nên nếu khối đèn hay nút gặp lỗi thì phần nhạc vẫn chạy bình thường.</a:t>
            </a:r>
            <a:endParaRPr lang="vi-V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Đây là slide quan trọng nhất: một vòng sử dụng trọn vẹn. Người dùng bấm nút 1 để bắt đầu, đèn nhấp nháy trắng báo camera đang bật. Cứ ba giây hệ thống chụp một ảnh để AI nhận diện cảm xúc. Khi đã chọn được bài hợp cảm xúc, camera tắt, nhạc phát và đèn đổi sang màu của cảm xúc đó. Người dùng có thể nghe hết, bấm nút 1 để sang bài tiếp hoặc nút 2 để tạm dừng. Hệ thống đo phần trăm bài đã nghe để cộng hoặc trừ điểm, rồi hết bài thì bật camera và quay lại bước quét. Vòng lặp này tự động hoàn toàn; việc tắt camera khi đang phát nhạc vừa tiết kiệm tài nguyên, vừa riêng tư, lại không ghi dữ liệu rác mỗi ba giây.</a:t>
            </a:r>
            <a:endParaRPr lang="vi-V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Sau khi biết cảm xúc, backend gợi ý qua bốn bước: lọc bài theo cảm xúc, bỏ qua ba bài vừa phát để không lặp lại, xếp các bài theo điểm yêu thích riêng của từng cảm xúc, rồi chọn theo tỉ lệ. Hiện hệ thống đang dùng tám mươi, hai mươi; bản nâng cấp nhóm đang code sẽ đổi thành sáu mươi lăm, ba mươi lăm: sáu mươi lăm phần trăm số lần phát bài điểm cao nhất mà người dùng đã thích, ba mươi lăm phần trăm còn lại dành để khám phá bài lạ, nhưng ưu tiên bài lạ hợp gu. Bảng bên phải chỉ là ví dụ minh họa: bài A điểm cao được chọn, còn bài C vừa phát nên bị bỏ qua. Kho nhạc hiện tại có mười bài, mỗi cảm xúc hai bài.</a:t>
            </a:r>
            <a:endParaRPr lang="vi-V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Từ góp ý khi dùng thử, nhóm thấy một hạn chế: điểm hiện chỉ lưu cho từng bài, nên nghe hết một bài ballad cũng không giúp gì cho bài ballad khác cùng dòng. Vì vậy nhóm đã thiết kế bản nâng cấp gợi ý theo gu, đang code. Hệ thống hiểu bài hát từ ba nguồn: thứ nhất là âm thanh, luôn có, một script AI tự phân tích file nhạc để lấy nhịp, độ mạnh, độ sáng và âm sắc thành một dấu vân tay mười bảy con số; thứ hai là thẻ ca sĩ và thể loại có sẵn trong file mp3 nếu có; thứ ba là nhãn nhóm tự điền, không bắt buộc. Điểm tổng của một bài bằng điểm riêng của nó, cộng không phẩy năm lần mức giống các bài đã nghe, cộng không phẩy ba nếu cùng ca sĩ và không phẩy ba nếu cùng dòng nhạc với những bài người dùng thích. Ví dụ đã nghe hết hai bài ballad, thì một bài ballad khác chưa nghe mà âm thanh giống chín mươi phần trăm sẽ được ưu tiên, còn bài EDM chỉ giống hai mươi phần trăm thì xếp sau. Cảm xúc vẫn là tiêu chí chính, gu chỉ xếp hạng trong cùng cảm xúc, và càng nghe nhiều thì gợi ý càng sát.</a:t>
            </a:r>
            <a:endParaRPr lang="vi-V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Điểm yêu thích đến từ chính hành vi nghe. Hệ thống đo số giây nghe thật, không tính đoạn tua qua. Nếu người dùng nghe dưới bốn mươi phần trăm rồi chuyển bài, bài đó bị trừ một điểm vì không hợp; nghe từ tám mươi phần trăm trở lên thì được cộng một điểm; ở giữa thì cộng không phẩy ba. Nhờ vậy người dùng không cần bấm like, hành vi nghe chính là phản hồi. Điểm được ghi theo đúng cảm xúc dùng để chọn bài, nên lần sau với cùng cảm xúc đó hệ thống sẽ ưu tiên bài được nghe hết. Đây là góp ý của thầy ở buổi trước và nhóm đã làm xong.</a:t>
            </a:r>
            <a:endParaRPr lang="vi-V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Hệ thống không chỉ chiều theo cảm xúc mà còn chăm sóc cảm xúc. Nó theo dõi xu hướng trong một ngày, hoặc ba ngày nếu người dùng dùng ít. Nếu hơn một nửa số lần là buồn và người dùng lại đang buồn hoặc giận, hệ thống chuyển sang nhạc vui và hiện một lời động viên. Biểu đồ trên slide chỉ là minh họa cho một giai đoạn buồn kéo dài. Ý tưởng là nếu đang buồn mà cứ phát nhạc buồn mãi thì không tốt, nên hệ thống chủ động đổi hướng để giúp cải thiện tâm trạng.</a:t>
            </a:r>
            <a:endParaRPr lang="vi-V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Đây là lý do nhóm dùng Pi thay vì máy tính: đồ án là một thiết bị người dùng tương tác bằng đèn và nút, không cần nhìn màn hình. Đèn LED RGB tắt khi chưa bắt đầu, nhấp nháy trắng khi camera đang bật, và khi phát nhạc thì sáng vàng cho vui, xanh dương cho buồn, đỏ cho giận, tím cho ngạc nhiên, trắng cho bình thường. Đèn báo camera giúp người dùng biết lúc nào mình đang được nhìn. Hai nút bấm lần lượt là bắt đầu hoặc bài tiếp, và tạm dừng hoặc phát tiếp. Bảng bên phải là sơ đồ nối chân: ba màu LED vào GPIO mười bảy, hai mươi bảy, hai mươi hai qua điện trở, hai nút vào GPIO năm và sáu nối đất. Toàn bộ ảnh khuôn mặt được xử lý ngay trên Pi, không gửi lên Internet, và mỗi lần nhận diện mất dưới ba giây. Phần mạch đèn và nút đã thiết kế và code xong, đã chạy thử bằng chân giả lập; nhóm đang chờ breadboard để lắp mạch thật và sẽ demo phần này ở buổi sau.</a:t>
            </a:r>
            <a:endParaRPr lang="vi-V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Đến giờ nhóm đã đạt ba kết quả: vòng lặp chạy trọn trên Raspberry Pi 5 từ nhận mặt, phát nhạc, chấm điểm đến quét lại; lịch sử cảm xúc và phản hồi được ghi đúng vào database; và nhờ dùng hotspot của laptop nên có thể demo ở bất kỳ đâu. Bây giờ nhóm em xin demo trực tiếp. Em sẽ bấm nút 1 để đèn nhấp nháy, nhìn vào camera, nhạc sẽ phát và đèn đổi màu theo cảm xúc, sau đó bấm nút 1 để chuyển bài, rồi mở database để thầy xem dòng bad vừa được ghi.</a:t>
            </a:r>
            <a:endParaRPr lang="vi-V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motune_bao_ca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VN" smtClean="0"/>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1FF6DA9-008F-8B48-92A6-B652298478BF}" type="slidenum">
              <a:rPr lang="vi-VN" smtClean="0"/>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vi-VN" sz="1200">
                <a:solidFill>
                  <a:schemeClr val="tx1">
                    <a:tint val="75000"/>
                  </a:schemeClr>
                </a:solidFill>
              </a:defRPr>
            </a:lvl1pPr>
          </a:lstStyle>
          <a:p>
            <a:fld id="{5BCAD085-E8A6-8845-BD4E-CB4CCA059FC4}" type="datetimeFigureOut">
              <a:rPr lang="vi-VN" smtClean="0"/>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vi-VN"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vi-VN" sz="1200">
                <a:solidFill>
                  <a:schemeClr val="tx1">
                    <a:tint val="75000"/>
                  </a:schemeClr>
                </a:solidFill>
              </a:defRPr>
            </a:lvl1pPr>
          </a:lstStyle>
          <a:p>
            <a:fld id="{C1FF6DA9-008F-8B48-92A6-B652298478BF}" type="slidenum">
              <a:rPr lang="vi-VN" smtClean="0"/>
            </a:fld>
            <a:endParaRPr lang="vi-VN"/>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1" latinLnBrk="0" hangingPunct="1">
        <a:spcBef>
          <a:spcPct val="0"/>
        </a:spcBef>
        <a:buNone/>
        <a:defRPr lang="vi-VN"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lang="vi-VN" sz="18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lang="vi-VN" sz="17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lang="vi-VN" sz="16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lang="vi-VN" sz="145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lang="vi-VN" sz="135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lang="vi-VN" sz="125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lang="vi-VN" sz="11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lang="vi-VN" sz="1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lang="vi-VN" sz="900" kern="1200">
          <a:solidFill>
            <a:schemeClr val="tx1"/>
          </a:solidFill>
          <a:latin typeface="+mn-lt"/>
          <a:ea typeface="+mn-ea"/>
          <a:cs typeface="+mn-cs"/>
        </a:defRPr>
      </a:lvl9pPr>
    </p:bodyStyle>
    <p:otherStyle>
      <a:defPPr>
        <a:defRPr lang="vi-VN"/>
      </a:defPPr>
      <a:lvl1pPr marL="0" algn="l" defTabSz="457200" rtl="0" eaLnBrk="1" latinLnBrk="0" hangingPunct="1">
        <a:defRPr lang="vi-VN" sz="1800" kern="1200">
          <a:solidFill>
            <a:schemeClr val="tx1"/>
          </a:solidFill>
          <a:latin typeface="+mn-lt"/>
          <a:ea typeface="+mn-ea"/>
          <a:cs typeface="+mn-cs"/>
        </a:defRPr>
      </a:lvl1pPr>
      <a:lvl2pPr marL="457200" algn="l" defTabSz="457200" rtl="0" eaLnBrk="1" latinLnBrk="0" hangingPunct="1">
        <a:defRPr lang="vi-VN" sz="1700" kern="1200">
          <a:solidFill>
            <a:schemeClr val="tx1"/>
          </a:solidFill>
          <a:latin typeface="+mn-lt"/>
          <a:ea typeface="+mn-ea"/>
          <a:cs typeface="+mn-cs"/>
        </a:defRPr>
      </a:lvl2pPr>
      <a:lvl3pPr marL="914400" algn="l" defTabSz="457200" rtl="0" eaLnBrk="1" latinLnBrk="0" hangingPunct="1">
        <a:defRPr lang="vi-VN" sz="1600" kern="1200">
          <a:solidFill>
            <a:schemeClr val="tx1"/>
          </a:solidFill>
          <a:latin typeface="+mn-lt"/>
          <a:ea typeface="+mn-ea"/>
          <a:cs typeface="+mn-cs"/>
        </a:defRPr>
      </a:lvl3pPr>
      <a:lvl4pPr marL="1371600" algn="l" defTabSz="457200" rtl="0" eaLnBrk="1" latinLnBrk="0" hangingPunct="1">
        <a:defRPr lang="vi-VN" sz="1450" kern="1200">
          <a:solidFill>
            <a:schemeClr val="tx1"/>
          </a:solidFill>
          <a:latin typeface="+mn-lt"/>
          <a:ea typeface="+mn-ea"/>
          <a:cs typeface="+mn-cs"/>
        </a:defRPr>
      </a:lvl4pPr>
      <a:lvl5pPr marL="1828800" algn="l" defTabSz="457200" rtl="0" eaLnBrk="1" latinLnBrk="0" hangingPunct="1">
        <a:defRPr lang="vi-VN" sz="1350" kern="1200">
          <a:solidFill>
            <a:schemeClr val="tx1"/>
          </a:solidFill>
          <a:latin typeface="+mn-lt"/>
          <a:ea typeface="+mn-ea"/>
          <a:cs typeface="+mn-cs"/>
        </a:defRPr>
      </a:lvl5pPr>
      <a:lvl6pPr marL="2286000" algn="l" defTabSz="457200" rtl="0" eaLnBrk="1" latinLnBrk="0" hangingPunct="1">
        <a:defRPr lang="vi-VN" sz="1250" kern="1200">
          <a:solidFill>
            <a:schemeClr val="tx1"/>
          </a:solidFill>
          <a:latin typeface="+mn-lt"/>
          <a:ea typeface="+mn-ea"/>
          <a:cs typeface="+mn-cs"/>
        </a:defRPr>
      </a:lvl6pPr>
      <a:lvl7pPr marL="2743200" algn="l" defTabSz="457200" rtl="0" eaLnBrk="1" latinLnBrk="0" hangingPunct="1">
        <a:defRPr lang="vi-VN" sz="1100" kern="1200">
          <a:solidFill>
            <a:schemeClr val="tx1"/>
          </a:solidFill>
          <a:latin typeface="+mn-lt"/>
          <a:ea typeface="+mn-ea"/>
          <a:cs typeface="+mn-cs"/>
        </a:defRPr>
      </a:lvl7pPr>
      <a:lvl8pPr marL="3200400" algn="l" defTabSz="457200" rtl="0" eaLnBrk="1" latinLnBrk="0" hangingPunct="1">
        <a:defRPr lang="vi-VN" sz="1000" kern="1200">
          <a:solidFill>
            <a:schemeClr val="tx1"/>
          </a:solidFill>
          <a:latin typeface="+mn-lt"/>
          <a:ea typeface="+mn-ea"/>
          <a:cs typeface="+mn-cs"/>
        </a:defRPr>
      </a:lvl8pPr>
      <a:lvl9pPr marL="3657600" algn="l" defTabSz="457200" rtl="0" eaLnBrk="1" latinLnBrk="0" hangingPunct="1">
        <a:defRPr lang="vi-VN"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cover-kicker"/>
          <p:cNvGrpSpPr/>
          <p:nvPr/>
        </p:nvGrpSpPr>
        <p:grpSpPr>
          <a:xfrm>
            <a:off x="908304" y="1737360"/>
            <a:ext cx="2640787" cy="234696"/>
            <a:chOff x="908304" y="1737360"/>
            <a:chExt cx="2640787" cy="234696"/>
          </a:xfrm>
        </p:grpSpPr>
        <p:sp>
          <p:nvSpPr>
            <p:cNvPr id="2" name="TextBox 2"/>
            <p:cNvSpPr txBox="1"/>
            <p:nvPr/>
          </p:nvSpPr>
          <p:spPr>
            <a:xfrm>
              <a:off x="908304" y="1737360"/>
              <a:ext cx="2640787"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BÁO CÁO TIẾN ĐỘ · 28/09/2026</a:t>
              </a:r>
              <a:endParaRPr lang="vi-VN" sz="1200" dirty="0">
                <a:solidFill>
                  <a:schemeClr val="accent1"/>
                </a:solidFill>
                <a:latin typeface="Consolas" panose="020B0609020204030204"/>
                <a:ea typeface="Consolas" panose="020B0609020204030204"/>
                <a:cs typeface="Consolas" panose="020B0609020204030204"/>
              </a:endParaRPr>
            </a:p>
          </p:txBody>
        </p:sp>
      </p:grpSp>
      <p:grpSp>
        <p:nvGrpSpPr>
          <p:cNvPr id="6" name="cover-title"/>
          <p:cNvGrpSpPr/>
          <p:nvPr/>
        </p:nvGrpSpPr>
        <p:grpSpPr>
          <a:xfrm>
            <a:off x="895350" y="2179320"/>
            <a:ext cx="7124190" cy="1779270"/>
            <a:chOff x="895350" y="2179320"/>
            <a:chExt cx="7124190" cy="1779270"/>
          </a:xfrm>
        </p:grpSpPr>
        <p:sp>
          <p:nvSpPr>
            <p:cNvPr id="4" name="TextBox 4"/>
            <p:cNvSpPr txBox="1"/>
            <p:nvPr/>
          </p:nvSpPr>
          <p:spPr>
            <a:xfrm>
              <a:off x="895350" y="2179320"/>
              <a:ext cx="3285741" cy="1047750"/>
            </a:xfrm>
            <a:prstGeom prst="rect">
              <a:avLst/>
            </a:prstGeom>
            <a:noFill/>
            <a:ln>
              <a:noFill/>
            </a:ln>
          </p:spPr>
          <p:txBody>
            <a:bodyPr wrap="none" lIns="0" tIns="0" rIns="0" bIns="0" anchor="t" anchorCtr="0">
              <a:spAutoFit/>
            </a:bodyPr>
            <a:lstStyle/>
            <a:p>
              <a:pPr algn="l"/>
              <a:r>
                <a:rPr lang="vi-VN" sz="5400" b="1" dirty="0">
                  <a:solidFill>
                    <a:schemeClr val="accent1"/>
                  </a:solidFill>
                  <a:latin typeface="+mn-lt"/>
                  <a:ea typeface="+mn-ea"/>
                  <a:cs typeface="+mn-cs"/>
                </a:rPr>
                <a:t>EmoTune</a:t>
              </a:r>
              <a:endParaRPr lang="vi-VN" sz="5400" b="1" dirty="0">
                <a:solidFill>
                  <a:schemeClr val="accent1"/>
                </a:solidFill>
                <a:latin typeface="+mn-lt"/>
                <a:ea typeface="+mn-ea"/>
                <a:cs typeface="+mn-cs"/>
              </a:endParaRPr>
            </a:p>
          </p:txBody>
        </p:sp>
        <p:sp>
          <p:nvSpPr>
            <p:cNvPr id="5" name="TextBox 5"/>
            <p:cNvSpPr txBox="1"/>
            <p:nvPr/>
          </p:nvSpPr>
          <p:spPr>
            <a:xfrm>
              <a:off x="895350" y="3025140"/>
              <a:ext cx="7124190" cy="933450"/>
            </a:xfrm>
            <a:prstGeom prst="rect">
              <a:avLst/>
            </a:prstGeom>
            <a:noFill/>
            <a:ln>
              <a:noFill/>
            </a:ln>
          </p:spPr>
          <p:txBody>
            <a:bodyPr wrap="none" lIns="0" tIns="0" rIns="0" bIns="0" anchor="t" anchorCtr="0">
              <a:spAutoFit/>
            </a:bodyPr>
            <a:lstStyle/>
            <a:p>
              <a:pPr algn="l"/>
              <a:r>
                <a:rPr lang="vi-VN" sz="4800" b="1" dirty="0">
                  <a:solidFill>
                    <a:schemeClr val="dk1"/>
                  </a:solidFill>
                  <a:latin typeface="+mn-lt"/>
                  <a:ea typeface="+mn-ea"/>
                  <a:cs typeface="+mn-cs"/>
                </a:rPr>
                <a:t>Hộp nhạc hiểu cảm xúc</a:t>
              </a:r>
              <a:endParaRPr lang="vi-VN" sz="4800" b="1" dirty="0">
                <a:solidFill>
                  <a:schemeClr val="dk1"/>
                </a:solidFill>
                <a:latin typeface="+mn-lt"/>
                <a:ea typeface="+mn-ea"/>
                <a:cs typeface="+mn-cs"/>
              </a:endParaRPr>
            </a:p>
          </p:txBody>
        </p:sp>
      </p:grpSp>
      <p:grpSp>
        <p:nvGrpSpPr>
          <p:cNvPr id="8" name="cover-subtitle"/>
          <p:cNvGrpSpPr/>
          <p:nvPr/>
        </p:nvGrpSpPr>
        <p:grpSpPr>
          <a:xfrm>
            <a:off x="902970" y="3967162"/>
            <a:ext cx="5786209" cy="821055"/>
            <a:chOff x="902970" y="3967162"/>
            <a:chExt cx="5786209" cy="821055"/>
          </a:xfrm>
        </p:grpSpPr>
        <p:sp>
          <p:nvSpPr>
            <p:cNvPr id="7" name="TextBox 7"/>
            <p:cNvSpPr txBox="1"/>
            <p:nvPr/>
          </p:nvSpPr>
          <p:spPr>
            <a:xfrm>
              <a:off x="902970" y="3967162"/>
              <a:ext cx="5786209" cy="821055"/>
            </a:xfrm>
            <a:prstGeom prst="rect">
              <a:avLst/>
            </a:prstGeom>
            <a:noFill/>
            <a:ln>
              <a:noFill/>
            </a:ln>
          </p:spPr>
          <p:txBody>
            <a:bodyPr wrap="none" lIns="0" tIns="0" rIns="0" bIns="0" anchor="t" anchorCtr="0">
              <a:spAutoFit/>
            </a:bodyPr>
            <a:lstStyle/>
            <a:p>
              <a:pPr algn="l">
                <a:lnSpc>
                  <a:spcPts val="3000"/>
                </a:lnSpc>
              </a:pPr>
              <a:r>
                <a:rPr lang="vi-VN" sz="2250" dirty="0">
                  <a:solidFill>
                    <a:schemeClr val="dk1"/>
                  </a:solidFill>
                  <a:latin typeface="+mn-lt"/>
                  <a:ea typeface="+mn-ea"/>
                  <a:cs typeface="+mn-cs"/>
                </a:rPr>
                <a:t>Hệ thống gợi ý nhạc theo cảm xúc khuôn mặt</a:t>
              </a:r>
              <a:br>
                <a:rPr lang="vi-VN" sz="2250" dirty="0">
                  <a:solidFill>
                    <a:schemeClr val="dk1"/>
                  </a:solidFill>
                  <a:latin typeface="+mn-lt"/>
                  <a:ea typeface="+mn-ea"/>
                  <a:cs typeface="+mn-cs"/>
                </a:rPr>
              </a:br>
              <a:r>
                <a:rPr lang="vi-VN" sz="2250" dirty="0">
                  <a:solidFill>
                    <a:schemeClr val="dk1"/>
                  </a:solidFill>
                  <a:latin typeface="+mn-lt"/>
                  <a:ea typeface="+mn-ea"/>
                  <a:cs typeface="+mn-cs"/>
                </a:rPr>
                <a:t>trên Raspberry Pi</a:t>
              </a:r>
              <a:endParaRPr lang="vi-VN" sz="2250" dirty="0">
                <a:solidFill>
                  <a:schemeClr val="dk1"/>
                </a:solidFill>
                <a:latin typeface="+mn-lt"/>
                <a:ea typeface="+mn-ea"/>
                <a:cs typeface="+mn-cs"/>
              </a:endParaRPr>
            </a:p>
          </p:txBody>
        </p:sp>
      </p:grpSp>
      <p:grpSp>
        <p:nvGrpSpPr>
          <p:cNvPr id="11" name="cover-team"/>
          <p:cNvGrpSpPr/>
          <p:nvPr/>
        </p:nvGrpSpPr>
        <p:grpSpPr>
          <a:xfrm>
            <a:off x="914400" y="5086350"/>
            <a:ext cx="6491752" cy="1053084"/>
            <a:chOff x="914400" y="5086350"/>
            <a:chExt cx="6491752" cy="1053084"/>
          </a:xfrm>
        </p:grpSpPr>
        <p:sp>
          <p:nvSpPr>
            <p:cNvPr id="9" name="Rectangle 9"/>
            <p:cNvSpPr/>
            <p:nvPr/>
          </p:nvSpPr>
          <p:spPr>
            <a:xfrm>
              <a:off x="914400" y="5086350"/>
              <a:ext cx="38100" cy="971550"/>
            </a:xfrm>
            <a:prstGeom prst="rect">
              <a:avLst/>
            </a:prstGeom>
            <a:solidFill>
              <a:schemeClr val="accent1"/>
            </a:solidFill>
            <a:ln>
              <a:noFill/>
            </a:ln>
          </p:spPr>
        </p:sp>
        <p:sp>
          <p:nvSpPr>
            <p:cNvPr id="10" name="TextBox 10"/>
            <p:cNvSpPr txBox="1"/>
            <p:nvPr/>
          </p:nvSpPr>
          <p:spPr>
            <a:xfrm>
              <a:off x="1114806" y="5101590"/>
              <a:ext cx="6291346" cy="1037844"/>
            </a:xfrm>
            <a:prstGeom prst="rect">
              <a:avLst/>
            </a:prstGeom>
            <a:noFill/>
            <a:ln>
              <a:noFill/>
            </a:ln>
          </p:spPr>
          <p:txBody>
            <a:bodyPr wrap="none" lIns="0" tIns="0" rIns="0" bIns="0" anchor="t" anchorCtr="0">
              <a:spAutoFit/>
            </a:bodyPr>
            <a:lstStyle/>
            <a:p>
              <a:pPr algn="l">
                <a:lnSpc>
                  <a:spcPts val="2700"/>
                </a:lnSpc>
              </a:pPr>
              <a:r>
                <a:rPr lang="vi-VN" sz="1800" dirty="0">
                  <a:solidFill>
                    <a:schemeClr val="dk1"/>
                  </a:solidFill>
                  <a:latin typeface="+mn-lt"/>
                  <a:ea typeface="+mn-ea"/>
                  <a:cs typeface="+mn-cs"/>
                </a:rPr>
                <a:t>Nhóm 6</a:t>
              </a:r>
              <a:br>
                <a:rPr lang="vi-VN" sz="1800" dirty="0">
                  <a:solidFill>
                    <a:schemeClr val="dk1"/>
                  </a:solidFill>
                  <a:latin typeface="+mn-lt"/>
                  <a:ea typeface="+mn-ea"/>
                  <a:cs typeface="+mn-cs"/>
                </a:rPr>
              </a:br>
              <a:r>
                <a:rPr lang="vi-VN" sz="1800" dirty="0">
                  <a:solidFill>
                    <a:schemeClr val="accent5"/>
                  </a:solidFill>
                  <a:latin typeface="+mn-lt"/>
                  <a:ea typeface="+mn-ea"/>
                  <a:cs typeface="+mn-cs"/>
                </a:rPr>
                <a:t>Thành viên: Nguyễn Đức Vinh, Hoàng Tuấn Phát, Phạm Thế Vỹ</a:t>
              </a:r>
              <a:br>
                <a:rPr lang="vi-VN" sz="1800" dirty="0">
                  <a:solidFill>
                    <a:schemeClr val="accent5"/>
                  </a:solidFill>
                  <a:latin typeface="+mn-lt"/>
                  <a:ea typeface="+mn-ea"/>
                  <a:cs typeface="+mn-cs"/>
                </a:rPr>
              </a:br>
              <a:r>
                <a:rPr lang="vi-VN" sz="1800" dirty="0">
                  <a:solidFill>
                    <a:schemeClr val="accent5"/>
                  </a:solidFill>
                  <a:latin typeface="+mn-lt"/>
                  <a:ea typeface="+mn-ea"/>
                  <a:cs typeface="+mn-cs"/>
                </a:rPr>
                <a:t>Giảng viên hướng dẫn: Nguyễn Trọng Kiên</a:t>
              </a:r>
              <a:endParaRPr lang="vi-VN" sz="1800" dirty="0">
                <a:solidFill>
                  <a:schemeClr val="accent5"/>
                </a:solidFill>
                <a:latin typeface="+mn-lt"/>
                <a:ea typeface="+mn-ea"/>
                <a:cs typeface="+mn-cs"/>
              </a:endParaRPr>
            </a:p>
          </p:txBody>
        </p:sp>
      </p:grpSp>
      <p:grpSp>
        <p:nvGrpSpPr>
          <p:cNvPr id="33" name="cover-led-ring"/>
          <p:cNvGrpSpPr/>
          <p:nvPr/>
        </p:nvGrpSpPr>
        <p:grpSpPr>
          <a:xfrm>
            <a:off x="8172450" y="1638300"/>
            <a:ext cx="3619500" cy="3619500"/>
            <a:chOff x="8172450" y="1638300"/>
            <a:chExt cx="3619500" cy="3619500"/>
          </a:xfrm>
        </p:grpSpPr>
        <p:sp>
          <p:nvSpPr>
            <p:cNvPr id="12" name="Ellipse 12"/>
            <p:cNvSpPr/>
            <p:nvPr/>
          </p:nvSpPr>
          <p:spPr>
            <a:xfrm>
              <a:off x="8172450" y="1638300"/>
              <a:ext cx="3619500" cy="3619500"/>
            </a:xfrm>
            <a:prstGeom prst="ellipse">
              <a:avLst/>
            </a:prstGeom>
            <a:gradFill>
              <a:gsLst>
                <a:gs pos="0">
                  <a:schemeClr val="accent1">
                    <a:alpha val="22000"/>
                  </a:schemeClr>
                </a:gs>
                <a:gs pos="100000">
                  <a:schemeClr val="accent1">
                    <a:alpha val="0"/>
                  </a:schemeClr>
                </a:gs>
              </a:gsLst>
              <a:path path="circle">
                <a:fillToRect l="50000" t="50000" r="50000" b="50000"/>
              </a:path>
            </a:gradFill>
            <a:ln>
              <a:noFill/>
            </a:ln>
          </p:spPr>
        </p:sp>
        <p:sp>
          <p:nvSpPr>
            <p:cNvPr id="13" name="Ellipse 13"/>
            <p:cNvSpPr/>
            <p:nvPr/>
          </p:nvSpPr>
          <p:spPr>
            <a:xfrm>
              <a:off x="8553450" y="2019300"/>
              <a:ext cx="2857500" cy="2857500"/>
            </a:xfrm>
            <a:prstGeom prst="ellipse">
              <a:avLst/>
            </a:prstGeom>
            <a:noFill/>
            <a:ln w="19050">
              <a:solidFill>
                <a:schemeClr val="accent6"/>
              </a:solidFill>
              <a:prstDash val="dash"/>
            </a:ln>
          </p:spPr>
        </p:sp>
        <p:sp>
          <p:nvSpPr>
            <p:cNvPr id="14" name="Ellipse 14"/>
            <p:cNvSpPr/>
            <p:nvPr/>
          </p:nvSpPr>
          <p:spPr>
            <a:xfrm>
              <a:off x="9163050" y="2628900"/>
              <a:ext cx="1638300" cy="1638300"/>
            </a:xfrm>
            <a:prstGeom prst="ellipse">
              <a:avLst/>
            </a:prstGeom>
            <a:solidFill>
              <a:schemeClr val="lt2"/>
            </a:solidFill>
            <a:ln w="19050">
              <a:solidFill>
                <a:schemeClr val="accent1"/>
              </a:solidFill>
            </a:ln>
          </p:spPr>
        </p:sp>
        <p:grpSp>
          <p:nvGrpSpPr>
            <p:cNvPr id="17" name="Group 17"/>
            <p:cNvGrpSpPr/>
            <p:nvPr/>
          </p:nvGrpSpPr>
          <p:grpSpPr>
            <a:xfrm>
              <a:off x="9569529" y="3046722"/>
              <a:ext cx="727018" cy="783337"/>
              <a:chOff x="9569529" y="3046722"/>
              <a:chExt cx="727018" cy="783337"/>
            </a:xfrm>
          </p:grpSpPr>
          <p:sp>
            <p:nvSpPr>
              <p:cNvPr id="15" name="Freeform 15"/>
              <p:cNvSpPr/>
              <p:nvPr/>
            </p:nvSpPr>
            <p:spPr>
              <a:xfrm>
                <a:off x="9610725" y="3476625"/>
                <a:ext cx="657225" cy="314325"/>
              </a:xfrm>
              <a:custGeom>
                <a:avLst/>
                <a:gdLst/>
                <a:ahLst/>
                <a:cxnLst/>
                <a:rect l="l" t="t" r="r" b="b"/>
                <a:pathLst>
                  <a:path w="657225" h="314325">
                    <a:moveTo>
                      <a:pt x="657225" y="100012"/>
                    </a:moveTo>
                    <a:cubicBezTo>
                      <a:pt x="657225" y="155248"/>
                      <a:pt x="612448" y="200025"/>
                      <a:pt x="557212" y="200025"/>
                    </a:cubicBezTo>
                    <a:cubicBezTo>
                      <a:pt x="501977" y="200025"/>
                      <a:pt x="457200" y="155248"/>
                      <a:pt x="457200" y="100012"/>
                    </a:cubicBezTo>
                    <a:cubicBezTo>
                      <a:pt x="457200" y="44777"/>
                      <a:pt x="501977" y="0"/>
                      <a:pt x="557212" y="0"/>
                    </a:cubicBezTo>
                    <a:cubicBezTo>
                      <a:pt x="612448" y="0"/>
                      <a:pt x="657225" y="44777"/>
                      <a:pt x="657225" y="100012"/>
                    </a:cubicBezTo>
                    <a:close/>
                    <a:moveTo>
                      <a:pt x="100012" y="114300"/>
                    </a:moveTo>
                    <a:cubicBezTo>
                      <a:pt x="44777" y="114300"/>
                      <a:pt x="0" y="159077"/>
                      <a:pt x="0" y="214312"/>
                    </a:cubicBezTo>
                    <a:cubicBezTo>
                      <a:pt x="0" y="269548"/>
                      <a:pt x="44777" y="314325"/>
                      <a:pt x="100012" y="314325"/>
                    </a:cubicBezTo>
                    <a:cubicBezTo>
                      <a:pt x="155248" y="314325"/>
                      <a:pt x="200025" y="269548"/>
                      <a:pt x="200025" y="214312"/>
                    </a:cubicBezTo>
                    <a:cubicBezTo>
                      <a:pt x="200025" y="159077"/>
                      <a:pt x="155248" y="114300"/>
                      <a:pt x="100012" y="114300"/>
                    </a:cubicBezTo>
                    <a:close/>
                  </a:path>
                </a:pathLst>
              </a:custGeom>
              <a:solidFill>
                <a:schemeClr val="accent1">
                  <a:alpha val="20000"/>
                </a:schemeClr>
              </a:solidFill>
              <a:ln>
                <a:noFill/>
              </a:ln>
            </p:spPr>
          </p:sp>
          <p:sp>
            <p:nvSpPr>
              <p:cNvPr id="16" name="Freeform 16"/>
              <p:cNvSpPr/>
              <p:nvPr/>
            </p:nvSpPr>
            <p:spPr>
              <a:xfrm>
                <a:off x="9569529" y="3046722"/>
                <a:ext cx="727018" cy="783337"/>
              </a:xfrm>
              <a:custGeom>
                <a:avLst/>
                <a:gdLst/>
                <a:ahLst/>
                <a:cxnLst/>
                <a:rect l="l" t="t" r="r" b="b"/>
                <a:pathLst>
                  <a:path w="727018" h="783337">
                    <a:moveTo>
                      <a:pt x="715995" y="7315"/>
                    </a:moveTo>
                    <a:cubicBezTo>
                      <a:pt x="709059" y="1910"/>
                      <a:pt x="700021" y="0"/>
                      <a:pt x="691492" y="2135"/>
                    </a:cubicBezTo>
                    <a:lnTo>
                      <a:pt x="234292" y="116435"/>
                    </a:lnTo>
                    <a:cubicBezTo>
                      <a:pt x="221572" y="119615"/>
                      <a:pt x="212648" y="131042"/>
                      <a:pt x="212646" y="144153"/>
                    </a:cubicBezTo>
                    <a:lnTo>
                      <a:pt x="212646" y="537345"/>
                    </a:lnTo>
                    <a:cubicBezTo>
                      <a:pt x="163600" y="504575"/>
                      <a:pt x="98547" y="509377"/>
                      <a:pt x="54844" y="548995"/>
                    </a:cubicBezTo>
                    <a:cubicBezTo>
                      <a:pt x="11142" y="588613"/>
                      <a:pt x="0" y="652884"/>
                      <a:pt x="27816" y="704901"/>
                    </a:cubicBezTo>
                    <a:cubicBezTo>
                      <a:pt x="55633" y="756917"/>
                      <a:pt x="115273" y="783337"/>
                      <a:pt x="172488" y="768988"/>
                    </a:cubicBezTo>
                    <a:cubicBezTo>
                      <a:pt x="229703" y="754639"/>
                      <a:pt x="269818" y="703203"/>
                      <a:pt x="269796" y="644216"/>
                    </a:cubicBezTo>
                    <a:lnTo>
                      <a:pt x="269796" y="337927"/>
                    </a:lnTo>
                    <a:lnTo>
                      <a:pt x="669846" y="237915"/>
                    </a:lnTo>
                    <a:lnTo>
                      <a:pt x="669846" y="423045"/>
                    </a:lnTo>
                    <a:cubicBezTo>
                      <a:pt x="620800" y="390275"/>
                      <a:pt x="555747" y="395077"/>
                      <a:pt x="512044" y="434695"/>
                    </a:cubicBezTo>
                    <a:cubicBezTo>
                      <a:pt x="468342" y="474313"/>
                      <a:pt x="457200" y="538584"/>
                      <a:pt x="485016" y="590601"/>
                    </a:cubicBezTo>
                    <a:cubicBezTo>
                      <a:pt x="512833" y="642617"/>
                      <a:pt x="572473" y="669037"/>
                      <a:pt x="629688" y="654688"/>
                    </a:cubicBezTo>
                    <a:cubicBezTo>
                      <a:pt x="686903" y="640339"/>
                      <a:pt x="727018" y="588903"/>
                      <a:pt x="726996" y="529916"/>
                    </a:cubicBezTo>
                    <a:lnTo>
                      <a:pt x="726996" y="29853"/>
                    </a:lnTo>
                    <a:cubicBezTo>
                      <a:pt x="726998" y="21046"/>
                      <a:pt x="722939" y="12731"/>
                      <a:pt x="715995" y="7315"/>
                    </a:cubicBezTo>
                    <a:close/>
                    <a:moveTo>
                      <a:pt x="141209" y="715653"/>
                    </a:moveTo>
                    <a:cubicBezTo>
                      <a:pt x="101755" y="715653"/>
                      <a:pt x="69771" y="683670"/>
                      <a:pt x="69771" y="644216"/>
                    </a:cubicBezTo>
                    <a:cubicBezTo>
                      <a:pt x="69771" y="604762"/>
                      <a:pt x="101755" y="572778"/>
                      <a:pt x="141209" y="572778"/>
                    </a:cubicBezTo>
                    <a:cubicBezTo>
                      <a:pt x="180662" y="572778"/>
                      <a:pt x="212646" y="604762"/>
                      <a:pt x="212646" y="644216"/>
                    </a:cubicBezTo>
                    <a:cubicBezTo>
                      <a:pt x="212646" y="683670"/>
                      <a:pt x="180662" y="715653"/>
                      <a:pt x="141209" y="715653"/>
                    </a:cubicBezTo>
                    <a:close/>
                    <a:moveTo>
                      <a:pt x="269796" y="278991"/>
                    </a:moveTo>
                    <a:lnTo>
                      <a:pt x="269796" y="166477"/>
                    </a:lnTo>
                    <a:lnTo>
                      <a:pt x="669846" y="66465"/>
                    </a:lnTo>
                    <a:lnTo>
                      <a:pt x="669846" y="178979"/>
                    </a:lnTo>
                    <a:close/>
                    <a:moveTo>
                      <a:pt x="598409" y="601353"/>
                    </a:moveTo>
                    <a:cubicBezTo>
                      <a:pt x="558955" y="601353"/>
                      <a:pt x="526971" y="569370"/>
                      <a:pt x="526971" y="529916"/>
                    </a:cubicBezTo>
                    <a:cubicBezTo>
                      <a:pt x="526971" y="490462"/>
                      <a:pt x="558955" y="458478"/>
                      <a:pt x="598409" y="458478"/>
                    </a:cubicBezTo>
                    <a:cubicBezTo>
                      <a:pt x="637862" y="458478"/>
                      <a:pt x="669846" y="490462"/>
                      <a:pt x="669846" y="529916"/>
                    </a:cubicBezTo>
                    <a:cubicBezTo>
                      <a:pt x="669846" y="569370"/>
                      <a:pt x="637862" y="601353"/>
                      <a:pt x="598409" y="601353"/>
                    </a:cubicBezTo>
                    <a:close/>
                  </a:path>
                </a:pathLst>
              </a:custGeom>
              <a:solidFill>
                <a:schemeClr val="accent1"/>
              </a:solidFill>
              <a:ln>
                <a:noFill/>
              </a:ln>
            </p:spPr>
          </p:sp>
        </p:grpSp>
        <p:grpSp>
          <p:nvGrpSpPr>
            <p:cNvPr id="20" name="cover-led-happy"/>
            <p:cNvGrpSpPr/>
            <p:nvPr/>
          </p:nvGrpSpPr>
          <p:grpSpPr>
            <a:xfrm>
              <a:off x="9677400" y="1714500"/>
              <a:ext cx="609600" cy="609600"/>
              <a:chOff x="9677400" y="1714500"/>
              <a:chExt cx="609600" cy="609600"/>
            </a:xfrm>
          </p:grpSpPr>
          <p:sp>
            <p:nvSpPr>
              <p:cNvPr id="18" name="Ellipse 18"/>
              <p:cNvSpPr/>
              <p:nvPr/>
            </p:nvSpPr>
            <p:spPr>
              <a:xfrm>
                <a:off x="9677400" y="1714500"/>
                <a:ext cx="609600" cy="609600"/>
              </a:xfrm>
              <a:prstGeom prst="ellipse">
                <a:avLst/>
              </a:prstGeom>
              <a:solidFill>
                <a:schemeClr val="accent2">
                  <a:alpha val="18000"/>
                </a:schemeClr>
              </a:solidFill>
              <a:ln>
                <a:noFill/>
              </a:ln>
            </p:spPr>
          </p:sp>
          <p:sp>
            <p:nvSpPr>
              <p:cNvPr id="19" name="Ellipse 19"/>
              <p:cNvSpPr/>
              <p:nvPr/>
            </p:nvSpPr>
            <p:spPr>
              <a:xfrm>
                <a:off x="9791700" y="1828800"/>
                <a:ext cx="381000" cy="381000"/>
              </a:xfrm>
              <a:prstGeom prst="ellipse">
                <a:avLst/>
              </a:prstGeom>
              <a:solidFill>
                <a:schemeClr val="accent2"/>
              </a:solidFill>
              <a:ln>
                <a:noFill/>
              </a:ln>
            </p:spPr>
          </p:sp>
        </p:grpSp>
        <p:grpSp>
          <p:nvGrpSpPr>
            <p:cNvPr id="23" name="cover-led-sad"/>
            <p:cNvGrpSpPr/>
            <p:nvPr/>
          </p:nvGrpSpPr>
          <p:grpSpPr>
            <a:xfrm>
              <a:off x="11039475" y="2705100"/>
              <a:ext cx="609600" cy="609600"/>
              <a:chOff x="11039475" y="2705100"/>
              <a:chExt cx="609600" cy="609600"/>
            </a:xfrm>
          </p:grpSpPr>
          <p:sp>
            <p:nvSpPr>
              <p:cNvPr id="21" name="Ellipse 21"/>
              <p:cNvSpPr/>
              <p:nvPr/>
            </p:nvSpPr>
            <p:spPr>
              <a:xfrm>
                <a:off x="11039475" y="2705100"/>
                <a:ext cx="609600" cy="609600"/>
              </a:xfrm>
              <a:prstGeom prst="ellipse">
                <a:avLst/>
              </a:prstGeom>
              <a:solidFill>
                <a:srgbClr val="4F8CFF">
                  <a:alpha val="18000"/>
                </a:srgbClr>
              </a:solidFill>
              <a:ln>
                <a:noFill/>
              </a:ln>
            </p:spPr>
          </p:sp>
          <p:sp>
            <p:nvSpPr>
              <p:cNvPr id="22" name="Ellipse 22"/>
              <p:cNvSpPr/>
              <p:nvPr/>
            </p:nvSpPr>
            <p:spPr>
              <a:xfrm>
                <a:off x="11153775" y="2819400"/>
                <a:ext cx="381000" cy="381000"/>
              </a:xfrm>
              <a:prstGeom prst="ellipse">
                <a:avLst/>
              </a:prstGeom>
              <a:solidFill>
                <a:srgbClr val="4F8CFF"/>
              </a:solidFill>
              <a:ln>
                <a:noFill/>
              </a:ln>
            </p:spPr>
          </p:sp>
        </p:grpSp>
        <p:grpSp>
          <p:nvGrpSpPr>
            <p:cNvPr id="26" name="cover-led-angry"/>
            <p:cNvGrpSpPr/>
            <p:nvPr/>
          </p:nvGrpSpPr>
          <p:grpSpPr>
            <a:xfrm>
              <a:off x="10515600" y="4295775"/>
              <a:ext cx="609600" cy="609600"/>
              <a:chOff x="10515600" y="4295775"/>
              <a:chExt cx="609600" cy="609600"/>
            </a:xfrm>
          </p:grpSpPr>
          <p:sp>
            <p:nvSpPr>
              <p:cNvPr id="24" name="Ellipse 24"/>
              <p:cNvSpPr/>
              <p:nvPr/>
            </p:nvSpPr>
            <p:spPr>
              <a:xfrm>
                <a:off x="10515600" y="4295775"/>
                <a:ext cx="609600" cy="609600"/>
              </a:xfrm>
              <a:prstGeom prst="ellipse">
                <a:avLst/>
              </a:prstGeom>
              <a:solidFill>
                <a:srgbClr val="FF5A5F">
                  <a:alpha val="18000"/>
                </a:srgbClr>
              </a:solidFill>
              <a:ln>
                <a:noFill/>
              </a:ln>
            </p:spPr>
          </p:sp>
          <p:sp>
            <p:nvSpPr>
              <p:cNvPr id="25" name="Ellipse 25"/>
              <p:cNvSpPr/>
              <p:nvPr/>
            </p:nvSpPr>
            <p:spPr>
              <a:xfrm>
                <a:off x="10629900" y="4410075"/>
                <a:ext cx="381000" cy="381000"/>
              </a:xfrm>
              <a:prstGeom prst="ellipse">
                <a:avLst/>
              </a:prstGeom>
              <a:solidFill>
                <a:srgbClr val="FF5A5F"/>
              </a:solidFill>
              <a:ln>
                <a:noFill/>
              </a:ln>
            </p:spPr>
          </p:sp>
        </p:grpSp>
        <p:grpSp>
          <p:nvGrpSpPr>
            <p:cNvPr id="29" name="cover-led-surprise"/>
            <p:cNvGrpSpPr/>
            <p:nvPr/>
          </p:nvGrpSpPr>
          <p:grpSpPr>
            <a:xfrm>
              <a:off x="8839200" y="4295775"/>
              <a:ext cx="609600" cy="609600"/>
              <a:chOff x="8839200" y="4295775"/>
              <a:chExt cx="609600" cy="609600"/>
            </a:xfrm>
          </p:grpSpPr>
          <p:sp>
            <p:nvSpPr>
              <p:cNvPr id="27" name="Ellipse 27"/>
              <p:cNvSpPr/>
              <p:nvPr/>
            </p:nvSpPr>
            <p:spPr>
              <a:xfrm>
                <a:off x="8839200" y="4295775"/>
                <a:ext cx="609600" cy="609600"/>
              </a:xfrm>
              <a:prstGeom prst="ellipse">
                <a:avLst/>
              </a:prstGeom>
              <a:solidFill>
                <a:schemeClr val="accent3">
                  <a:alpha val="18000"/>
                </a:schemeClr>
              </a:solidFill>
              <a:ln>
                <a:noFill/>
              </a:ln>
            </p:spPr>
          </p:sp>
          <p:sp>
            <p:nvSpPr>
              <p:cNvPr id="28" name="Ellipse 28"/>
              <p:cNvSpPr/>
              <p:nvPr/>
            </p:nvSpPr>
            <p:spPr>
              <a:xfrm>
                <a:off x="8953500" y="4410075"/>
                <a:ext cx="381000" cy="381000"/>
              </a:xfrm>
              <a:prstGeom prst="ellipse">
                <a:avLst/>
              </a:prstGeom>
              <a:solidFill>
                <a:schemeClr val="accent3"/>
              </a:solidFill>
              <a:ln>
                <a:noFill/>
              </a:ln>
            </p:spPr>
          </p:sp>
        </p:grpSp>
        <p:grpSp>
          <p:nvGrpSpPr>
            <p:cNvPr id="32" name="cover-led-neutral"/>
            <p:cNvGrpSpPr/>
            <p:nvPr/>
          </p:nvGrpSpPr>
          <p:grpSpPr>
            <a:xfrm>
              <a:off x="8315325" y="2705100"/>
              <a:ext cx="609600" cy="609600"/>
              <a:chOff x="8315325" y="2705100"/>
              <a:chExt cx="609600" cy="609600"/>
            </a:xfrm>
          </p:grpSpPr>
          <p:sp>
            <p:nvSpPr>
              <p:cNvPr id="30" name="Ellipse 30"/>
              <p:cNvSpPr/>
              <p:nvPr/>
            </p:nvSpPr>
            <p:spPr>
              <a:xfrm>
                <a:off x="8315325" y="2705100"/>
                <a:ext cx="609600" cy="609600"/>
              </a:xfrm>
              <a:prstGeom prst="ellipse">
                <a:avLst/>
              </a:prstGeom>
              <a:solidFill>
                <a:schemeClr val="dk1">
                  <a:alpha val="18000"/>
                </a:schemeClr>
              </a:solidFill>
              <a:ln>
                <a:noFill/>
              </a:ln>
            </p:spPr>
          </p:sp>
          <p:sp>
            <p:nvSpPr>
              <p:cNvPr id="31" name="Ellipse 31"/>
              <p:cNvSpPr/>
              <p:nvPr/>
            </p:nvSpPr>
            <p:spPr>
              <a:xfrm>
                <a:off x="8429625" y="2819400"/>
                <a:ext cx="381000" cy="381000"/>
              </a:xfrm>
              <a:prstGeom prst="ellipse">
                <a:avLst/>
              </a:prstGeom>
              <a:solidFill>
                <a:schemeClr val="dk1"/>
              </a:solidFill>
              <a:ln>
                <a:noFill/>
              </a:ln>
            </p:spPr>
          </p:sp>
        </p:gr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3396154" cy="849630"/>
            <a:chOff x="594360" y="422910"/>
            <a:chExt cx="3396154" cy="849630"/>
          </a:xfrm>
        </p:grpSpPr>
        <p:sp>
          <p:nvSpPr>
            <p:cNvPr id="2" name="TextBox 2"/>
            <p:cNvSpPr txBox="1"/>
            <p:nvPr/>
          </p:nvSpPr>
          <p:spPr>
            <a:xfrm>
              <a:off x="603504" y="422910"/>
              <a:ext cx="1795882"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PHẦN 1 · GIỚI THIỆU</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3" name="TextBox 3"/>
            <p:cNvSpPr txBox="1"/>
            <p:nvPr/>
          </p:nvSpPr>
          <p:spPr>
            <a:xfrm>
              <a:off x="594360" y="685800"/>
              <a:ext cx="3396154"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Vấn đề &amp; ý tưởng</a:t>
              </a:r>
              <a:endParaRPr lang="vi-VN" sz="3000" b="1" dirty="0">
                <a:solidFill>
                  <a:schemeClr val="dk1"/>
                </a:solidFill>
                <a:latin typeface="+mn-lt"/>
                <a:ea typeface="+mn-ea"/>
                <a:cs typeface="+mn-cs"/>
              </a:endParaRP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12" name="problem"/>
          <p:cNvGrpSpPr/>
          <p:nvPr/>
        </p:nvGrpSpPr>
        <p:grpSpPr>
          <a:xfrm>
            <a:off x="598932" y="1411605"/>
            <a:ext cx="7891066" cy="772668"/>
            <a:chOff x="598932" y="1411605"/>
            <a:chExt cx="7891066" cy="772668"/>
          </a:xfrm>
        </p:grpSpPr>
        <p:sp>
          <p:nvSpPr>
            <p:cNvPr id="11" name="TextBox 11"/>
            <p:cNvSpPr txBox="1"/>
            <p:nvPr/>
          </p:nvSpPr>
          <p:spPr>
            <a:xfrm>
              <a:off x="598932" y="1411605"/>
              <a:ext cx="7891066"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Muốn nghe nhạc hợp tâm trạng phải </a:t>
              </a:r>
              <a:r>
                <a:rPr lang="vi-VN" sz="2100" b="1" dirty="0">
                  <a:solidFill>
                    <a:schemeClr val="accent2"/>
                  </a:solidFill>
                  <a:latin typeface="+mn-lt"/>
                  <a:ea typeface="+mn-ea"/>
                  <a:cs typeface="+mn-cs"/>
                </a:rPr>
                <a:t>tự tìm, tự chọn</a:t>
              </a:r>
              <a:r>
                <a:rPr lang="vi-VN" sz="2100" dirty="0">
                  <a:solidFill>
                    <a:schemeClr val="dk1"/>
                  </a:solidFill>
                  <a:latin typeface="+mn-lt"/>
                  <a:ea typeface="+mn-ea"/>
                  <a:cs typeface="+mn-cs"/>
                </a:rPr>
                <a:t> — mất công,</a:t>
              </a:r>
              <a:br>
                <a:rPr lang="vi-VN" sz="2100" dirty="0">
                  <a:solidFill>
                    <a:schemeClr val="dk1"/>
                  </a:solidFill>
                  <a:latin typeface="+mn-lt"/>
                  <a:ea typeface="+mn-ea"/>
                  <a:cs typeface="+mn-cs"/>
                </a:rPr>
              </a:br>
              <a:r>
                <a:rPr lang="vi-VN" sz="2100" dirty="0">
                  <a:solidFill>
                    <a:schemeClr val="dk1"/>
                  </a:solidFill>
                  <a:latin typeface="+mn-lt"/>
                  <a:ea typeface="+mn-ea"/>
                  <a:cs typeface="+mn-cs"/>
                </a:rPr>
                <a:t>nhất là lúc mệt hay buồn.</a:t>
              </a:r>
              <a:endParaRPr lang="vi-VN" sz="2100" dirty="0">
                <a:solidFill>
                  <a:schemeClr val="dk1"/>
                </a:solidFill>
                <a:latin typeface="+mn-lt"/>
                <a:ea typeface="+mn-ea"/>
                <a:cs typeface="+mn-cs"/>
              </a:endParaRPr>
            </a:p>
          </p:txBody>
        </p:sp>
      </p:grpSp>
      <p:grpSp>
        <p:nvGrpSpPr>
          <p:cNvPr id="19" name="old-way"/>
          <p:cNvGrpSpPr/>
          <p:nvPr/>
        </p:nvGrpSpPr>
        <p:grpSpPr>
          <a:xfrm>
            <a:off x="609600" y="2286000"/>
            <a:ext cx="5029200" cy="1638300"/>
            <a:chOff x="609600" y="2286000"/>
            <a:chExt cx="5029200" cy="1638300"/>
          </a:xfrm>
        </p:grpSpPr>
        <p:sp>
          <p:nvSpPr>
            <p:cNvPr id="13" name="Rectangle 13"/>
            <p:cNvSpPr/>
            <p:nvPr/>
          </p:nvSpPr>
          <p:spPr>
            <a:xfrm>
              <a:off x="609600" y="2286000"/>
              <a:ext cx="5029200" cy="1638300"/>
            </a:xfrm>
            <a:prstGeom prst="roundRect">
              <a:avLst>
                <a:gd name="adj" fmla="val 6977"/>
              </a:avLst>
            </a:prstGeom>
            <a:solidFill>
              <a:schemeClr val="lt2"/>
            </a:solidFill>
            <a:ln w="14288">
              <a:solidFill>
                <a:schemeClr val="accent6"/>
              </a:solidFill>
            </a:ln>
          </p:spPr>
        </p:sp>
        <p:sp>
          <p:nvSpPr>
            <p:cNvPr id="14" name="TextBox 14"/>
            <p:cNvSpPr txBox="1"/>
            <p:nvPr/>
          </p:nvSpPr>
          <p:spPr>
            <a:xfrm>
              <a:off x="908304" y="2575560"/>
              <a:ext cx="669341"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CÁCH CŨ</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15" name="TextBox 15"/>
            <p:cNvSpPr txBox="1"/>
            <p:nvPr/>
          </p:nvSpPr>
          <p:spPr>
            <a:xfrm>
              <a:off x="903732" y="3107055"/>
              <a:ext cx="2651505" cy="410718"/>
            </a:xfrm>
            <a:prstGeom prst="rect">
              <a:avLst/>
            </a:prstGeom>
            <a:noFill/>
            <a:ln>
              <a:noFill/>
            </a:ln>
          </p:spPr>
          <p:txBody>
            <a:bodyPr wrap="none" lIns="0" tIns="0" rIns="0" bIns="0" anchor="t" anchorCtr="0">
              <a:spAutoFit/>
            </a:bodyPr>
            <a:lstStyle/>
            <a:p>
              <a:pPr algn="l"/>
              <a:r>
                <a:rPr lang="vi-VN" sz="2100" dirty="0">
                  <a:solidFill>
                    <a:schemeClr val="accent5"/>
                  </a:solidFill>
                  <a:latin typeface="+mn-lt"/>
                  <a:ea typeface="+mn-ea"/>
                  <a:cs typeface="+mn-cs"/>
                </a:rPr>
                <a:t>Mở app → tìm → chọn</a:t>
              </a:r>
              <a:endParaRPr lang="vi-VN" sz="2100" dirty="0">
                <a:solidFill>
                  <a:schemeClr val="accent5"/>
                </a:solidFill>
                <a:latin typeface="+mn-lt"/>
                <a:ea typeface="+mn-ea"/>
                <a:cs typeface="+mn-cs"/>
              </a:endParaRPr>
            </a:p>
          </p:txBody>
        </p:sp>
        <p:grpSp>
          <p:nvGrpSpPr>
            <p:cNvPr id="18" name="Group 18"/>
            <p:cNvGrpSpPr/>
            <p:nvPr/>
          </p:nvGrpSpPr>
          <p:grpSpPr>
            <a:xfrm>
              <a:off x="4926739" y="2524125"/>
              <a:ext cx="350111" cy="400050"/>
              <a:chOff x="4926739" y="2524125"/>
              <a:chExt cx="350111" cy="400050"/>
            </a:xfrm>
          </p:grpSpPr>
          <p:sp>
            <p:nvSpPr>
              <p:cNvPr id="16" name="Freeform 16"/>
              <p:cNvSpPr/>
              <p:nvPr/>
            </p:nvSpPr>
            <p:spPr>
              <a:xfrm>
                <a:off x="4943319" y="2538412"/>
                <a:ext cx="319243" cy="371475"/>
              </a:xfrm>
              <a:custGeom>
                <a:avLst/>
                <a:gdLst/>
                <a:ahLst/>
                <a:cxnLst/>
                <a:rect l="l" t="t" r="r" b="b"/>
                <a:pathLst>
                  <a:path w="319243" h="371475">
                    <a:moveTo>
                      <a:pt x="319243" y="164306"/>
                    </a:moveTo>
                    <a:lnTo>
                      <a:pt x="319243" y="228600"/>
                    </a:lnTo>
                    <a:cubicBezTo>
                      <a:pt x="319243" y="307508"/>
                      <a:pt x="255276" y="371475"/>
                      <a:pt x="176368" y="371475"/>
                    </a:cubicBezTo>
                    <a:cubicBezTo>
                      <a:pt x="97465" y="371475"/>
                      <a:pt x="76695" y="328612"/>
                      <a:pt x="9704" y="210741"/>
                    </a:cubicBezTo>
                    <a:cubicBezTo>
                      <a:pt x="0" y="193672"/>
                      <a:pt x="5892" y="171971"/>
                      <a:pt x="22896" y="162153"/>
                    </a:cubicBezTo>
                    <a:cubicBezTo>
                      <a:pt x="39899" y="152336"/>
                      <a:pt x="61639" y="158084"/>
                      <a:pt x="71569" y="175022"/>
                    </a:cubicBezTo>
                    <a:lnTo>
                      <a:pt x="104931" y="228600"/>
                    </a:lnTo>
                    <a:lnTo>
                      <a:pt x="104931" y="35719"/>
                    </a:lnTo>
                    <a:cubicBezTo>
                      <a:pt x="104931" y="15992"/>
                      <a:pt x="120922" y="0"/>
                      <a:pt x="140649" y="0"/>
                    </a:cubicBezTo>
                    <a:cubicBezTo>
                      <a:pt x="160376" y="0"/>
                      <a:pt x="176368" y="15992"/>
                      <a:pt x="176368" y="35719"/>
                    </a:cubicBezTo>
                    <a:lnTo>
                      <a:pt x="176368" y="135731"/>
                    </a:lnTo>
                    <a:cubicBezTo>
                      <a:pt x="176368" y="116004"/>
                      <a:pt x="192360" y="100012"/>
                      <a:pt x="212087" y="100012"/>
                    </a:cubicBezTo>
                    <a:cubicBezTo>
                      <a:pt x="231814" y="100012"/>
                      <a:pt x="247806" y="116004"/>
                      <a:pt x="247806" y="135731"/>
                    </a:cubicBezTo>
                    <a:lnTo>
                      <a:pt x="247806" y="164306"/>
                    </a:lnTo>
                    <a:cubicBezTo>
                      <a:pt x="247806" y="144579"/>
                      <a:pt x="263797" y="128588"/>
                      <a:pt x="283524" y="128588"/>
                    </a:cubicBezTo>
                    <a:cubicBezTo>
                      <a:pt x="303251" y="128588"/>
                      <a:pt x="319243" y="144579"/>
                      <a:pt x="319243" y="164306"/>
                    </a:cubicBezTo>
                    <a:close/>
                  </a:path>
                </a:pathLst>
              </a:custGeom>
              <a:solidFill>
                <a:srgbClr val="8B95AD">
                  <a:alpha val="20000"/>
                </a:srgbClr>
              </a:solidFill>
              <a:ln>
                <a:noFill/>
              </a:ln>
            </p:spPr>
          </p:sp>
          <p:sp>
            <p:nvSpPr>
              <p:cNvPr id="17" name="Freeform 17"/>
              <p:cNvSpPr/>
              <p:nvPr/>
            </p:nvSpPr>
            <p:spPr>
              <a:xfrm>
                <a:off x="4926739" y="2524125"/>
                <a:ext cx="350111" cy="400050"/>
              </a:xfrm>
              <a:custGeom>
                <a:avLst/>
                <a:gdLst/>
                <a:ahLst/>
                <a:cxnLst/>
                <a:rect l="l" t="t" r="r" b="b"/>
                <a:pathLst>
                  <a:path w="350111" h="400050">
                    <a:moveTo>
                      <a:pt x="300105" y="128588"/>
                    </a:moveTo>
                    <a:cubicBezTo>
                      <a:pt x="291776" y="128578"/>
                      <a:pt x="283578" y="130660"/>
                      <a:pt x="276263" y="134642"/>
                    </a:cubicBezTo>
                    <a:cubicBezTo>
                      <a:pt x="271837" y="120940"/>
                      <a:pt x="261721" y="109811"/>
                      <a:pt x="248502" y="104102"/>
                    </a:cubicBezTo>
                    <a:cubicBezTo>
                      <a:pt x="235283" y="98394"/>
                      <a:pt x="220245" y="98661"/>
                      <a:pt x="207236" y="104835"/>
                    </a:cubicBezTo>
                    <a:lnTo>
                      <a:pt x="207236" y="50006"/>
                    </a:lnTo>
                    <a:cubicBezTo>
                      <a:pt x="207236" y="22389"/>
                      <a:pt x="184848" y="0"/>
                      <a:pt x="157230" y="0"/>
                    </a:cubicBezTo>
                    <a:cubicBezTo>
                      <a:pt x="129612" y="0"/>
                      <a:pt x="107224" y="22389"/>
                      <a:pt x="107224" y="50006"/>
                    </a:cubicBezTo>
                    <a:lnTo>
                      <a:pt x="107224" y="192881"/>
                    </a:lnTo>
                    <a:lnTo>
                      <a:pt x="100402" y="181933"/>
                    </a:lnTo>
                    <a:cubicBezTo>
                      <a:pt x="86529" y="158039"/>
                      <a:pt x="55912" y="149915"/>
                      <a:pt x="32018" y="163788"/>
                    </a:cubicBezTo>
                    <a:cubicBezTo>
                      <a:pt x="8124" y="177661"/>
                      <a:pt x="0" y="208278"/>
                      <a:pt x="13873" y="232172"/>
                    </a:cubicBezTo>
                    <a:lnTo>
                      <a:pt x="22213" y="246870"/>
                    </a:lnTo>
                    <a:cubicBezTo>
                      <a:pt x="83667" y="355205"/>
                      <a:pt x="109099" y="400050"/>
                      <a:pt x="192949" y="400050"/>
                    </a:cubicBezTo>
                    <a:cubicBezTo>
                      <a:pt x="279707" y="399952"/>
                      <a:pt x="350013" y="329645"/>
                      <a:pt x="350111" y="242888"/>
                    </a:cubicBezTo>
                    <a:lnTo>
                      <a:pt x="350111" y="178594"/>
                    </a:lnTo>
                    <a:cubicBezTo>
                      <a:pt x="350111" y="150976"/>
                      <a:pt x="327723" y="128588"/>
                      <a:pt x="300105" y="128588"/>
                    </a:cubicBezTo>
                    <a:close/>
                    <a:moveTo>
                      <a:pt x="321536" y="242888"/>
                    </a:moveTo>
                    <a:cubicBezTo>
                      <a:pt x="321458" y="313872"/>
                      <a:pt x="263933" y="371396"/>
                      <a:pt x="192949" y="371475"/>
                    </a:cubicBezTo>
                    <a:cubicBezTo>
                      <a:pt x="125744" y="371475"/>
                      <a:pt x="107510" y="339328"/>
                      <a:pt x="47074" y="232743"/>
                    </a:cubicBezTo>
                    <a:lnTo>
                      <a:pt x="38697" y="217974"/>
                    </a:lnTo>
                    <a:lnTo>
                      <a:pt x="38697" y="217884"/>
                    </a:lnTo>
                    <a:cubicBezTo>
                      <a:pt x="32776" y="207645"/>
                      <a:pt x="36269" y="194544"/>
                      <a:pt x="46502" y="188613"/>
                    </a:cubicBezTo>
                    <a:cubicBezTo>
                      <a:pt x="49757" y="186727"/>
                      <a:pt x="53456" y="185741"/>
                      <a:pt x="57218" y="185755"/>
                    </a:cubicBezTo>
                    <a:cubicBezTo>
                      <a:pt x="64886" y="185744"/>
                      <a:pt x="71975" y="189830"/>
                      <a:pt x="75809" y="196471"/>
                    </a:cubicBezTo>
                    <a:cubicBezTo>
                      <a:pt x="75882" y="196614"/>
                      <a:pt x="75966" y="196751"/>
                      <a:pt x="76059" y="196882"/>
                    </a:cubicBezTo>
                    <a:lnTo>
                      <a:pt x="109403" y="250460"/>
                    </a:lnTo>
                    <a:cubicBezTo>
                      <a:pt x="112783" y="255858"/>
                      <a:pt x="119329" y="258366"/>
                      <a:pt x="125451" y="256610"/>
                    </a:cubicBezTo>
                    <a:cubicBezTo>
                      <a:pt x="131573" y="254853"/>
                      <a:pt x="135794" y="249257"/>
                      <a:pt x="135799" y="242888"/>
                    </a:cubicBezTo>
                    <a:lnTo>
                      <a:pt x="135799" y="50006"/>
                    </a:lnTo>
                    <a:cubicBezTo>
                      <a:pt x="135799" y="38170"/>
                      <a:pt x="145394" y="28575"/>
                      <a:pt x="157230" y="28575"/>
                    </a:cubicBezTo>
                    <a:cubicBezTo>
                      <a:pt x="169066" y="28575"/>
                      <a:pt x="178661" y="38170"/>
                      <a:pt x="178661" y="50006"/>
                    </a:cubicBezTo>
                    <a:lnTo>
                      <a:pt x="178661" y="171450"/>
                    </a:lnTo>
                    <a:cubicBezTo>
                      <a:pt x="178661" y="179341"/>
                      <a:pt x="185058" y="185738"/>
                      <a:pt x="192949" y="185738"/>
                    </a:cubicBezTo>
                    <a:cubicBezTo>
                      <a:pt x="200840" y="185738"/>
                      <a:pt x="207236" y="179341"/>
                      <a:pt x="207236" y="171450"/>
                    </a:cubicBezTo>
                    <a:lnTo>
                      <a:pt x="207236" y="150019"/>
                    </a:lnTo>
                    <a:cubicBezTo>
                      <a:pt x="207236" y="138183"/>
                      <a:pt x="216832" y="128588"/>
                      <a:pt x="228668" y="128588"/>
                    </a:cubicBezTo>
                    <a:cubicBezTo>
                      <a:pt x="240504" y="128588"/>
                      <a:pt x="250099" y="138183"/>
                      <a:pt x="250099" y="150019"/>
                    </a:cubicBezTo>
                    <a:lnTo>
                      <a:pt x="250099" y="185738"/>
                    </a:lnTo>
                    <a:cubicBezTo>
                      <a:pt x="250099" y="193628"/>
                      <a:pt x="256496" y="200025"/>
                      <a:pt x="264386" y="200025"/>
                    </a:cubicBezTo>
                    <a:cubicBezTo>
                      <a:pt x="272277" y="200025"/>
                      <a:pt x="278674" y="193628"/>
                      <a:pt x="278674" y="185738"/>
                    </a:cubicBezTo>
                    <a:lnTo>
                      <a:pt x="278674" y="178594"/>
                    </a:lnTo>
                    <a:cubicBezTo>
                      <a:pt x="278674" y="166758"/>
                      <a:pt x="288269" y="157162"/>
                      <a:pt x="300105" y="157162"/>
                    </a:cubicBezTo>
                    <a:cubicBezTo>
                      <a:pt x="311941" y="157162"/>
                      <a:pt x="321536" y="166758"/>
                      <a:pt x="321536" y="178594"/>
                    </a:cubicBezTo>
                    <a:close/>
                  </a:path>
                </a:pathLst>
              </a:custGeom>
              <a:solidFill>
                <a:srgbClr val="8B95AD"/>
              </a:solidFill>
              <a:ln>
                <a:noFill/>
              </a:ln>
            </p:spPr>
          </p:sp>
        </p:grpSp>
      </p:grpSp>
      <p:sp>
        <p:nvSpPr>
          <p:cNvPr id="20" name="Freeform 20"/>
          <p:cNvSpPr/>
          <p:nvPr/>
        </p:nvSpPr>
        <p:spPr>
          <a:xfrm>
            <a:off x="5753100" y="2876550"/>
            <a:ext cx="685800" cy="533400"/>
          </a:xfrm>
          <a:prstGeom prst="rightArrow">
            <a:avLst/>
          </a:prstGeom>
          <a:solidFill>
            <a:schemeClr val="accent1"/>
          </a:solidFill>
          <a:ln>
            <a:noFill/>
          </a:ln>
        </p:spPr>
      </p:sp>
      <p:grpSp>
        <p:nvGrpSpPr>
          <p:cNvPr id="27" name="new-way"/>
          <p:cNvGrpSpPr/>
          <p:nvPr/>
        </p:nvGrpSpPr>
        <p:grpSpPr>
          <a:xfrm>
            <a:off x="6553200" y="2286000"/>
            <a:ext cx="5029200" cy="1638300"/>
            <a:chOff x="6553200" y="2286000"/>
            <a:chExt cx="5029200" cy="1638300"/>
          </a:xfrm>
        </p:grpSpPr>
        <p:sp>
          <p:nvSpPr>
            <p:cNvPr id="21" name="Rectangle 21"/>
            <p:cNvSpPr/>
            <p:nvPr/>
          </p:nvSpPr>
          <p:spPr>
            <a:xfrm>
              <a:off x="6553200" y="2286000"/>
              <a:ext cx="5029200" cy="1638300"/>
            </a:xfrm>
            <a:prstGeom prst="roundRect">
              <a:avLst>
                <a:gd name="adj" fmla="val 6977"/>
              </a:avLst>
            </a:prstGeom>
            <a:solidFill>
              <a:schemeClr val="lt2"/>
            </a:solidFill>
            <a:ln w="19050">
              <a:solidFill>
                <a:schemeClr val="accent1"/>
              </a:solidFill>
            </a:ln>
          </p:spPr>
        </p:sp>
        <p:sp>
          <p:nvSpPr>
            <p:cNvPr id="22" name="TextBox 22"/>
            <p:cNvSpPr txBox="1"/>
            <p:nvPr/>
          </p:nvSpPr>
          <p:spPr>
            <a:xfrm>
              <a:off x="6851904" y="2575560"/>
              <a:ext cx="66934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EMOTUNE</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23" name="TextBox 23"/>
            <p:cNvSpPr txBox="1"/>
            <p:nvPr/>
          </p:nvSpPr>
          <p:spPr>
            <a:xfrm>
              <a:off x="6847332" y="3107055"/>
              <a:ext cx="360051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Ngồi xuống → nhạc tự phát</a:t>
              </a:r>
              <a:endParaRPr lang="vi-VN" sz="2100" b="1" dirty="0">
                <a:solidFill>
                  <a:schemeClr val="dk1"/>
                </a:solidFill>
                <a:latin typeface="+mn-lt"/>
                <a:ea typeface="+mn-ea"/>
                <a:cs typeface="+mn-cs"/>
              </a:endParaRPr>
            </a:p>
          </p:txBody>
        </p:sp>
        <p:grpSp>
          <p:nvGrpSpPr>
            <p:cNvPr id="26" name="Group 26"/>
            <p:cNvGrpSpPr/>
            <p:nvPr/>
          </p:nvGrpSpPr>
          <p:grpSpPr>
            <a:xfrm>
              <a:off x="10842664" y="2523486"/>
              <a:ext cx="363509" cy="391668"/>
              <a:chOff x="10842664" y="2523486"/>
              <a:chExt cx="363509" cy="391668"/>
            </a:xfrm>
          </p:grpSpPr>
          <p:sp>
            <p:nvSpPr>
              <p:cNvPr id="24" name="Freeform 24"/>
              <p:cNvSpPr/>
              <p:nvPr/>
            </p:nvSpPr>
            <p:spPr>
              <a:xfrm>
                <a:off x="10863262" y="2738438"/>
                <a:ext cx="328612" cy="157162"/>
              </a:xfrm>
              <a:custGeom>
                <a:avLst/>
                <a:gdLst/>
                <a:ahLst/>
                <a:cxnLst/>
                <a:rect l="l" t="t" r="r" b="b"/>
                <a:pathLst>
                  <a:path w="328612" h="157162">
                    <a:moveTo>
                      <a:pt x="328612" y="50006"/>
                    </a:moveTo>
                    <a:cubicBezTo>
                      <a:pt x="328612" y="77624"/>
                      <a:pt x="306224" y="100012"/>
                      <a:pt x="278606" y="100012"/>
                    </a:cubicBezTo>
                    <a:cubicBezTo>
                      <a:pt x="250989" y="100012"/>
                      <a:pt x="228600" y="77624"/>
                      <a:pt x="228600" y="50006"/>
                    </a:cubicBezTo>
                    <a:cubicBezTo>
                      <a:pt x="228600" y="22389"/>
                      <a:pt x="250989" y="0"/>
                      <a:pt x="278606" y="0"/>
                    </a:cubicBezTo>
                    <a:cubicBezTo>
                      <a:pt x="306224" y="0"/>
                      <a:pt x="328612" y="22389"/>
                      <a:pt x="328612" y="50006"/>
                    </a:cubicBezTo>
                    <a:close/>
                    <a:moveTo>
                      <a:pt x="50006" y="57150"/>
                    </a:moveTo>
                    <a:cubicBezTo>
                      <a:pt x="22389" y="57150"/>
                      <a:pt x="0" y="79539"/>
                      <a:pt x="0" y="107156"/>
                    </a:cubicBezTo>
                    <a:cubicBezTo>
                      <a:pt x="0" y="134774"/>
                      <a:pt x="22389" y="157162"/>
                      <a:pt x="50006" y="157162"/>
                    </a:cubicBezTo>
                    <a:cubicBezTo>
                      <a:pt x="77624" y="157162"/>
                      <a:pt x="100012" y="134774"/>
                      <a:pt x="100012" y="107156"/>
                    </a:cubicBezTo>
                    <a:cubicBezTo>
                      <a:pt x="100012" y="79539"/>
                      <a:pt x="77624" y="57150"/>
                      <a:pt x="50006" y="57150"/>
                    </a:cubicBezTo>
                    <a:close/>
                  </a:path>
                </a:pathLst>
              </a:custGeom>
              <a:solidFill>
                <a:schemeClr val="accent1">
                  <a:alpha val="20000"/>
                </a:schemeClr>
              </a:solidFill>
              <a:ln>
                <a:noFill/>
              </a:ln>
            </p:spPr>
          </p:sp>
          <p:sp>
            <p:nvSpPr>
              <p:cNvPr id="25" name="Freeform 25"/>
              <p:cNvSpPr/>
              <p:nvPr/>
            </p:nvSpPr>
            <p:spPr>
              <a:xfrm>
                <a:off x="10842664" y="2523486"/>
                <a:ext cx="363509" cy="391668"/>
              </a:xfrm>
              <a:custGeom>
                <a:avLst/>
                <a:gdLst/>
                <a:ahLst/>
                <a:cxnLst/>
                <a:rect l="l" t="t" r="r" b="b"/>
                <a:pathLst>
                  <a:path w="363509" h="391668">
                    <a:moveTo>
                      <a:pt x="357997" y="3657"/>
                    </a:moveTo>
                    <a:cubicBezTo>
                      <a:pt x="354529" y="955"/>
                      <a:pt x="350011" y="0"/>
                      <a:pt x="345746" y="1068"/>
                    </a:cubicBezTo>
                    <a:lnTo>
                      <a:pt x="117146" y="58218"/>
                    </a:lnTo>
                    <a:cubicBezTo>
                      <a:pt x="110786" y="59807"/>
                      <a:pt x="106324" y="65521"/>
                      <a:pt x="106323" y="72077"/>
                    </a:cubicBezTo>
                    <a:lnTo>
                      <a:pt x="106323" y="268673"/>
                    </a:lnTo>
                    <a:cubicBezTo>
                      <a:pt x="81800" y="252287"/>
                      <a:pt x="49273" y="254689"/>
                      <a:pt x="27422" y="274498"/>
                    </a:cubicBezTo>
                    <a:cubicBezTo>
                      <a:pt x="5571" y="294306"/>
                      <a:pt x="0" y="326442"/>
                      <a:pt x="13908" y="352450"/>
                    </a:cubicBezTo>
                    <a:cubicBezTo>
                      <a:pt x="27816" y="378459"/>
                      <a:pt x="57636" y="391668"/>
                      <a:pt x="86244" y="384494"/>
                    </a:cubicBezTo>
                    <a:cubicBezTo>
                      <a:pt x="114851" y="377320"/>
                      <a:pt x="134909" y="351601"/>
                      <a:pt x="134898" y="322108"/>
                    </a:cubicBezTo>
                    <a:lnTo>
                      <a:pt x="134898" y="168964"/>
                    </a:lnTo>
                    <a:lnTo>
                      <a:pt x="334923" y="118957"/>
                    </a:lnTo>
                    <a:lnTo>
                      <a:pt x="334923" y="211523"/>
                    </a:lnTo>
                    <a:cubicBezTo>
                      <a:pt x="310400" y="195137"/>
                      <a:pt x="277873" y="197539"/>
                      <a:pt x="256022" y="217348"/>
                    </a:cubicBezTo>
                    <a:cubicBezTo>
                      <a:pt x="234171" y="237156"/>
                      <a:pt x="228600" y="269292"/>
                      <a:pt x="242508" y="295300"/>
                    </a:cubicBezTo>
                    <a:cubicBezTo>
                      <a:pt x="256416" y="321309"/>
                      <a:pt x="286236" y="334518"/>
                      <a:pt x="314844" y="327344"/>
                    </a:cubicBezTo>
                    <a:cubicBezTo>
                      <a:pt x="343451" y="320170"/>
                      <a:pt x="363509" y="294451"/>
                      <a:pt x="363498" y="264958"/>
                    </a:cubicBezTo>
                    <a:lnTo>
                      <a:pt x="363498" y="14927"/>
                    </a:lnTo>
                    <a:cubicBezTo>
                      <a:pt x="363499" y="10523"/>
                      <a:pt x="361470" y="6365"/>
                      <a:pt x="357997" y="3657"/>
                    </a:cubicBezTo>
                    <a:close/>
                    <a:moveTo>
                      <a:pt x="70604" y="357827"/>
                    </a:moveTo>
                    <a:cubicBezTo>
                      <a:pt x="50877" y="357827"/>
                      <a:pt x="34886" y="341835"/>
                      <a:pt x="34886" y="322108"/>
                    </a:cubicBezTo>
                    <a:cubicBezTo>
                      <a:pt x="34886" y="302381"/>
                      <a:pt x="50877" y="286389"/>
                      <a:pt x="70604" y="286389"/>
                    </a:cubicBezTo>
                    <a:cubicBezTo>
                      <a:pt x="90331" y="286389"/>
                      <a:pt x="106323" y="302381"/>
                      <a:pt x="106323" y="322108"/>
                    </a:cubicBezTo>
                    <a:cubicBezTo>
                      <a:pt x="106323" y="341835"/>
                      <a:pt x="90331" y="357827"/>
                      <a:pt x="70604" y="357827"/>
                    </a:cubicBezTo>
                    <a:close/>
                    <a:moveTo>
                      <a:pt x="134898" y="139496"/>
                    </a:moveTo>
                    <a:lnTo>
                      <a:pt x="134898" y="83239"/>
                    </a:lnTo>
                    <a:lnTo>
                      <a:pt x="334923" y="33232"/>
                    </a:lnTo>
                    <a:lnTo>
                      <a:pt x="334923" y="89489"/>
                    </a:lnTo>
                    <a:close/>
                    <a:moveTo>
                      <a:pt x="299204" y="300677"/>
                    </a:moveTo>
                    <a:cubicBezTo>
                      <a:pt x="279477" y="300677"/>
                      <a:pt x="263486" y="284685"/>
                      <a:pt x="263486" y="264958"/>
                    </a:cubicBezTo>
                    <a:cubicBezTo>
                      <a:pt x="263486" y="245231"/>
                      <a:pt x="279477" y="229239"/>
                      <a:pt x="299204" y="229239"/>
                    </a:cubicBezTo>
                    <a:cubicBezTo>
                      <a:pt x="318931" y="229239"/>
                      <a:pt x="334923" y="245231"/>
                      <a:pt x="334923" y="264958"/>
                    </a:cubicBezTo>
                    <a:cubicBezTo>
                      <a:pt x="334923" y="284685"/>
                      <a:pt x="318931" y="300677"/>
                      <a:pt x="299204" y="300677"/>
                    </a:cubicBezTo>
                    <a:close/>
                  </a:path>
                </a:pathLst>
              </a:custGeom>
              <a:solidFill>
                <a:schemeClr val="accent1"/>
              </a:solidFill>
              <a:ln>
                <a:noFill/>
              </a:ln>
            </p:spPr>
          </p:sp>
        </p:grpSp>
      </p:grpSp>
      <p:grpSp>
        <p:nvGrpSpPr>
          <p:cNvPr id="29" name="idea-label"/>
          <p:cNvGrpSpPr/>
          <p:nvPr/>
        </p:nvGrpSpPr>
        <p:grpSpPr>
          <a:xfrm>
            <a:off x="603504" y="4175760"/>
            <a:ext cx="669341" cy="234696"/>
            <a:chOff x="603504" y="4175760"/>
            <a:chExt cx="669341" cy="234696"/>
          </a:xfrm>
        </p:grpSpPr>
        <p:sp>
          <p:nvSpPr>
            <p:cNvPr id="28" name="TextBox 28"/>
            <p:cNvSpPr txBox="1"/>
            <p:nvPr/>
          </p:nvSpPr>
          <p:spPr>
            <a:xfrm>
              <a:off x="603504" y="4175760"/>
              <a:ext cx="66934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Ý TƯỞNG</a:t>
              </a:r>
              <a:endParaRPr lang="vi-VN" sz="1200" dirty="0">
                <a:solidFill>
                  <a:schemeClr val="accent1"/>
                </a:solidFill>
                <a:latin typeface="Consolas" panose="020B0609020204030204"/>
                <a:ea typeface="Consolas" panose="020B0609020204030204"/>
                <a:cs typeface="Consolas" panose="020B0609020204030204"/>
              </a:endParaRPr>
            </a:p>
          </p:txBody>
        </p:sp>
      </p:grpSp>
      <p:grpSp>
        <p:nvGrpSpPr>
          <p:cNvPr id="34" name="idea-1"/>
          <p:cNvGrpSpPr/>
          <p:nvPr/>
        </p:nvGrpSpPr>
        <p:grpSpPr>
          <a:xfrm>
            <a:off x="600456" y="4581525"/>
            <a:ext cx="1373269" cy="1481709"/>
            <a:chOff x="600456" y="4581525"/>
            <a:chExt cx="1373269" cy="1481709"/>
          </a:xfrm>
        </p:grpSpPr>
        <p:grpSp>
          <p:nvGrpSpPr>
            <p:cNvPr id="32" name="Group 32"/>
            <p:cNvGrpSpPr/>
            <p:nvPr/>
          </p:nvGrpSpPr>
          <p:grpSpPr>
            <a:xfrm>
              <a:off x="645319" y="4581525"/>
              <a:ext cx="309562" cy="273844"/>
              <a:chOff x="645319" y="4581525"/>
              <a:chExt cx="309562" cy="273844"/>
            </a:xfrm>
          </p:grpSpPr>
          <p:sp>
            <p:nvSpPr>
              <p:cNvPr id="30" name="Freeform 30"/>
              <p:cNvSpPr/>
              <p:nvPr/>
            </p:nvSpPr>
            <p:spPr>
              <a:xfrm>
                <a:off x="657225" y="4593431"/>
                <a:ext cx="285750" cy="250031"/>
              </a:xfrm>
              <a:custGeom>
                <a:avLst/>
                <a:gdLst/>
                <a:ahLst/>
                <a:cxnLst/>
                <a:rect l="l" t="t" r="r" b="b"/>
                <a:pathLst>
                  <a:path w="285750" h="250031">
                    <a:moveTo>
                      <a:pt x="261938" y="35719"/>
                    </a:moveTo>
                    <a:lnTo>
                      <a:pt x="214312" y="35719"/>
                    </a:lnTo>
                    <a:lnTo>
                      <a:pt x="190500" y="0"/>
                    </a:lnTo>
                    <a:lnTo>
                      <a:pt x="95250" y="0"/>
                    </a:lnTo>
                    <a:lnTo>
                      <a:pt x="71438" y="35719"/>
                    </a:lnTo>
                    <a:lnTo>
                      <a:pt x="23812" y="35719"/>
                    </a:lnTo>
                    <a:cubicBezTo>
                      <a:pt x="10661" y="35719"/>
                      <a:pt x="0" y="46380"/>
                      <a:pt x="0" y="59531"/>
                    </a:cubicBezTo>
                    <a:lnTo>
                      <a:pt x="0" y="226219"/>
                    </a:lnTo>
                    <a:cubicBezTo>
                      <a:pt x="0" y="239370"/>
                      <a:pt x="10661" y="250031"/>
                      <a:pt x="23812" y="250031"/>
                    </a:cubicBezTo>
                    <a:lnTo>
                      <a:pt x="261938" y="250031"/>
                    </a:lnTo>
                    <a:cubicBezTo>
                      <a:pt x="275089" y="250031"/>
                      <a:pt x="285750" y="239370"/>
                      <a:pt x="285750" y="226219"/>
                    </a:cubicBezTo>
                    <a:lnTo>
                      <a:pt x="285750" y="59531"/>
                    </a:lnTo>
                    <a:cubicBezTo>
                      <a:pt x="285750" y="46380"/>
                      <a:pt x="275089" y="35719"/>
                      <a:pt x="261938" y="35719"/>
                    </a:cubicBezTo>
                    <a:close/>
                    <a:moveTo>
                      <a:pt x="142875" y="190500"/>
                    </a:moveTo>
                    <a:cubicBezTo>
                      <a:pt x="113285" y="190500"/>
                      <a:pt x="89297" y="166512"/>
                      <a:pt x="89297" y="136922"/>
                    </a:cubicBezTo>
                    <a:cubicBezTo>
                      <a:pt x="89297" y="107331"/>
                      <a:pt x="113285" y="83344"/>
                      <a:pt x="142875" y="83344"/>
                    </a:cubicBezTo>
                    <a:cubicBezTo>
                      <a:pt x="172465" y="83344"/>
                      <a:pt x="196453" y="107331"/>
                      <a:pt x="196453" y="136922"/>
                    </a:cubicBezTo>
                    <a:cubicBezTo>
                      <a:pt x="196453" y="166512"/>
                      <a:pt x="172465" y="190500"/>
                      <a:pt x="142875" y="190500"/>
                    </a:cubicBezTo>
                    <a:close/>
                  </a:path>
                </a:pathLst>
              </a:custGeom>
              <a:solidFill>
                <a:schemeClr val="accent2">
                  <a:alpha val="20000"/>
                </a:schemeClr>
              </a:solidFill>
              <a:ln>
                <a:noFill/>
              </a:ln>
            </p:spPr>
          </p:sp>
          <p:sp>
            <p:nvSpPr>
              <p:cNvPr id="31" name="Freeform 31"/>
              <p:cNvSpPr/>
              <p:nvPr/>
            </p:nvSpPr>
            <p:spPr>
              <a:xfrm>
                <a:off x="645319" y="4581525"/>
                <a:ext cx="309562" cy="273844"/>
              </a:xfrm>
              <a:custGeom>
                <a:avLst/>
                <a:gdLst/>
                <a:ahLst/>
                <a:cxnLst/>
                <a:rect l="l" t="t" r="r" b="b"/>
                <a:pathLst>
                  <a:path w="309562" h="273844">
                    <a:moveTo>
                      <a:pt x="273844" y="35719"/>
                    </a:moveTo>
                    <a:lnTo>
                      <a:pt x="232589" y="35719"/>
                    </a:lnTo>
                    <a:lnTo>
                      <a:pt x="212303" y="5298"/>
                    </a:lnTo>
                    <a:cubicBezTo>
                      <a:pt x="210096" y="1990"/>
                      <a:pt x="206383" y="2"/>
                      <a:pt x="202406" y="0"/>
                    </a:cubicBezTo>
                    <a:lnTo>
                      <a:pt x="107156" y="0"/>
                    </a:lnTo>
                    <a:cubicBezTo>
                      <a:pt x="103179" y="2"/>
                      <a:pt x="99466" y="1990"/>
                      <a:pt x="97259" y="5298"/>
                    </a:cubicBezTo>
                    <a:lnTo>
                      <a:pt x="76959" y="35719"/>
                    </a:lnTo>
                    <a:lnTo>
                      <a:pt x="35719" y="35719"/>
                    </a:lnTo>
                    <a:cubicBezTo>
                      <a:pt x="15992" y="35719"/>
                      <a:pt x="0" y="51711"/>
                      <a:pt x="0" y="71438"/>
                    </a:cubicBezTo>
                    <a:lnTo>
                      <a:pt x="0" y="238125"/>
                    </a:lnTo>
                    <a:cubicBezTo>
                      <a:pt x="0" y="257852"/>
                      <a:pt x="15992" y="273844"/>
                      <a:pt x="35719" y="273844"/>
                    </a:cubicBezTo>
                    <a:lnTo>
                      <a:pt x="273844" y="273844"/>
                    </a:lnTo>
                    <a:cubicBezTo>
                      <a:pt x="293571" y="273844"/>
                      <a:pt x="309562" y="257852"/>
                      <a:pt x="309562" y="238125"/>
                    </a:cubicBezTo>
                    <a:lnTo>
                      <a:pt x="309562" y="71438"/>
                    </a:lnTo>
                    <a:cubicBezTo>
                      <a:pt x="309562" y="51711"/>
                      <a:pt x="293571" y="35719"/>
                      <a:pt x="273844" y="35719"/>
                    </a:cubicBezTo>
                    <a:close/>
                    <a:moveTo>
                      <a:pt x="285750" y="238125"/>
                    </a:moveTo>
                    <a:cubicBezTo>
                      <a:pt x="285750" y="244701"/>
                      <a:pt x="280419" y="250031"/>
                      <a:pt x="273844" y="250031"/>
                    </a:cubicBezTo>
                    <a:lnTo>
                      <a:pt x="35719" y="250031"/>
                    </a:lnTo>
                    <a:cubicBezTo>
                      <a:pt x="29143" y="250031"/>
                      <a:pt x="23812" y="244701"/>
                      <a:pt x="23812" y="238125"/>
                    </a:cubicBezTo>
                    <a:lnTo>
                      <a:pt x="23812" y="71438"/>
                    </a:lnTo>
                    <a:cubicBezTo>
                      <a:pt x="23812" y="64862"/>
                      <a:pt x="29143" y="59531"/>
                      <a:pt x="35719" y="59531"/>
                    </a:cubicBezTo>
                    <a:lnTo>
                      <a:pt x="83344" y="59531"/>
                    </a:lnTo>
                    <a:cubicBezTo>
                      <a:pt x="87326" y="59534"/>
                      <a:pt x="91046" y="57545"/>
                      <a:pt x="93256" y="54233"/>
                    </a:cubicBezTo>
                    <a:lnTo>
                      <a:pt x="113526" y="23812"/>
                    </a:lnTo>
                    <a:lnTo>
                      <a:pt x="196022" y="23812"/>
                    </a:lnTo>
                    <a:lnTo>
                      <a:pt x="216307" y="54233"/>
                    </a:lnTo>
                    <a:cubicBezTo>
                      <a:pt x="218517" y="57545"/>
                      <a:pt x="222237" y="59534"/>
                      <a:pt x="226219" y="59531"/>
                    </a:cubicBezTo>
                    <a:lnTo>
                      <a:pt x="273844" y="59531"/>
                    </a:lnTo>
                    <a:cubicBezTo>
                      <a:pt x="280419" y="59531"/>
                      <a:pt x="285750" y="64862"/>
                      <a:pt x="285750" y="71438"/>
                    </a:cubicBezTo>
                    <a:close/>
                    <a:moveTo>
                      <a:pt x="154781" y="83344"/>
                    </a:moveTo>
                    <a:cubicBezTo>
                      <a:pt x="118615" y="83344"/>
                      <a:pt x="89297" y="112662"/>
                      <a:pt x="89297" y="148828"/>
                    </a:cubicBezTo>
                    <a:cubicBezTo>
                      <a:pt x="89297" y="184994"/>
                      <a:pt x="118615" y="214312"/>
                      <a:pt x="154781" y="214312"/>
                    </a:cubicBezTo>
                    <a:cubicBezTo>
                      <a:pt x="190947" y="214312"/>
                      <a:pt x="220266" y="184994"/>
                      <a:pt x="220266" y="148828"/>
                    </a:cubicBezTo>
                    <a:cubicBezTo>
                      <a:pt x="220225" y="112679"/>
                      <a:pt x="190930" y="83385"/>
                      <a:pt x="154781" y="83344"/>
                    </a:cubicBezTo>
                    <a:close/>
                    <a:moveTo>
                      <a:pt x="154781" y="190500"/>
                    </a:moveTo>
                    <a:cubicBezTo>
                      <a:pt x="131767" y="190500"/>
                      <a:pt x="113109" y="171843"/>
                      <a:pt x="113109" y="148828"/>
                    </a:cubicBezTo>
                    <a:cubicBezTo>
                      <a:pt x="113109" y="125813"/>
                      <a:pt x="131767" y="107156"/>
                      <a:pt x="154781" y="107156"/>
                    </a:cubicBezTo>
                    <a:cubicBezTo>
                      <a:pt x="177796" y="107156"/>
                      <a:pt x="196453" y="125813"/>
                      <a:pt x="196453" y="148828"/>
                    </a:cubicBezTo>
                    <a:cubicBezTo>
                      <a:pt x="196453" y="171843"/>
                      <a:pt x="177796" y="190500"/>
                      <a:pt x="154781" y="190500"/>
                    </a:cubicBezTo>
                    <a:close/>
                  </a:path>
                </a:pathLst>
              </a:custGeom>
              <a:solidFill>
                <a:schemeClr val="accent2"/>
              </a:solidFill>
              <a:ln>
                <a:noFill/>
              </a:ln>
            </p:spPr>
          </p:sp>
        </p:grpSp>
        <p:sp>
          <p:nvSpPr>
            <p:cNvPr id="33" name="TextBox 33"/>
            <p:cNvSpPr txBox="1"/>
            <p:nvPr/>
          </p:nvSpPr>
          <p:spPr>
            <a:xfrm>
              <a:off x="600456" y="5063490"/>
              <a:ext cx="1373269" cy="99974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Tự nhận biết</a:t>
              </a:r>
              <a:br>
                <a:rPr lang="vi-VN" sz="1800" b="1" dirty="0">
                  <a:solidFill>
                    <a:schemeClr val="dk1"/>
                  </a:solidFill>
                  <a:latin typeface="+mn-lt"/>
                  <a:ea typeface="+mn-ea"/>
                  <a:cs typeface="+mn-cs"/>
                </a:rPr>
              </a:br>
              <a:r>
                <a:rPr lang="vi-VN" sz="1800" dirty="0">
                  <a:solidFill>
                    <a:schemeClr val="dk1"/>
                  </a:solidFill>
                  <a:latin typeface="+mn-lt"/>
                  <a:ea typeface="+mn-ea"/>
                  <a:cs typeface="+mn-cs"/>
                </a:rPr>
                <a:t>cảm xúc qua</a:t>
              </a:r>
              <a:br>
                <a:rPr lang="vi-VN" sz="1800" dirty="0">
                  <a:solidFill>
                    <a:schemeClr val="dk1"/>
                  </a:solidFill>
                  <a:latin typeface="+mn-lt"/>
                  <a:ea typeface="+mn-ea"/>
                  <a:cs typeface="+mn-cs"/>
                </a:rPr>
              </a:br>
              <a:r>
                <a:rPr lang="vi-VN" sz="1800" dirty="0">
                  <a:solidFill>
                    <a:schemeClr val="dk1"/>
                  </a:solidFill>
                  <a:latin typeface="+mn-lt"/>
                  <a:ea typeface="+mn-ea"/>
                  <a:cs typeface="+mn-cs"/>
                </a:rPr>
                <a:t>khuôn mặt</a:t>
              </a:r>
              <a:endParaRPr lang="vi-VN" sz="1800" dirty="0">
                <a:solidFill>
                  <a:schemeClr val="dk1"/>
                </a:solidFill>
                <a:latin typeface="+mn-lt"/>
                <a:ea typeface="+mn-ea"/>
                <a:cs typeface="+mn-cs"/>
              </a:endParaRPr>
            </a:p>
          </p:txBody>
        </p:sp>
      </p:grpSp>
      <p:grpSp>
        <p:nvGrpSpPr>
          <p:cNvPr id="39" name="idea-2"/>
          <p:cNvGrpSpPr/>
          <p:nvPr/>
        </p:nvGrpSpPr>
        <p:grpSpPr>
          <a:xfrm>
            <a:off x="3400806" y="4568437"/>
            <a:ext cx="1416680" cy="1170947"/>
            <a:chOff x="3400806" y="4568437"/>
            <a:chExt cx="1416680" cy="1170947"/>
          </a:xfrm>
        </p:grpSpPr>
        <p:grpSp>
          <p:nvGrpSpPr>
            <p:cNvPr id="37" name="Group 37"/>
            <p:cNvGrpSpPr/>
            <p:nvPr/>
          </p:nvGrpSpPr>
          <p:grpSpPr>
            <a:xfrm>
              <a:off x="3505200" y="4568437"/>
              <a:ext cx="261910" cy="310793"/>
              <a:chOff x="3505200" y="4568437"/>
              <a:chExt cx="261910" cy="310793"/>
            </a:xfrm>
          </p:grpSpPr>
          <p:sp>
            <p:nvSpPr>
              <p:cNvPr id="35" name="Freeform 35"/>
              <p:cNvSpPr/>
              <p:nvPr/>
            </p:nvSpPr>
            <p:spPr>
              <a:xfrm>
                <a:off x="3517106" y="4580989"/>
                <a:ext cx="238126" cy="286822"/>
              </a:xfrm>
              <a:custGeom>
                <a:avLst/>
                <a:gdLst/>
                <a:ahLst/>
                <a:cxnLst/>
                <a:rect l="l" t="t" r="r" b="b"/>
                <a:pathLst>
                  <a:path w="238126" h="286822">
                    <a:moveTo>
                      <a:pt x="232514" y="153368"/>
                    </a:moveTo>
                    <a:lnTo>
                      <a:pt x="18083" y="284515"/>
                    </a:lnTo>
                    <a:cubicBezTo>
                      <a:pt x="14440" y="286726"/>
                      <a:pt x="9894" y="286822"/>
                      <a:pt x="6161" y="284767"/>
                    </a:cubicBezTo>
                    <a:cubicBezTo>
                      <a:pt x="2429" y="282712"/>
                      <a:pt x="79" y="278819"/>
                      <a:pt x="0" y="274559"/>
                    </a:cubicBezTo>
                    <a:lnTo>
                      <a:pt x="0" y="12264"/>
                    </a:lnTo>
                    <a:cubicBezTo>
                      <a:pt x="79" y="8004"/>
                      <a:pt x="2429" y="4110"/>
                      <a:pt x="6161" y="2055"/>
                    </a:cubicBezTo>
                    <a:cubicBezTo>
                      <a:pt x="9894" y="0"/>
                      <a:pt x="14440" y="96"/>
                      <a:pt x="18083" y="2307"/>
                    </a:cubicBezTo>
                    <a:lnTo>
                      <a:pt x="232514" y="133455"/>
                    </a:lnTo>
                    <a:cubicBezTo>
                      <a:pt x="235998" y="135563"/>
                      <a:pt x="238126" y="139339"/>
                      <a:pt x="238126" y="143411"/>
                    </a:cubicBezTo>
                    <a:cubicBezTo>
                      <a:pt x="238126" y="147483"/>
                      <a:pt x="235998" y="151259"/>
                      <a:pt x="232514" y="153368"/>
                    </a:cubicBezTo>
                    <a:close/>
                  </a:path>
                </a:pathLst>
              </a:custGeom>
              <a:solidFill>
                <a:srgbClr val="4F8CFF">
                  <a:alpha val="20000"/>
                </a:srgbClr>
              </a:solidFill>
              <a:ln>
                <a:noFill/>
              </a:ln>
            </p:spPr>
          </p:sp>
          <p:sp>
            <p:nvSpPr>
              <p:cNvPr id="36" name="Freeform 36"/>
              <p:cNvSpPr/>
              <p:nvPr/>
            </p:nvSpPr>
            <p:spPr>
              <a:xfrm>
                <a:off x="3505200" y="4568437"/>
                <a:ext cx="261910" cy="310793"/>
              </a:xfrm>
              <a:custGeom>
                <a:avLst/>
                <a:gdLst/>
                <a:ahLst/>
                <a:cxnLst/>
                <a:rect l="l" t="t" r="r" b="b"/>
                <a:pathLst>
                  <a:path w="261910" h="310793">
                    <a:moveTo>
                      <a:pt x="250627" y="135856"/>
                    </a:moveTo>
                    <a:lnTo>
                      <a:pt x="36195" y="4679"/>
                    </a:lnTo>
                    <a:cubicBezTo>
                      <a:pt x="28833" y="171"/>
                      <a:pt x="19608" y="0"/>
                      <a:pt x="12085" y="4232"/>
                    </a:cubicBezTo>
                    <a:cubicBezTo>
                      <a:pt x="4634" y="8398"/>
                      <a:pt x="12" y="16263"/>
                      <a:pt x="0" y="24800"/>
                    </a:cubicBezTo>
                    <a:lnTo>
                      <a:pt x="0" y="287125"/>
                    </a:lnTo>
                    <a:cubicBezTo>
                      <a:pt x="57" y="300221"/>
                      <a:pt x="10716" y="310793"/>
                      <a:pt x="23812" y="310744"/>
                    </a:cubicBezTo>
                    <a:cubicBezTo>
                      <a:pt x="28202" y="310742"/>
                      <a:pt x="32507" y="309532"/>
                      <a:pt x="36255" y="307246"/>
                    </a:cubicBezTo>
                    <a:lnTo>
                      <a:pt x="250627" y="176069"/>
                    </a:lnTo>
                    <a:cubicBezTo>
                      <a:pt x="257634" y="171798"/>
                      <a:pt x="261910" y="164184"/>
                      <a:pt x="261910" y="155977"/>
                    </a:cubicBezTo>
                    <a:cubicBezTo>
                      <a:pt x="261910" y="147771"/>
                      <a:pt x="257634" y="140157"/>
                      <a:pt x="250627" y="135886"/>
                    </a:cubicBezTo>
                    <a:close/>
                    <a:moveTo>
                      <a:pt x="23812" y="286842"/>
                    </a:moveTo>
                    <a:lnTo>
                      <a:pt x="23812" y="24994"/>
                    </a:lnTo>
                    <a:lnTo>
                      <a:pt x="237872" y="155963"/>
                    </a:lnTo>
                    <a:close/>
                  </a:path>
                </a:pathLst>
              </a:custGeom>
              <a:solidFill>
                <a:srgbClr val="4F8CFF"/>
              </a:solidFill>
              <a:ln>
                <a:noFill/>
              </a:ln>
            </p:spPr>
          </p:sp>
        </p:grpSp>
        <p:sp>
          <p:nvSpPr>
            <p:cNvPr id="38" name="TextBox 38"/>
            <p:cNvSpPr txBox="1"/>
            <p:nvPr/>
          </p:nvSpPr>
          <p:spPr>
            <a:xfrm>
              <a:off x="3400806" y="5063490"/>
              <a:ext cx="1416680" cy="67589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Tự phát nhạc</a:t>
              </a:r>
              <a:br>
                <a:rPr lang="vi-VN" sz="1800" b="1" dirty="0">
                  <a:solidFill>
                    <a:schemeClr val="dk1"/>
                  </a:solidFill>
                  <a:latin typeface="+mn-lt"/>
                  <a:ea typeface="+mn-ea"/>
                  <a:cs typeface="+mn-cs"/>
                </a:rPr>
              </a:br>
              <a:r>
                <a:rPr lang="vi-VN" sz="1800" dirty="0">
                  <a:solidFill>
                    <a:schemeClr val="dk1"/>
                  </a:solidFill>
                  <a:latin typeface="+mn-lt"/>
                  <a:ea typeface="+mn-ea"/>
                  <a:cs typeface="+mn-cs"/>
                </a:rPr>
                <a:t>phù hợp</a:t>
              </a:r>
              <a:endParaRPr lang="vi-VN" sz="1800" dirty="0">
                <a:solidFill>
                  <a:schemeClr val="dk1"/>
                </a:solidFill>
                <a:latin typeface="+mn-lt"/>
                <a:ea typeface="+mn-ea"/>
                <a:cs typeface="+mn-cs"/>
              </a:endParaRPr>
            </a:p>
          </p:txBody>
        </p:sp>
      </p:grpSp>
      <p:grpSp>
        <p:nvGrpSpPr>
          <p:cNvPr id="44" name="idea-3"/>
          <p:cNvGrpSpPr/>
          <p:nvPr/>
        </p:nvGrpSpPr>
        <p:grpSpPr>
          <a:xfrm>
            <a:off x="6201156" y="4593431"/>
            <a:ext cx="1989849" cy="1469803"/>
            <a:chOff x="6201156" y="4593431"/>
            <a:chExt cx="1989849" cy="1469803"/>
          </a:xfrm>
        </p:grpSpPr>
        <p:grpSp>
          <p:nvGrpSpPr>
            <p:cNvPr id="42" name="Group 42"/>
            <p:cNvGrpSpPr/>
            <p:nvPr/>
          </p:nvGrpSpPr>
          <p:grpSpPr>
            <a:xfrm>
              <a:off x="6246019" y="4593431"/>
              <a:ext cx="309562" cy="261938"/>
              <a:chOff x="6246019" y="4593431"/>
              <a:chExt cx="309562" cy="261938"/>
            </a:xfrm>
          </p:grpSpPr>
          <p:sp>
            <p:nvSpPr>
              <p:cNvPr id="40" name="Freeform 40"/>
              <p:cNvSpPr/>
              <p:nvPr/>
            </p:nvSpPr>
            <p:spPr>
              <a:xfrm>
                <a:off x="6257925" y="4605338"/>
                <a:ext cx="285750" cy="238125"/>
              </a:xfrm>
              <a:custGeom>
                <a:avLst/>
                <a:gdLst/>
                <a:ahLst/>
                <a:cxnLst/>
                <a:rect l="l" t="t" r="r" b="b"/>
                <a:pathLst>
                  <a:path w="285750" h="238125">
                    <a:moveTo>
                      <a:pt x="285750" y="23812"/>
                    </a:moveTo>
                    <a:lnTo>
                      <a:pt x="285750" y="238125"/>
                    </a:lnTo>
                    <a:lnTo>
                      <a:pt x="0" y="238125"/>
                    </a:lnTo>
                    <a:lnTo>
                      <a:pt x="0" y="0"/>
                    </a:lnTo>
                    <a:lnTo>
                      <a:pt x="261938" y="0"/>
                    </a:lnTo>
                    <a:cubicBezTo>
                      <a:pt x="275089" y="0"/>
                      <a:pt x="285750" y="10661"/>
                      <a:pt x="285750" y="23812"/>
                    </a:cubicBezTo>
                    <a:close/>
                  </a:path>
                </a:pathLst>
              </a:custGeom>
              <a:solidFill>
                <a:schemeClr val="accent3">
                  <a:alpha val="20000"/>
                </a:schemeClr>
              </a:solidFill>
              <a:ln>
                <a:noFill/>
              </a:ln>
            </p:spPr>
          </p:sp>
          <p:sp>
            <p:nvSpPr>
              <p:cNvPr id="41" name="Freeform 41"/>
              <p:cNvSpPr/>
              <p:nvPr/>
            </p:nvSpPr>
            <p:spPr>
              <a:xfrm>
                <a:off x="6246019" y="4593431"/>
                <a:ext cx="309562" cy="261938"/>
              </a:xfrm>
              <a:custGeom>
                <a:avLst/>
                <a:gdLst/>
                <a:ahLst/>
                <a:cxnLst/>
                <a:rect l="l" t="t" r="r" b="b"/>
                <a:pathLst>
                  <a:path w="309562" h="261938">
                    <a:moveTo>
                      <a:pt x="309562" y="250031"/>
                    </a:moveTo>
                    <a:cubicBezTo>
                      <a:pt x="309562" y="256607"/>
                      <a:pt x="304232" y="261938"/>
                      <a:pt x="297656" y="261938"/>
                    </a:cubicBezTo>
                    <a:lnTo>
                      <a:pt x="11906" y="261938"/>
                    </a:lnTo>
                    <a:cubicBezTo>
                      <a:pt x="5331" y="261938"/>
                      <a:pt x="0" y="256607"/>
                      <a:pt x="0" y="250031"/>
                    </a:cubicBezTo>
                    <a:lnTo>
                      <a:pt x="0" y="11906"/>
                    </a:lnTo>
                    <a:cubicBezTo>
                      <a:pt x="0" y="5331"/>
                      <a:pt x="5331" y="0"/>
                      <a:pt x="11906" y="0"/>
                    </a:cubicBezTo>
                    <a:cubicBezTo>
                      <a:pt x="18482" y="0"/>
                      <a:pt x="23812" y="5331"/>
                      <a:pt x="23812" y="11906"/>
                    </a:cubicBezTo>
                    <a:lnTo>
                      <a:pt x="23812" y="173668"/>
                    </a:lnTo>
                    <a:lnTo>
                      <a:pt x="98733" y="98733"/>
                    </a:lnTo>
                    <a:cubicBezTo>
                      <a:pt x="100966" y="96497"/>
                      <a:pt x="103996" y="95241"/>
                      <a:pt x="107156" y="95241"/>
                    </a:cubicBezTo>
                    <a:cubicBezTo>
                      <a:pt x="110316" y="95241"/>
                      <a:pt x="113347" y="96497"/>
                      <a:pt x="115580" y="98733"/>
                    </a:cubicBezTo>
                    <a:lnTo>
                      <a:pt x="154781" y="137949"/>
                    </a:lnTo>
                    <a:lnTo>
                      <a:pt x="233199" y="59531"/>
                    </a:lnTo>
                    <a:lnTo>
                      <a:pt x="202406" y="59531"/>
                    </a:lnTo>
                    <a:cubicBezTo>
                      <a:pt x="195831" y="59531"/>
                      <a:pt x="190500" y="54201"/>
                      <a:pt x="190500" y="47625"/>
                    </a:cubicBezTo>
                    <a:cubicBezTo>
                      <a:pt x="190500" y="41049"/>
                      <a:pt x="195831" y="35719"/>
                      <a:pt x="202406" y="35719"/>
                    </a:cubicBezTo>
                    <a:lnTo>
                      <a:pt x="261938" y="35719"/>
                    </a:lnTo>
                    <a:cubicBezTo>
                      <a:pt x="268513" y="35719"/>
                      <a:pt x="273844" y="41049"/>
                      <a:pt x="273844" y="47625"/>
                    </a:cubicBezTo>
                    <a:lnTo>
                      <a:pt x="273844" y="107156"/>
                    </a:lnTo>
                    <a:cubicBezTo>
                      <a:pt x="273844" y="113732"/>
                      <a:pt x="268513" y="119062"/>
                      <a:pt x="261938" y="119062"/>
                    </a:cubicBezTo>
                    <a:cubicBezTo>
                      <a:pt x="255362" y="119062"/>
                      <a:pt x="250031" y="113732"/>
                      <a:pt x="250031" y="107156"/>
                    </a:cubicBezTo>
                    <a:lnTo>
                      <a:pt x="250031" y="76364"/>
                    </a:lnTo>
                    <a:lnTo>
                      <a:pt x="163205" y="163205"/>
                    </a:lnTo>
                    <a:cubicBezTo>
                      <a:pt x="160972" y="165441"/>
                      <a:pt x="157941" y="166697"/>
                      <a:pt x="154781" y="166697"/>
                    </a:cubicBezTo>
                    <a:cubicBezTo>
                      <a:pt x="151621" y="166697"/>
                      <a:pt x="148591" y="165441"/>
                      <a:pt x="146358" y="163205"/>
                    </a:cubicBezTo>
                    <a:lnTo>
                      <a:pt x="107156" y="123989"/>
                    </a:lnTo>
                    <a:lnTo>
                      <a:pt x="23812" y="207332"/>
                    </a:lnTo>
                    <a:lnTo>
                      <a:pt x="23812" y="238125"/>
                    </a:lnTo>
                    <a:lnTo>
                      <a:pt x="297656" y="238125"/>
                    </a:lnTo>
                    <a:cubicBezTo>
                      <a:pt x="304232" y="238125"/>
                      <a:pt x="309562" y="243456"/>
                      <a:pt x="309562" y="250031"/>
                    </a:cubicBezTo>
                    <a:close/>
                  </a:path>
                </a:pathLst>
              </a:custGeom>
              <a:solidFill>
                <a:schemeClr val="accent3"/>
              </a:solidFill>
              <a:ln>
                <a:noFill/>
              </a:ln>
            </p:spPr>
          </p:sp>
        </p:grpSp>
        <p:sp>
          <p:nvSpPr>
            <p:cNvPr id="43" name="TextBox 43"/>
            <p:cNvSpPr txBox="1"/>
            <p:nvPr/>
          </p:nvSpPr>
          <p:spPr>
            <a:xfrm>
              <a:off x="6201156" y="5063490"/>
              <a:ext cx="1989849" cy="99974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Học dần sở thích</a:t>
              </a:r>
              <a:br>
                <a:rPr lang="vi-VN" sz="1800" b="1" dirty="0">
                  <a:solidFill>
                    <a:schemeClr val="dk1"/>
                  </a:solidFill>
                  <a:latin typeface="+mn-lt"/>
                  <a:ea typeface="+mn-ea"/>
                  <a:cs typeface="+mn-cs"/>
                </a:rPr>
              </a:br>
              <a:r>
                <a:rPr lang="vi-VN" sz="1800" dirty="0">
                  <a:solidFill>
                    <a:schemeClr val="dk1"/>
                  </a:solidFill>
                  <a:latin typeface="+mn-lt"/>
                  <a:ea typeface="+mn-ea"/>
                  <a:cs typeface="+mn-cs"/>
                </a:rPr>
                <a:t>qua cách nghe,</a:t>
              </a:r>
              <a:br>
                <a:rPr lang="vi-VN" sz="1800" dirty="0">
                  <a:solidFill>
                    <a:schemeClr val="dk1"/>
                  </a:solidFill>
                  <a:latin typeface="+mn-lt"/>
                  <a:ea typeface="+mn-ea"/>
                  <a:cs typeface="+mn-cs"/>
                </a:rPr>
              </a:br>
              <a:r>
                <a:rPr lang="vi-VN" sz="1800" dirty="0">
                  <a:solidFill>
                    <a:schemeClr val="dk1"/>
                  </a:solidFill>
                  <a:latin typeface="+mn-lt"/>
                  <a:ea typeface="+mn-ea"/>
                  <a:cs typeface="+mn-cs"/>
                </a:rPr>
                <a:t>không cần bấm like</a:t>
              </a:r>
              <a:endParaRPr lang="vi-VN" sz="1800" dirty="0">
                <a:solidFill>
                  <a:schemeClr val="dk1"/>
                </a:solidFill>
                <a:latin typeface="+mn-lt"/>
                <a:ea typeface="+mn-ea"/>
                <a:cs typeface="+mn-cs"/>
              </a:endParaRPr>
            </a:p>
          </p:txBody>
        </p:sp>
      </p:grpSp>
      <p:grpSp>
        <p:nvGrpSpPr>
          <p:cNvPr id="49" name="idea-4"/>
          <p:cNvGrpSpPr/>
          <p:nvPr/>
        </p:nvGrpSpPr>
        <p:grpSpPr>
          <a:xfrm>
            <a:off x="9001506" y="4556862"/>
            <a:ext cx="2407158" cy="1506372"/>
            <a:chOff x="9001506" y="4556862"/>
            <a:chExt cx="2407158" cy="1506372"/>
          </a:xfrm>
        </p:grpSpPr>
        <p:grpSp>
          <p:nvGrpSpPr>
            <p:cNvPr id="47" name="Group 47"/>
            <p:cNvGrpSpPr/>
            <p:nvPr/>
          </p:nvGrpSpPr>
          <p:grpSpPr>
            <a:xfrm>
              <a:off x="9069794" y="4556862"/>
              <a:ext cx="262428" cy="334225"/>
              <a:chOff x="9069794" y="4556862"/>
              <a:chExt cx="262428" cy="334225"/>
            </a:xfrm>
          </p:grpSpPr>
          <p:sp>
            <p:nvSpPr>
              <p:cNvPr id="45" name="Freeform 45"/>
              <p:cNvSpPr/>
              <p:nvPr/>
            </p:nvSpPr>
            <p:spPr>
              <a:xfrm>
                <a:off x="9081730" y="4568845"/>
                <a:ext cx="238514" cy="262711"/>
              </a:xfrm>
              <a:custGeom>
                <a:avLst/>
                <a:gdLst/>
                <a:ahLst/>
                <a:cxnLst/>
                <a:rect l="l" t="t" r="r" b="b"/>
                <a:pathLst>
                  <a:path w="238514" h="262711">
                    <a:moveTo>
                      <a:pt x="238482" y="119836"/>
                    </a:moveTo>
                    <a:cubicBezTo>
                      <a:pt x="238514" y="156391"/>
                      <a:pt x="221724" y="190927"/>
                      <a:pt x="192956" y="213479"/>
                    </a:cubicBezTo>
                    <a:cubicBezTo>
                      <a:pt x="184170" y="220288"/>
                      <a:pt x="179005" y="230760"/>
                      <a:pt x="178951" y="241876"/>
                    </a:cubicBezTo>
                    <a:lnTo>
                      <a:pt x="178951" y="250805"/>
                    </a:lnTo>
                    <a:cubicBezTo>
                      <a:pt x="178951" y="257381"/>
                      <a:pt x="173620" y="262711"/>
                      <a:pt x="167045" y="262711"/>
                    </a:cubicBezTo>
                    <a:lnTo>
                      <a:pt x="71795" y="262711"/>
                    </a:lnTo>
                    <a:cubicBezTo>
                      <a:pt x="65219" y="262711"/>
                      <a:pt x="59888" y="257381"/>
                      <a:pt x="59888" y="250805"/>
                    </a:cubicBezTo>
                    <a:lnTo>
                      <a:pt x="59888" y="241876"/>
                    </a:lnTo>
                    <a:cubicBezTo>
                      <a:pt x="59877" y="230821"/>
                      <a:pt x="54771" y="220389"/>
                      <a:pt x="46047" y="213598"/>
                    </a:cubicBezTo>
                    <a:cubicBezTo>
                      <a:pt x="17371" y="191197"/>
                      <a:pt x="536" y="156895"/>
                      <a:pt x="357" y="120506"/>
                    </a:cubicBezTo>
                    <a:cubicBezTo>
                      <a:pt x="0" y="55974"/>
                      <a:pt x="52030" y="2262"/>
                      <a:pt x="116547" y="774"/>
                    </a:cubicBezTo>
                    <a:cubicBezTo>
                      <a:pt x="148619" y="0"/>
                      <a:pt x="179647" y="12202"/>
                      <a:pt x="202600" y="34615"/>
                    </a:cubicBezTo>
                    <a:cubicBezTo>
                      <a:pt x="225554" y="57028"/>
                      <a:pt x="238492" y="87755"/>
                      <a:pt x="238482" y="119836"/>
                    </a:cubicBezTo>
                    <a:close/>
                  </a:path>
                </a:pathLst>
              </a:custGeom>
              <a:solidFill>
                <a:schemeClr val="accent1">
                  <a:alpha val="20000"/>
                </a:schemeClr>
              </a:solidFill>
              <a:ln>
                <a:noFill/>
              </a:ln>
            </p:spPr>
          </p:sp>
          <p:sp>
            <p:nvSpPr>
              <p:cNvPr id="46" name="Freeform 46"/>
              <p:cNvSpPr/>
              <p:nvPr/>
            </p:nvSpPr>
            <p:spPr>
              <a:xfrm>
                <a:off x="9069794" y="4556862"/>
                <a:ext cx="262428" cy="334225"/>
              </a:xfrm>
              <a:custGeom>
                <a:avLst/>
                <a:gdLst/>
                <a:ahLst/>
                <a:cxnLst/>
                <a:rect l="l" t="t" r="r" b="b"/>
                <a:pathLst>
                  <a:path w="262428" h="334225">
                    <a:moveTo>
                      <a:pt x="202793" y="322319"/>
                    </a:moveTo>
                    <a:cubicBezTo>
                      <a:pt x="202793" y="328895"/>
                      <a:pt x="197463" y="334225"/>
                      <a:pt x="190887" y="334225"/>
                    </a:cubicBezTo>
                    <a:lnTo>
                      <a:pt x="71824" y="334225"/>
                    </a:lnTo>
                    <a:cubicBezTo>
                      <a:pt x="65249" y="334225"/>
                      <a:pt x="59918" y="328895"/>
                      <a:pt x="59918" y="322319"/>
                    </a:cubicBezTo>
                    <a:cubicBezTo>
                      <a:pt x="59918" y="315743"/>
                      <a:pt x="65249" y="310413"/>
                      <a:pt x="71824" y="310413"/>
                    </a:cubicBezTo>
                    <a:lnTo>
                      <a:pt x="190887" y="310413"/>
                    </a:lnTo>
                    <a:cubicBezTo>
                      <a:pt x="197463" y="310413"/>
                      <a:pt x="202793" y="315743"/>
                      <a:pt x="202793" y="322319"/>
                    </a:cubicBezTo>
                    <a:close/>
                    <a:moveTo>
                      <a:pt x="262324" y="131819"/>
                    </a:moveTo>
                    <a:cubicBezTo>
                      <a:pt x="262428" y="172041"/>
                      <a:pt x="243951" y="210056"/>
                      <a:pt x="212259" y="234823"/>
                    </a:cubicBezTo>
                    <a:cubicBezTo>
                      <a:pt x="206333" y="239365"/>
                      <a:pt x="202839" y="246391"/>
                      <a:pt x="202793" y="253858"/>
                    </a:cubicBezTo>
                    <a:lnTo>
                      <a:pt x="202793" y="262788"/>
                    </a:lnTo>
                    <a:cubicBezTo>
                      <a:pt x="202793" y="275939"/>
                      <a:pt x="192132" y="286600"/>
                      <a:pt x="178981" y="286600"/>
                    </a:cubicBezTo>
                    <a:lnTo>
                      <a:pt x="83731" y="286600"/>
                    </a:lnTo>
                    <a:cubicBezTo>
                      <a:pt x="70579" y="286600"/>
                      <a:pt x="59918" y="275939"/>
                      <a:pt x="59918" y="262788"/>
                    </a:cubicBezTo>
                    <a:lnTo>
                      <a:pt x="59918" y="253858"/>
                    </a:lnTo>
                    <a:cubicBezTo>
                      <a:pt x="59913" y="246480"/>
                      <a:pt x="56489" y="239521"/>
                      <a:pt x="50646" y="235016"/>
                    </a:cubicBezTo>
                    <a:cubicBezTo>
                      <a:pt x="19037" y="210399"/>
                      <a:pt x="503" y="172613"/>
                      <a:pt x="387" y="132548"/>
                    </a:cubicBezTo>
                    <a:cubicBezTo>
                      <a:pt x="0" y="61617"/>
                      <a:pt x="57329" y="2547"/>
                      <a:pt x="128201" y="850"/>
                    </a:cubicBezTo>
                    <a:cubicBezTo>
                      <a:pt x="163479" y="0"/>
                      <a:pt x="197608" y="13422"/>
                      <a:pt x="222856" y="38076"/>
                    </a:cubicBezTo>
                    <a:cubicBezTo>
                      <a:pt x="248104" y="62731"/>
                      <a:pt x="262335" y="96530"/>
                      <a:pt x="262324" y="131819"/>
                    </a:cubicBezTo>
                    <a:close/>
                    <a:moveTo>
                      <a:pt x="238512" y="131819"/>
                    </a:moveTo>
                    <a:cubicBezTo>
                      <a:pt x="238520" y="102945"/>
                      <a:pt x="226876" y="75289"/>
                      <a:pt x="206217" y="55118"/>
                    </a:cubicBezTo>
                    <a:cubicBezTo>
                      <a:pt x="185557" y="34946"/>
                      <a:pt x="157632" y="23965"/>
                      <a:pt x="128766" y="24663"/>
                    </a:cubicBezTo>
                    <a:cubicBezTo>
                      <a:pt x="70723" y="26032"/>
                      <a:pt x="23887" y="74356"/>
                      <a:pt x="24199" y="132399"/>
                    </a:cubicBezTo>
                    <a:cubicBezTo>
                      <a:pt x="24310" y="165166"/>
                      <a:pt x="39478" y="196063"/>
                      <a:pt x="65336" y="216190"/>
                    </a:cubicBezTo>
                    <a:cubicBezTo>
                      <a:pt x="76961" y="225227"/>
                      <a:pt x="83752" y="239133"/>
                      <a:pt x="83731" y="253858"/>
                    </a:cubicBezTo>
                    <a:lnTo>
                      <a:pt x="83731" y="262788"/>
                    </a:lnTo>
                    <a:lnTo>
                      <a:pt x="178981" y="262788"/>
                    </a:lnTo>
                    <a:lnTo>
                      <a:pt x="178981" y="253858"/>
                    </a:lnTo>
                    <a:cubicBezTo>
                      <a:pt x="179014" y="239092"/>
                      <a:pt x="185863" y="225169"/>
                      <a:pt x="197540" y="216130"/>
                    </a:cubicBezTo>
                    <a:cubicBezTo>
                      <a:pt x="223480" y="195858"/>
                      <a:pt x="238602" y="164741"/>
                      <a:pt x="238512" y="131819"/>
                    </a:cubicBezTo>
                    <a:close/>
                    <a:moveTo>
                      <a:pt x="214536" y="117918"/>
                    </a:moveTo>
                    <a:cubicBezTo>
                      <a:pt x="208213" y="82599"/>
                      <a:pt x="180562" y="54954"/>
                      <a:pt x="145241" y="48639"/>
                    </a:cubicBezTo>
                    <a:cubicBezTo>
                      <a:pt x="138756" y="47546"/>
                      <a:pt x="132613" y="51917"/>
                      <a:pt x="131519" y="58402"/>
                    </a:cubicBezTo>
                    <a:cubicBezTo>
                      <a:pt x="130426" y="64887"/>
                      <a:pt x="134797" y="71031"/>
                      <a:pt x="141283" y="72124"/>
                    </a:cubicBezTo>
                    <a:cubicBezTo>
                      <a:pt x="165943" y="76276"/>
                      <a:pt x="186869" y="97201"/>
                      <a:pt x="191051" y="121907"/>
                    </a:cubicBezTo>
                    <a:cubicBezTo>
                      <a:pt x="192023" y="127633"/>
                      <a:pt x="196985" y="131821"/>
                      <a:pt x="202793" y="131819"/>
                    </a:cubicBezTo>
                    <a:cubicBezTo>
                      <a:pt x="203466" y="131815"/>
                      <a:pt x="204138" y="131760"/>
                      <a:pt x="204802" y="131655"/>
                    </a:cubicBezTo>
                    <a:cubicBezTo>
                      <a:pt x="211283" y="130549"/>
                      <a:pt x="215640" y="124399"/>
                      <a:pt x="214536" y="117918"/>
                    </a:cubicBezTo>
                    <a:close/>
                  </a:path>
                </a:pathLst>
              </a:custGeom>
              <a:solidFill>
                <a:schemeClr val="accent1"/>
              </a:solidFill>
              <a:ln>
                <a:noFill/>
              </a:ln>
            </p:spPr>
          </p:sp>
        </p:grpSp>
        <p:sp>
          <p:nvSpPr>
            <p:cNvPr id="48" name="TextBox 48"/>
            <p:cNvSpPr txBox="1"/>
            <p:nvPr/>
          </p:nvSpPr>
          <p:spPr>
            <a:xfrm>
              <a:off x="9001506" y="5063490"/>
              <a:ext cx="2407158" cy="99974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Đặt trong phòng</a:t>
              </a:r>
              <a:br>
                <a:rPr lang="vi-VN" sz="1800" b="1" dirty="0">
                  <a:solidFill>
                    <a:schemeClr val="dk1"/>
                  </a:solidFill>
                  <a:latin typeface="+mn-lt"/>
                  <a:ea typeface="+mn-ea"/>
                  <a:cs typeface="+mn-cs"/>
                </a:rPr>
              </a:br>
              <a:r>
                <a:rPr lang="vi-VN" sz="1800" dirty="0">
                  <a:solidFill>
                    <a:schemeClr val="dk1"/>
                  </a:solidFill>
                  <a:latin typeface="+mn-lt"/>
                  <a:ea typeface="+mn-ea"/>
                  <a:cs typeface="+mn-cs"/>
                </a:rPr>
                <a:t>như một vật dụng,</a:t>
              </a:r>
              <a:br>
                <a:rPr lang="vi-VN" sz="1800" dirty="0">
                  <a:solidFill>
                    <a:schemeClr val="dk1"/>
                  </a:solidFill>
                  <a:latin typeface="+mn-lt"/>
                  <a:ea typeface="+mn-ea"/>
                  <a:cs typeface="+mn-cs"/>
                </a:rPr>
              </a:br>
              <a:r>
                <a:rPr lang="vi-VN" sz="1800" dirty="0">
                  <a:solidFill>
                    <a:schemeClr val="dk1"/>
                  </a:solidFill>
                  <a:latin typeface="+mn-lt"/>
                  <a:ea typeface="+mn-ea"/>
                  <a:cs typeface="+mn-cs"/>
                </a:rPr>
                <a:t>không cần mở máy tính</a:t>
              </a:r>
              <a:endParaRPr lang="vi-VN" sz="1800" dirty="0">
                <a:solidFill>
                  <a:schemeClr val="dk1"/>
                </a:solidFill>
                <a:latin typeface="+mn-lt"/>
                <a:ea typeface="+mn-ea"/>
                <a:cs typeface="+mn-cs"/>
              </a:endParaRPr>
            </a:p>
          </p:txBody>
        </p:sp>
      </p:grpSp>
      <p:sp>
        <p:nvSpPr>
          <p:cNvPr id="50" name="TextBox 50"/>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02 / 13</a:t>
            </a:r>
            <a:endParaRPr lang="vi-VN" sz="1200" dirty="0">
              <a:solidFill>
                <a:schemeClr val="accent5"/>
              </a:solidFill>
              <a:latin typeface="Consolas" panose="020B0609020204030204"/>
              <a:ea typeface="Consolas" panose="020B0609020204030204"/>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3577022" cy="849630"/>
            <a:chOff x="594360" y="422910"/>
            <a:chExt cx="3577022" cy="849630"/>
          </a:xfrm>
        </p:grpSpPr>
        <p:sp>
          <p:nvSpPr>
            <p:cNvPr id="2" name="TextBox 2"/>
            <p:cNvSpPr txBox="1"/>
            <p:nvPr/>
          </p:nvSpPr>
          <p:spPr>
            <a:xfrm>
              <a:off x="603504" y="422910"/>
              <a:ext cx="1795882"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PHẦN 1 · GIỚI THIỆU</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3" name="TextBox 3"/>
            <p:cNvSpPr txBox="1"/>
            <p:nvPr/>
          </p:nvSpPr>
          <p:spPr>
            <a:xfrm>
              <a:off x="594360" y="685800"/>
              <a:ext cx="3577022"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Kiến trúc hệ thống</a:t>
              </a:r>
              <a:endParaRPr lang="vi-VN" sz="3000" b="1" dirty="0">
                <a:solidFill>
                  <a:schemeClr val="dk1"/>
                </a:solidFill>
                <a:latin typeface="+mn-lt"/>
                <a:ea typeface="+mn-ea"/>
                <a:cs typeface="+mn-cs"/>
              </a:endParaRP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16" name="hw-webcam"/>
          <p:cNvGrpSpPr/>
          <p:nvPr/>
        </p:nvGrpSpPr>
        <p:grpSpPr>
          <a:xfrm>
            <a:off x="476250" y="1714500"/>
            <a:ext cx="1390650" cy="666750"/>
            <a:chOff x="476250" y="1714500"/>
            <a:chExt cx="1390650" cy="666750"/>
          </a:xfrm>
        </p:grpSpPr>
        <p:sp>
          <p:nvSpPr>
            <p:cNvPr id="11" name="Rectangle 11"/>
            <p:cNvSpPr/>
            <p:nvPr/>
          </p:nvSpPr>
          <p:spPr>
            <a:xfrm>
              <a:off x="476250" y="1714500"/>
              <a:ext cx="1390650" cy="666750"/>
            </a:xfrm>
            <a:prstGeom prst="roundRect">
              <a:avLst>
                <a:gd name="adj" fmla="val 17143"/>
              </a:avLst>
            </a:prstGeom>
            <a:solidFill>
              <a:schemeClr val="lt2"/>
            </a:solidFill>
            <a:ln w="14288">
              <a:solidFill>
                <a:schemeClr val="accent6"/>
              </a:solidFill>
            </a:ln>
          </p:spPr>
        </p:sp>
        <p:grpSp>
          <p:nvGrpSpPr>
            <p:cNvPr id="14" name="Group 14"/>
            <p:cNvGrpSpPr/>
            <p:nvPr/>
          </p:nvGrpSpPr>
          <p:grpSpPr>
            <a:xfrm>
              <a:off x="596503" y="1947862"/>
              <a:ext cx="216694" cy="191691"/>
              <a:chOff x="596503" y="1947862"/>
              <a:chExt cx="216694" cy="191691"/>
            </a:xfrm>
          </p:grpSpPr>
          <p:sp>
            <p:nvSpPr>
              <p:cNvPr id="12" name="Freeform 12"/>
              <p:cNvSpPr/>
              <p:nvPr/>
            </p:nvSpPr>
            <p:spPr>
              <a:xfrm>
                <a:off x="604838" y="1956197"/>
                <a:ext cx="200025" cy="175022"/>
              </a:xfrm>
              <a:custGeom>
                <a:avLst/>
                <a:gdLst/>
                <a:ahLst/>
                <a:cxnLst/>
                <a:rect l="l" t="t" r="r" b="b"/>
                <a:pathLst>
                  <a:path w="200025" h="175022">
                    <a:moveTo>
                      <a:pt x="183356" y="25003"/>
                    </a:moveTo>
                    <a:lnTo>
                      <a:pt x="150019" y="25003"/>
                    </a:lnTo>
                    <a:lnTo>
                      <a:pt x="133350" y="0"/>
                    </a:lnTo>
                    <a:lnTo>
                      <a:pt x="66675" y="0"/>
                    </a:lnTo>
                    <a:lnTo>
                      <a:pt x="50006" y="25003"/>
                    </a:lnTo>
                    <a:lnTo>
                      <a:pt x="16669" y="25003"/>
                    </a:lnTo>
                    <a:cubicBezTo>
                      <a:pt x="7463" y="25003"/>
                      <a:pt x="0" y="32466"/>
                      <a:pt x="0" y="41672"/>
                    </a:cubicBezTo>
                    <a:lnTo>
                      <a:pt x="0" y="158353"/>
                    </a:lnTo>
                    <a:cubicBezTo>
                      <a:pt x="0" y="167559"/>
                      <a:pt x="7463" y="175022"/>
                      <a:pt x="16669" y="175022"/>
                    </a:cubicBezTo>
                    <a:lnTo>
                      <a:pt x="183356" y="175022"/>
                    </a:lnTo>
                    <a:cubicBezTo>
                      <a:pt x="192562" y="175022"/>
                      <a:pt x="200025" y="167559"/>
                      <a:pt x="200025" y="158353"/>
                    </a:cubicBezTo>
                    <a:lnTo>
                      <a:pt x="200025" y="41672"/>
                    </a:lnTo>
                    <a:cubicBezTo>
                      <a:pt x="200025" y="32466"/>
                      <a:pt x="192562" y="25003"/>
                      <a:pt x="183356" y="25003"/>
                    </a:cubicBezTo>
                    <a:close/>
                    <a:moveTo>
                      <a:pt x="100012" y="133350"/>
                    </a:moveTo>
                    <a:cubicBezTo>
                      <a:pt x="79299" y="133350"/>
                      <a:pt x="62508" y="116559"/>
                      <a:pt x="62508" y="95845"/>
                    </a:cubicBezTo>
                    <a:cubicBezTo>
                      <a:pt x="62508" y="75132"/>
                      <a:pt x="79299" y="58341"/>
                      <a:pt x="100012" y="58341"/>
                    </a:cubicBezTo>
                    <a:cubicBezTo>
                      <a:pt x="120726" y="58341"/>
                      <a:pt x="137517" y="75132"/>
                      <a:pt x="137517" y="95845"/>
                    </a:cubicBezTo>
                    <a:cubicBezTo>
                      <a:pt x="137517" y="116559"/>
                      <a:pt x="120726" y="133350"/>
                      <a:pt x="100012" y="133350"/>
                    </a:cubicBezTo>
                    <a:close/>
                  </a:path>
                </a:pathLst>
              </a:custGeom>
              <a:solidFill>
                <a:schemeClr val="accent2">
                  <a:alpha val="20000"/>
                </a:schemeClr>
              </a:solidFill>
              <a:ln>
                <a:noFill/>
              </a:ln>
            </p:spPr>
          </p:sp>
          <p:sp>
            <p:nvSpPr>
              <p:cNvPr id="13" name="Freeform 13"/>
              <p:cNvSpPr/>
              <p:nvPr/>
            </p:nvSpPr>
            <p:spPr>
              <a:xfrm>
                <a:off x="596503" y="1947862"/>
                <a:ext cx="216694" cy="191691"/>
              </a:xfrm>
              <a:custGeom>
                <a:avLst/>
                <a:gdLst/>
                <a:ahLst/>
                <a:cxnLst/>
                <a:rect l="l" t="t" r="r" b="b"/>
                <a:pathLst>
                  <a:path w="216694" h="191691">
                    <a:moveTo>
                      <a:pt x="191691" y="25003"/>
                    </a:moveTo>
                    <a:lnTo>
                      <a:pt x="162812" y="25003"/>
                    </a:lnTo>
                    <a:lnTo>
                      <a:pt x="148612" y="3709"/>
                    </a:lnTo>
                    <a:cubicBezTo>
                      <a:pt x="147067" y="1393"/>
                      <a:pt x="144468" y="2"/>
                      <a:pt x="141684" y="0"/>
                    </a:cubicBezTo>
                    <a:lnTo>
                      <a:pt x="75009" y="0"/>
                    </a:lnTo>
                    <a:cubicBezTo>
                      <a:pt x="72226" y="2"/>
                      <a:pt x="69626" y="1393"/>
                      <a:pt x="68081" y="3709"/>
                    </a:cubicBezTo>
                    <a:lnTo>
                      <a:pt x="53871" y="25003"/>
                    </a:lnTo>
                    <a:lnTo>
                      <a:pt x="25003" y="25003"/>
                    </a:lnTo>
                    <a:cubicBezTo>
                      <a:pt x="11194" y="25003"/>
                      <a:pt x="0" y="36197"/>
                      <a:pt x="0" y="50006"/>
                    </a:cubicBezTo>
                    <a:lnTo>
                      <a:pt x="0" y="166688"/>
                    </a:lnTo>
                    <a:cubicBezTo>
                      <a:pt x="0" y="180496"/>
                      <a:pt x="11194" y="191691"/>
                      <a:pt x="25003" y="191691"/>
                    </a:cubicBezTo>
                    <a:lnTo>
                      <a:pt x="191691" y="191691"/>
                    </a:lnTo>
                    <a:cubicBezTo>
                      <a:pt x="205499" y="191691"/>
                      <a:pt x="216694" y="180496"/>
                      <a:pt x="216694" y="166688"/>
                    </a:cubicBezTo>
                    <a:lnTo>
                      <a:pt x="216694" y="50006"/>
                    </a:lnTo>
                    <a:cubicBezTo>
                      <a:pt x="216694" y="36197"/>
                      <a:pt x="205499" y="25003"/>
                      <a:pt x="191691" y="25003"/>
                    </a:cubicBezTo>
                    <a:close/>
                    <a:moveTo>
                      <a:pt x="200025" y="166688"/>
                    </a:moveTo>
                    <a:cubicBezTo>
                      <a:pt x="200025" y="171290"/>
                      <a:pt x="196294" y="175022"/>
                      <a:pt x="191691" y="175022"/>
                    </a:cubicBezTo>
                    <a:lnTo>
                      <a:pt x="25003" y="175022"/>
                    </a:lnTo>
                    <a:cubicBezTo>
                      <a:pt x="20400" y="175022"/>
                      <a:pt x="16669" y="171290"/>
                      <a:pt x="16669" y="166688"/>
                    </a:cubicBezTo>
                    <a:lnTo>
                      <a:pt x="16669" y="50006"/>
                    </a:lnTo>
                    <a:cubicBezTo>
                      <a:pt x="16669" y="45403"/>
                      <a:pt x="20400" y="41672"/>
                      <a:pt x="25003" y="41672"/>
                    </a:cubicBezTo>
                    <a:lnTo>
                      <a:pt x="58341" y="41672"/>
                    </a:lnTo>
                    <a:cubicBezTo>
                      <a:pt x="61128" y="41674"/>
                      <a:pt x="63732" y="40282"/>
                      <a:pt x="65279" y="37963"/>
                    </a:cubicBezTo>
                    <a:lnTo>
                      <a:pt x="79468" y="16669"/>
                    </a:lnTo>
                    <a:lnTo>
                      <a:pt x="137215" y="16669"/>
                    </a:lnTo>
                    <a:lnTo>
                      <a:pt x="151415" y="37963"/>
                    </a:lnTo>
                    <a:cubicBezTo>
                      <a:pt x="152962" y="40282"/>
                      <a:pt x="155566" y="41674"/>
                      <a:pt x="158353" y="41672"/>
                    </a:cubicBezTo>
                    <a:lnTo>
                      <a:pt x="191691" y="41672"/>
                    </a:lnTo>
                    <a:cubicBezTo>
                      <a:pt x="196294" y="41672"/>
                      <a:pt x="200025" y="45403"/>
                      <a:pt x="200025" y="50006"/>
                    </a:cubicBezTo>
                    <a:close/>
                    <a:moveTo>
                      <a:pt x="108347" y="58341"/>
                    </a:moveTo>
                    <a:cubicBezTo>
                      <a:pt x="83031" y="58341"/>
                      <a:pt x="62508" y="78863"/>
                      <a:pt x="62508" y="104180"/>
                    </a:cubicBezTo>
                    <a:cubicBezTo>
                      <a:pt x="62508" y="129496"/>
                      <a:pt x="83031" y="150019"/>
                      <a:pt x="108347" y="150019"/>
                    </a:cubicBezTo>
                    <a:cubicBezTo>
                      <a:pt x="133663" y="150019"/>
                      <a:pt x="154186" y="129496"/>
                      <a:pt x="154186" y="104180"/>
                    </a:cubicBezTo>
                    <a:cubicBezTo>
                      <a:pt x="154157" y="78875"/>
                      <a:pt x="133651" y="58369"/>
                      <a:pt x="108347" y="58341"/>
                    </a:cubicBezTo>
                    <a:close/>
                    <a:moveTo>
                      <a:pt x="108347" y="133350"/>
                    </a:moveTo>
                    <a:cubicBezTo>
                      <a:pt x="92237" y="133350"/>
                      <a:pt x="79177" y="120290"/>
                      <a:pt x="79177" y="104180"/>
                    </a:cubicBezTo>
                    <a:cubicBezTo>
                      <a:pt x="79177" y="88069"/>
                      <a:pt x="92237" y="75009"/>
                      <a:pt x="108347" y="75009"/>
                    </a:cubicBezTo>
                    <a:cubicBezTo>
                      <a:pt x="124457" y="75009"/>
                      <a:pt x="137517" y="88069"/>
                      <a:pt x="137517" y="104180"/>
                    </a:cubicBezTo>
                    <a:cubicBezTo>
                      <a:pt x="137517" y="120290"/>
                      <a:pt x="124457" y="133350"/>
                      <a:pt x="108347" y="133350"/>
                    </a:cubicBezTo>
                    <a:close/>
                  </a:path>
                </a:pathLst>
              </a:custGeom>
              <a:solidFill>
                <a:schemeClr val="accent2"/>
              </a:solidFill>
              <a:ln>
                <a:noFill/>
              </a:ln>
            </p:spPr>
          </p:sp>
        </p:grpSp>
        <p:sp>
          <p:nvSpPr>
            <p:cNvPr id="15" name="TextBox 15"/>
            <p:cNvSpPr txBox="1"/>
            <p:nvPr/>
          </p:nvSpPr>
          <p:spPr>
            <a:xfrm>
              <a:off x="907542" y="1864042"/>
              <a:ext cx="678428" cy="492633"/>
            </a:xfrm>
            <a:prstGeom prst="rect">
              <a:avLst/>
            </a:prstGeom>
            <a:noFill/>
            <a:ln>
              <a:noFill/>
            </a:ln>
          </p:spPr>
          <p:txBody>
            <a:bodyPr wrap="none" lIns="0" tIns="0" rIns="0" bIns="0" anchor="t" anchorCtr="0">
              <a:spAutoFit/>
            </a:bodyPr>
            <a:lstStyle/>
            <a:p>
              <a:pPr algn="l">
                <a:lnSpc>
                  <a:spcPts val="1800"/>
                </a:lnSpc>
              </a:pPr>
              <a:r>
                <a:rPr lang="vi-VN" sz="1350" dirty="0">
                  <a:solidFill>
                    <a:schemeClr val="dk1"/>
                  </a:solidFill>
                  <a:latin typeface="+mn-lt"/>
                  <a:ea typeface="+mn-ea"/>
                  <a:cs typeface="+mn-cs"/>
                </a:rPr>
                <a:t>Webcam</a:t>
              </a:r>
              <a:br>
                <a:rPr lang="vi-VN" sz="1350" dirty="0">
                  <a:solidFill>
                    <a:schemeClr val="dk1"/>
                  </a:solidFill>
                  <a:latin typeface="+mn-lt"/>
                  <a:ea typeface="+mn-ea"/>
                  <a:cs typeface="+mn-cs"/>
                </a:rPr>
              </a:br>
              <a:r>
                <a:rPr lang="vi-VN" sz="1350" dirty="0">
                  <a:solidFill>
                    <a:schemeClr val="accent5"/>
                  </a:solidFill>
                  <a:latin typeface="+mn-lt"/>
                  <a:ea typeface="+mn-ea"/>
                  <a:cs typeface="+mn-cs"/>
                </a:rPr>
                <a:t>C270</a:t>
              </a:r>
              <a:endParaRPr lang="vi-VN" sz="1350" dirty="0">
                <a:solidFill>
                  <a:schemeClr val="accent5"/>
                </a:solidFill>
                <a:latin typeface="+mn-lt"/>
                <a:ea typeface="+mn-ea"/>
                <a:cs typeface="+mn-cs"/>
              </a:endParaRPr>
            </a:p>
          </p:txBody>
        </p:sp>
      </p:grpSp>
      <p:grpSp>
        <p:nvGrpSpPr>
          <p:cNvPr id="22" name="hw-speaker"/>
          <p:cNvGrpSpPr/>
          <p:nvPr/>
        </p:nvGrpSpPr>
        <p:grpSpPr>
          <a:xfrm>
            <a:off x="476250" y="2571750"/>
            <a:ext cx="1390650" cy="666750"/>
            <a:chOff x="476250" y="2571750"/>
            <a:chExt cx="1390650" cy="666750"/>
          </a:xfrm>
        </p:grpSpPr>
        <p:sp>
          <p:nvSpPr>
            <p:cNvPr id="17" name="Rectangle 17"/>
            <p:cNvSpPr/>
            <p:nvPr/>
          </p:nvSpPr>
          <p:spPr>
            <a:xfrm>
              <a:off x="476250" y="2571750"/>
              <a:ext cx="1390650" cy="666750"/>
            </a:xfrm>
            <a:prstGeom prst="roundRect">
              <a:avLst>
                <a:gd name="adj" fmla="val 17143"/>
              </a:avLst>
            </a:prstGeom>
            <a:solidFill>
              <a:schemeClr val="lt2"/>
            </a:solidFill>
            <a:ln w="14288">
              <a:solidFill>
                <a:schemeClr val="accent6"/>
              </a:solidFill>
            </a:ln>
          </p:spPr>
        </p:sp>
        <p:grpSp>
          <p:nvGrpSpPr>
            <p:cNvPr id="20" name="Group 20"/>
            <p:cNvGrpSpPr/>
            <p:nvPr/>
          </p:nvGrpSpPr>
          <p:grpSpPr>
            <a:xfrm>
              <a:off x="588169" y="2796229"/>
              <a:ext cx="241713" cy="217788"/>
              <a:chOff x="588169" y="2796229"/>
              <a:chExt cx="241713" cy="217788"/>
            </a:xfrm>
          </p:grpSpPr>
          <p:sp>
            <p:nvSpPr>
              <p:cNvPr id="18" name="Freeform 18"/>
              <p:cNvSpPr/>
              <p:nvPr/>
            </p:nvSpPr>
            <p:spPr>
              <a:xfrm>
                <a:off x="596503" y="2863453"/>
                <a:ext cx="58341" cy="83344"/>
              </a:xfrm>
              <a:custGeom>
                <a:avLst/>
                <a:gdLst/>
                <a:ahLst/>
                <a:cxnLst/>
                <a:rect l="l" t="t" r="r" b="b"/>
                <a:pathLst>
                  <a:path w="58341" h="83344">
                    <a:moveTo>
                      <a:pt x="58341" y="0"/>
                    </a:moveTo>
                    <a:lnTo>
                      <a:pt x="58341" y="83344"/>
                    </a:lnTo>
                    <a:lnTo>
                      <a:pt x="8334" y="83344"/>
                    </a:lnTo>
                    <a:cubicBezTo>
                      <a:pt x="3731" y="83344"/>
                      <a:pt x="0" y="79612"/>
                      <a:pt x="0" y="75009"/>
                    </a:cubicBezTo>
                    <a:lnTo>
                      <a:pt x="0" y="8334"/>
                    </a:lnTo>
                    <a:cubicBezTo>
                      <a:pt x="0" y="3731"/>
                      <a:pt x="3731" y="0"/>
                      <a:pt x="8334" y="0"/>
                    </a:cubicBezTo>
                    <a:close/>
                  </a:path>
                </a:pathLst>
              </a:custGeom>
              <a:solidFill>
                <a:schemeClr val="accent2">
                  <a:alpha val="20000"/>
                </a:schemeClr>
              </a:solidFill>
              <a:ln>
                <a:noFill/>
              </a:ln>
            </p:spPr>
          </p:sp>
          <p:sp>
            <p:nvSpPr>
              <p:cNvPr id="19" name="Freeform 19"/>
              <p:cNvSpPr/>
              <p:nvPr/>
            </p:nvSpPr>
            <p:spPr>
              <a:xfrm>
                <a:off x="588169" y="2796229"/>
                <a:ext cx="241713" cy="217788"/>
              </a:xfrm>
              <a:custGeom>
                <a:avLst/>
                <a:gdLst/>
                <a:ahLst/>
                <a:cxnLst/>
                <a:rect l="l" t="t" r="r" b="b"/>
                <a:pathLst>
                  <a:path w="241713" h="217788">
                    <a:moveTo>
                      <a:pt x="145341" y="1393"/>
                    </a:moveTo>
                    <a:cubicBezTo>
                      <a:pt x="142482" y="0"/>
                      <a:pt x="139079" y="356"/>
                      <a:pt x="136569" y="2310"/>
                    </a:cubicBezTo>
                    <a:lnTo>
                      <a:pt x="63810" y="58890"/>
                    </a:lnTo>
                    <a:lnTo>
                      <a:pt x="16669" y="58890"/>
                    </a:lnTo>
                    <a:cubicBezTo>
                      <a:pt x="7463" y="58890"/>
                      <a:pt x="0" y="66353"/>
                      <a:pt x="0" y="75559"/>
                    </a:cubicBezTo>
                    <a:lnTo>
                      <a:pt x="0" y="142234"/>
                    </a:lnTo>
                    <a:cubicBezTo>
                      <a:pt x="0" y="151440"/>
                      <a:pt x="7463" y="158903"/>
                      <a:pt x="16669" y="158903"/>
                    </a:cubicBezTo>
                    <a:lnTo>
                      <a:pt x="63810" y="158903"/>
                    </a:lnTo>
                    <a:lnTo>
                      <a:pt x="136569" y="215483"/>
                    </a:lnTo>
                    <a:cubicBezTo>
                      <a:pt x="139081" y="217435"/>
                      <a:pt x="142486" y="217788"/>
                      <a:pt x="145344" y="216390"/>
                    </a:cubicBezTo>
                    <a:cubicBezTo>
                      <a:pt x="148203" y="214993"/>
                      <a:pt x="150016" y="212091"/>
                      <a:pt x="150019" y="208909"/>
                    </a:cubicBezTo>
                    <a:lnTo>
                      <a:pt x="150019" y="8884"/>
                    </a:lnTo>
                    <a:cubicBezTo>
                      <a:pt x="150019" y="5698"/>
                      <a:pt x="148204" y="2791"/>
                      <a:pt x="145341" y="1393"/>
                    </a:cubicBezTo>
                    <a:close/>
                    <a:moveTo>
                      <a:pt x="16669" y="75559"/>
                    </a:moveTo>
                    <a:lnTo>
                      <a:pt x="58341" y="75559"/>
                    </a:lnTo>
                    <a:lnTo>
                      <a:pt x="58341" y="142234"/>
                    </a:lnTo>
                    <a:lnTo>
                      <a:pt x="16669" y="142234"/>
                    </a:lnTo>
                    <a:close/>
                    <a:moveTo>
                      <a:pt x="133350" y="191865"/>
                    </a:moveTo>
                    <a:lnTo>
                      <a:pt x="75009" y="146495"/>
                    </a:lnTo>
                    <a:lnTo>
                      <a:pt x="75009" y="71298"/>
                    </a:lnTo>
                    <a:lnTo>
                      <a:pt x="133350" y="25928"/>
                    </a:lnTo>
                    <a:close/>
                    <a:moveTo>
                      <a:pt x="189607" y="81351"/>
                    </a:moveTo>
                    <a:cubicBezTo>
                      <a:pt x="203476" y="97096"/>
                      <a:pt x="203476" y="120697"/>
                      <a:pt x="189607" y="136441"/>
                    </a:cubicBezTo>
                    <a:cubicBezTo>
                      <a:pt x="186543" y="139808"/>
                      <a:pt x="181346" y="140094"/>
                      <a:pt x="177931" y="137083"/>
                    </a:cubicBezTo>
                    <a:cubicBezTo>
                      <a:pt x="174517" y="134073"/>
                      <a:pt x="174149" y="128880"/>
                      <a:pt x="177105" y="125419"/>
                    </a:cubicBezTo>
                    <a:cubicBezTo>
                      <a:pt x="185422" y="115974"/>
                      <a:pt x="185422" y="101819"/>
                      <a:pt x="177105" y="92373"/>
                    </a:cubicBezTo>
                    <a:cubicBezTo>
                      <a:pt x="174149" y="88912"/>
                      <a:pt x="174517" y="83720"/>
                      <a:pt x="177931" y="80709"/>
                    </a:cubicBezTo>
                    <a:cubicBezTo>
                      <a:pt x="181346" y="77699"/>
                      <a:pt x="186543" y="77985"/>
                      <a:pt x="189607" y="81351"/>
                    </a:cubicBezTo>
                    <a:close/>
                    <a:moveTo>
                      <a:pt x="241697" y="108896"/>
                    </a:moveTo>
                    <a:cubicBezTo>
                      <a:pt x="241709" y="129401"/>
                      <a:pt x="234152" y="149189"/>
                      <a:pt x="220475" y="164466"/>
                    </a:cubicBezTo>
                    <a:cubicBezTo>
                      <a:pt x="217386" y="167808"/>
                      <a:pt x="212187" y="168054"/>
                      <a:pt x="208796" y="165019"/>
                    </a:cubicBezTo>
                    <a:cubicBezTo>
                      <a:pt x="205405" y="161983"/>
                      <a:pt x="205076" y="156789"/>
                      <a:pt x="208057" y="153350"/>
                    </a:cubicBezTo>
                    <a:cubicBezTo>
                      <a:pt x="230693" y="128040"/>
                      <a:pt x="230693" y="89763"/>
                      <a:pt x="208057" y="64453"/>
                    </a:cubicBezTo>
                    <a:cubicBezTo>
                      <a:pt x="206015" y="62243"/>
                      <a:pt x="205322" y="59104"/>
                      <a:pt x="206245" y="56240"/>
                    </a:cubicBezTo>
                    <a:cubicBezTo>
                      <a:pt x="207168" y="53376"/>
                      <a:pt x="209564" y="51232"/>
                      <a:pt x="212512" y="50630"/>
                    </a:cubicBezTo>
                    <a:cubicBezTo>
                      <a:pt x="215461" y="50029"/>
                      <a:pt x="218504" y="51064"/>
                      <a:pt x="220475" y="53337"/>
                    </a:cubicBezTo>
                    <a:cubicBezTo>
                      <a:pt x="234156" y="68608"/>
                      <a:pt x="241713" y="88394"/>
                      <a:pt x="241697" y="108896"/>
                    </a:cubicBezTo>
                    <a:close/>
                  </a:path>
                </a:pathLst>
              </a:custGeom>
              <a:solidFill>
                <a:schemeClr val="accent2"/>
              </a:solidFill>
              <a:ln>
                <a:noFill/>
              </a:ln>
            </p:spPr>
          </p:sp>
        </p:grpSp>
        <p:sp>
          <p:nvSpPr>
            <p:cNvPr id="21" name="TextBox 21"/>
            <p:cNvSpPr txBox="1"/>
            <p:nvPr/>
          </p:nvSpPr>
          <p:spPr>
            <a:xfrm>
              <a:off x="907542" y="2721292"/>
              <a:ext cx="754363" cy="492633"/>
            </a:xfrm>
            <a:prstGeom prst="rect">
              <a:avLst/>
            </a:prstGeom>
            <a:noFill/>
            <a:ln>
              <a:noFill/>
            </a:ln>
          </p:spPr>
          <p:txBody>
            <a:bodyPr wrap="none" lIns="0" tIns="0" rIns="0" bIns="0" anchor="t" anchorCtr="0">
              <a:spAutoFit/>
            </a:bodyPr>
            <a:lstStyle/>
            <a:p>
              <a:pPr algn="l">
                <a:lnSpc>
                  <a:spcPts val="1800"/>
                </a:lnSpc>
              </a:pPr>
              <a:r>
                <a:rPr lang="vi-VN" sz="1350" dirty="0">
                  <a:solidFill>
                    <a:schemeClr val="dk1"/>
                  </a:solidFill>
                  <a:latin typeface="+mn-lt"/>
                  <a:ea typeface="+mn-ea"/>
                  <a:cs typeface="+mn-cs"/>
                </a:rPr>
                <a:t>Loa</a:t>
              </a:r>
              <a:br>
                <a:rPr lang="vi-VN" sz="1350" dirty="0">
                  <a:solidFill>
                    <a:schemeClr val="dk1"/>
                  </a:solidFill>
                  <a:latin typeface="+mn-lt"/>
                  <a:ea typeface="+mn-ea"/>
                  <a:cs typeface="+mn-cs"/>
                </a:rPr>
              </a:br>
              <a:r>
                <a:rPr lang="vi-VN" sz="1350" dirty="0">
                  <a:solidFill>
                    <a:schemeClr val="accent5"/>
                  </a:solidFill>
                  <a:latin typeface="+mn-lt"/>
                  <a:ea typeface="+mn-ea"/>
                  <a:cs typeface="+mn-cs"/>
                </a:rPr>
                <a:t>Bluetooth</a:t>
              </a:r>
              <a:endParaRPr lang="vi-VN" sz="1350" dirty="0">
                <a:solidFill>
                  <a:schemeClr val="accent5"/>
                </a:solidFill>
                <a:latin typeface="+mn-lt"/>
                <a:ea typeface="+mn-ea"/>
                <a:cs typeface="+mn-cs"/>
              </a:endParaRPr>
            </a:p>
          </p:txBody>
        </p:sp>
      </p:grpSp>
      <p:grpSp>
        <p:nvGrpSpPr>
          <p:cNvPr id="77" name="pi-system"/>
          <p:cNvGrpSpPr/>
          <p:nvPr/>
        </p:nvGrpSpPr>
        <p:grpSpPr>
          <a:xfrm>
            <a:off x="1905000" y="1428750"/>
            <a:ext cx="9677400" cy="3695700"/>
            <a:chOff x="1905000" y="1428750"/>
            <a:chExt cx="9677400" cy="3695700"/>
          </a:xfrm>
        </p:grpSpPr>
        <p:sp>
          <p:nvSpPr>
            <p:cNvPr id="23" name="Rectangle 23"/>
            <p:cNvSpPr/>
            <p:nvPr/>
          </p:nvSpPr>
          <p:spPr>
            <a:xfrm>
              <a:off x="2038350" y="1428750"/>
              <a:ext cx="9544050" cy="3695700"/>
            </a:xfrm>
            <a:prstGeom prst="roundRect">
              <a:avLst>
                <a:gd name="adj" fmla="val 4124"/>
              </a:avLst>
            </a:prstGeom>
            <a:noFill/>
            <a:ln w="14288">
              <a:solidFill>
                <a:schemeClr val="accent1">
                  <a:alpha val="55000"/>
                </a:schemeClr>
              </a:solidFill>
              <a:prstDash val="lgDash"/>
            </a:ln>
          </p:spPr>
        </p:sp>
        <p:sp>
          <p:nvSpPr>
            <p:cNvPr id="24" name="TextBox 24"/>
            <p:cNvSpPr txBox="1"/>
            <p:nvPr/>
          </p:nvSpPr>
          <p:spPr>
            <a:xfrm>
              <a:off x="2260854" y="1546860"/>
              <a:ext cx="132649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RASPBERRY PI 5</a:t>
              </a:r>
              <a:endParaRPr lang="vi-VN" sz="1200" dirty="0">
                <a:solidFill>
                  <a:schemeClr val="accent1"/>
                </a:solidFill>
                <a:latin typeface="Consolas" panose="020B0609020204030204"/>
                <a:ea typeface="Consolas" panose="020B0609020204030204"/>
                <a:cs typeface="Consolas" panose="020B0609020204030204"/>
              </a:endParaRPr>
            </a:p>
          </p:txBody>
        </p:sp>
        <p:grpSp>
          <p:nvGrpSpPr>
            <p:cNvPr id="33" name="pi-links"/>
            <p:cNvGrpSpPr/>
            <p:nvPr/>
          </p:nvGrpSpPr>
          <p:grpSpPr>
            <a:xfrm>
              <a:off x="1905000" y="2047875"/>
              <a:ext cx="6686550" cy="3076575"/>
              <a:chOff x="1905000" y="2047875"/>
              <a:chExt cx="6686550" cy="3076575"/>
            </a:xfrm>
          </p:grpSpPr>
          <p:sp>
            <p:nvSpPr>
              <p:cNvPr id="25" name="Line 25"/>
              <p:cNvSpPr/>
              <p:nvPr/>
            </p:nvSpPr>
            <p:spPr>
              <a:xfrm>
                <a:off x="1905000" y="2047875"/>
                <a:ext cx="400050" cy="1"/>
              </a:xfrm>
              <a:prstGeom prst="line">
                <a:avLst/>
              </a:prstGeom>
              <a:noFill/>
              <a:ln w="19050">
                <a:solidFill>
                  <a:schemeClr val="accent1"/>
                </a:solidFill>
                <a:tailEnd type="triangle" w="lg" len="lg"/>
              </a:ln>
            </p:spPr>
          </p:sp>
          <p:sp>
            <p:nvSpPr>
              <p:cNvPr id="26" name="Line 26"/>
              <p:cNvSpPr/>
              <p:nvPr/>
            </p:nvSpPr>
            <p:spPr>
              <a:xfrm flipH="1">
                <a:off x="1924050" y="2905125"/>
                <a:ext cx="400050" cy="1"/>
              </a:xfrm>
              <a:prstGeom prst="line">
                <a:avLst/>
              </a:prstGeom>
              <a:noFill/>
              <a:ln w="19050">
                <a:solidFill>
                  <a:schemeClr val="accent1"/>
                </a:solidFill>
                <a:tailEnd type="triangle" w="lg" len="lg"/>
              </a:ln>
            </p:spPr>
          </p:sp>
          <p:sp>
            <p:nvSpPr>
              <p:cNvPr id="27" name="Line 27"/>
              <p:cNvSpPr/>
              <p:nvPr/>
            </p:nvSpPr>
            <p:spPr>
              <a:xfrm>
                <a:off x="4800600" y="2247900"/>
                <a:ext cx="647700" cy="1"/>
              </a:xfrm>
              <a:prstGeom prst="line">
                <a:avLst/>
              </a:prstGeom>
              <a:noFill/>
              <a:ln w="19050">
                <a:solidFill>
                  <a:schemeClr val="accent1"/>
                </a:solidFill>
                <a:tailEnd type="triangle" w="lg" len="lg"/>
              </a:ln>
            </p:spPr>
          </p:sp>
          <p:sp>
            <p:nvSpPr>
              <p:cNvPr id="28" name="Line 28"/>
              <p:cNvSpPr/>
              <p:nvPr/>
            </p:nvSpPr>
            <p:spPr>
              <a:xfrm flipH="1">
                <a:off x="4819650" y="2705100"/>
                <a:ext cx="647700" cy="1"/>
              </a:xfrm>
              <a:prstGeom prst="line">
                <a:avLst/>
              </a:prstGeom>
              <a:noFill/>
              <a:ln w="19050">
                <a:solidFill>
                  <a:schemeClr val="accent1"/>
                </a:solidFill>
                <a:tailEnd type="triangle" w="lg" len="lg"/>
              </a:ln>
            </p:spPr>
          </p:sp>
          <p:sp>
            <p:nvSpPr>
              <p:cNvPr id="29" name="Line 29"/>
              <p:cNvSpPr/>
              <p:nvPr/>
            </p:nvSpPr>
            <p:spPr>
              <a:xfrm>
                <a:off x="7943850" y="2476500"/>
                <a:ext cx="647700" cy="1"/>
              </a:xfrm>
              <a:prstGeom prst="line">
                <a:avLst/>
              </a:prstGeom>
              <a:noFill/>
              <a:ln w="19050">
                <a:solidFill>
                  <a:schemeClr val="accent1"/>
                </a:solidFill>
                <a:tailEnd type="triangle" w="lg" len="lg"/>
              </a:ln>
            </p:spPr>
          </p:sp>
          <p:sp>
            <p:nvSpPr>
              <p:cNvPr id="30" name="Line 30"/>
              <p:cNvSpPr/>
              <p:nvPr/>
            </p:nvSpPr>
            <p:spPr>
              <a:xfrm>
                <a:off x="6705600" y="3162300"/>
                <a:ext cx="1" cy="628650"/>
              </a:xfrm>
              <a:prstGeom prst="line">
                <a:avLst/>
              </a:prstGeom>
              <a:noFill/>
              <a:ln w="19050">
                <a:solidFill>
                  <a:schemeClr val="accent1"/>
                </a:solidFill>
                <a:headEnd type="triangle" w="lg" len="lg"/>
                <a:tailEnd type="triangle" w="lg" len="lg"/>
              </a:ln>
            </p:spPr>
          </p:sp>
          <p:sp>
            <p:nvSpPr>
              <p:cNvPr id="31" name="Line 31"/>
              <p:cNvSpPr/>
              <p:nvPr/>
            </p:nvSpPr>
            <p:spPr>
              <a:xfrm>
                <a:off x="3562350" y="3162300"/>
                <a:ext cx="1" cy="628650"/>
              </a:xfrm>
              <a:prstGeom prst="line">
                <a:avLst/>
              </a:prstGeom>
              <a:noFill/>
              <a:ln w="19050">
                <a:solidFill>
                  <a:schemeClr val="accent1"/>
                </a:solidFill>
                <a:tailEnd type="triangle" w="lg" len="lg"/>
              </a:ln>
            </p:spPr>
          </p:sp>
          <p:sp>
            <p:nvSpPr>
              <p:cNvPr id="32" name="Line 32"/>
              <p:cNvSpPr/>
              <p:nvPr/>
            </p:nvSpPr>
            <p:spPr>
              <a:xfrm>
                <a:off x="3562350" y="4800600"/>
                <a:ext cx="9525" cy="323850"/>
              </a:xfrm>
              <a:custGeom>
                <a:avLst/>
                <a:gdLst/>
                <a:ahLst/>
                <a:cxnLst/>
                <a:rect l="l" t="t" r="r" b="b"/>
                <a:pathLst>
                  <a:path w="9525" h="323850">
                    <a:moveTo>
                      <a:pt x="0" y="0"/>
                    </a:moveTo>
                    <a:lnTo>
                      <a:pt x="0" y="323850"/>
                    </a:lnTo>
                  </a:path>
                </a:pathLst>
              </a:custGeom>
              <a:noFill/>
              <a:ln w="19050">
                <a:solidFill>
                  <a:schemeClr val="accent1"/>
                </a:solidFill>
              </a:ln>
            </p:spPr>
          </p:sp>
        </p:grpSp>
        <p:sp>
          <p:nvSpPr>
            <p:cNvPr id="34" name="TextBox 34"/>
            <p:cNvSpPr txBox="1"/>
            <p:nvPr/>
          </p:nvSpPr>
          <p:spPr>
            <a:xfrm>
              <a:off x="4994605" y="2804160"/>
              <a:ext cx="278740" cy="234696"/>
            </a:xfrm>
            <a:prstGeom prst="rect">
              <a:avLst/>
            </a:prstGeom>
            <a:noFill/>
            <a:ln>
              <a:noFill/>
            </a:ln>
          </p:spPr>
          <p:txBody>
            <a:bodyPr wrap="none" lIns="0" tIns="0" rIns="0" bIns="0" anchor="t" anchorCtr="0">
              <a:spAutoFit/>
            </a:bodyPr>
            <a:lstStyle/>
            <a:p>
              <a:pPr algn="ctr"/>
              <a:r>
                <a:rPr lang="vi-VN" sz="1200" dirty="0">
                  <a:solidFill>
                    <a:schemeClr val="accent5"/>
                  </a:solidFill>
                  <a:latin typeface="Consolas" panose="020B0609020204030204"/>
                  <a:ea typeface="Consolas" panose="020B0609020204030204"/>
                  <a:cs typeface="Consolas" panose="020B0609020204030204"/>
                </a:rPr>
                <a:t>mp3</a:t>
              </a:r>
              <a:endParaRPr lang="vi-VN" sz="1200" dirty="0">
                <a:solidFill>
                  <a:schemeClr val="accent5"/>
                </a:solidFill>
                <a:latin typeface="Consolas" panose="020B0609020204030204"/>
                <a:ea typeface="Consolas" panose="020B0609020204030204"/>
                <a:cs typeface="Consolas" panose="020B0609020204030204"/>
              </a:endParaRPr>
            </a:p>
          </p:txBody>
        </p:sp>
        <p:grpSp>
          <p:nvGrpSpPr>
            <p:cNvPr id="42" name="node-react"/>
            <p:cNvGrpSpPr/>
            <p:nvPr/>
          </p:nvGrpSpPr>
          <p:grpSpPr>
            <a:xfrm>
              <a:off x="2324100" y="1809750"/>
              <a:ext cx="2476500" cy="1333500"/>
              <a:chOff x="2324100" y="1809750"/>
              <a:chExt cx="2476500" cy="1333500"/>
            </a:xfrm>
          </p:grpSpPr>
          <p:sp>
            <p:nvSpPr>
              <p:cNvPr id="35" name="Rectangle 35"/>
              <p:cNvSpPr/>
              <p:nvPr/>
            </p:nvSpPr>
            <p:spPr>
              <a:xfrm>
                <a:off x="2324100" y="1809750"/>
                <a:ext cx="2476500" cy="1333500"/>
              </a:xfrm>
              <a:prstGeom prst="roundRect">
                <a:avLst>
                  <a:gd name="adj" fmla="val 8571"/>
                </a:avLst>
              </a:prstGeom>
              <a:solidFill>
                <a:schemeClr val="lt2"/>
              </a:solidFill>
              <a:ln w="14288">
                <a:solidFill>
                  <a:schemeClr val="accent6"/>
                </a:solidFill>
              </a:ln>
            </p:spPr>
          </p:sp>
          <p:grpSp>
            <p:nvGrpSpPr>
              <p:cNvPr id="38" name="Group 38"/>
              <p:cNvGrpSpPr/>
              <p:nvPr/>
            </p:nvGrpSpPr>
            <p:grpSpPr>
              <a:xfrm>
                <a:off x="2523851" y="2076450"/>
                <a:ext cx="286297" cy="190500"/>
                <a:chOff x="2523851" y="2076450"/>
                <a:chExt cx="286297" cy="190500"/>
              </a:xfrm>
            </p:grpSpPr>
            <p:sp>
              <p:nvSpPr>
                <p:cNvPr id="36" name="Freeform 36"/>
                <p:cNvSpPr/>
                <p:nvPr/>
              </p:nvSpPr>
              <p:spPr>
                <a:xfrm>
                  <a:off x="2533650" y="2085975"/>
                  <a:ext cx="266700" cy="171450"/>
                </a:xfrm>
                <a:custGeom>
                  <a:avLst/>
                  <a:gdLst/>
                  <a:ahLst/>
                  <a:cxnLst/>
                  <a:rect l="l" t="t" r="r" b="b"/>
                  <a:pathLst>
                    <a:path w="266700" h="171450">
                      <a:moveTo>
                        <a:pt x="133350" y="0"/>
                      </a:moveTo>
                      <a:cubicBezTo>
                        <a:pt x="38100" y="0"/>
                        <a:pt x="0" y="85725"/>
                        <a:pt x="0" y="85725"/>
                      </a:cubicBezTo>
                      <a:cubicBezTo>
                        <a:pt x="0" y="85725"/>
                        <a:pt x="38100" y="171450"/>
                        <a:pt x="133350" y="171450"/>
                      </a:cubicBezTo>
                      <a:cubicBezTo>
                        <a:pt x="228600" y="171450"/>
                        <a:pt x="266700" y="85725"/>
                        <a:pt x="266700" y="85725"/>
                      </a:cubicBezTo>
                      <a:cubicBezTo>
                        <a:pt x="266700" y="85725"/>
                        <a:pt x="228600" y="0"/>
                        <a:pt x="133350" y="0"/>
                      </a:cubicBezTo>
                      <a:close/>
                      <a:moveTo>
                        <a:pt x="133350" y="133350"/>
                      </a:moveTo>
                      <a:cubicBezTo>
                        <a:pt x="107047" y="133350"/>
                        <a:pt x="85725" y="112028"/>
                        <a:pt x="85725" y="85725"/>
                      </a:cubicBezTo>
                      <a:cubicBezTo>
                        <a:pt x="85725" y="59422"/>
                        <a:pt x="107047" y="38100"/>
                        <a:pt x="133350" y="38100"/>
                      </a:cubicBezTo>
                      <a:cubicBezTo>
                        <a:pt x="159653" y="38100"/>
                        <a:pt x="180975" y="59422"/>
                        <a:pt x="180975" y="85725"/>
                      </a:cubicBezTo>
                      <a:cubicBezTo>
                        <a:pt x="180975" y="112028"/>
                        <a:pt x="159653" y="133350"/>
                        <a:pt x="133350" y="133350"/>
                      </a:cubicBezTo>
                      <a:close/>
                    </a:path>
                  </a:pathLst>
                </a:custGeom>
                <a:solidFill>
                  <a:schemeClr val="accent1">
                    <a:alpha val="20000"/>
                  </a:schemeClr>
                </a:solidFill>
                <a:ln>
                  <a:noFill/>
                </a:ln>
              </p:spPr>
            </p:sp>
            <p:sp>
              <p:nvSpPr>
                <p:cNvPr id="37" name="Freeform 37"/>
                <p:cNvSpPr/>
                <p:nvPr/>
              </p:nvSpPr>
              <p:spPr>
                <a:xfrm>
                  <a:off x="2523851" y="2076450"/>
                  <a:ext cx="286297" cy="190500"/>
                </a:xfrm>
                <a:custGeom>
                  <a:avLst/>
                  <a:gdLst/>
                  <a:ahLst/>
                  <a:cxnLst/>
                  <a:rect l="l" t="t" r="r" b="b"/>
                  <a:pathLst>
                    <a:path w="286297" h="190500">
                      <a:moveTo>
                        <a:pt x="285202" y="91392"/>
                      </a:moveTo>
                      <a:cubicBezTo>
                        <a:pt x="284785" y="90452"/>
                        <a:pt x="274701" y="68080"/>
                        <a:pt x="252281" y="45660"/>
                      </a:cubicBezTo>
                      <a:cubicBezTo>
                        <a:pt x="222409" y="15788"/>
                        <a:pt x="184678" y="0"/>
                        <a:pt x="143149" y="0"/>
                      </a:cubicBezTo>
                      <a:cubicBezTo>
                        <a:pt x="101620" y="0"/>
                        <a:pt x="63889" y="15788"/>
                        <a:pt x="34016" y="45660"/>
                      </a:cubicBezTo>
                      <a:cubicBezTo>
                        <a:pt x="11597" y="68080"/>
                        <a:pt x="1464" y="90488"/>
                        <a:pt x="1095" y="91392"/>
                      </a:cubicBezTo>
                      <a:cubicBezTo>
                        <a:pt x="0" y="93856"/>
                        <a:pt x="0" y="96668"/>
                        <a:pt x="1095" y="99131"/>
                      </a:cubicBezTo>
                      <a:cubicBezTo>
                        <a:pt x="1512" y="100072"/>
                        <a:pt x="11597" y="122432"/>
                        <a:pt x="34016" y="144851"/>
                      </a:cubicBezTo>
                      <a:cubicBezTo>
                        <a:pt x="63889" y="174712"/>
                        <a:pt x="101620" y="190500"/>
                        <a:pt x="143149" y="190500"/>
                      </a:cubicBezTo>
                      <a:cubicBezTo>
                        <a:pt x="184678" y="190500"/>
                        <a:pt x="222409" y="174712"/>
                        <a:pt x="252281" y="144851"/>
                      </a:cubicBezTo>
                      <a:cubicBezTo>
                        <a:pt x="274701" y="122432"/>
                        <a:pt x="284785" y="100072"/>
                        <a:pt x="285202" y="99131"/>
                      </a:cubicBezTo>
                      <a:cubicBezTo>
                        <a:pt x="286297" y="96668"/>
                        <a:pt x="286297" y="93856"/>
                        <a:pt x="285202" y="91392"/>
                      </a:cubicBezTo>
                      <a:close/>
                      <a:moveTo>
                        <a:pt x="143149" y="171450"/>
                      </a:moveTo>
                      <a:cubicBezTo>
                        <a:pt x="106501" y="171450"/>
                        <a:pt x="74485" y="158127"/>
                        <a:pt x="47982" y="131862"/>
                      </a:cubicBezTo>
                      <a:cubicBezTo>
                        <a:pt x="37107" y="121047"/>
                        <a:pt x="27856" y="108715"/>
                        <a:pt x="20514" y="95250"/>
                      </a:cubicBezTo>
                      <a:cubicBezTo>
                        <a:pt x="27854" y="81783"/>
                        <a:pt x="37106" y="69451"/>
                        <a:pt x="47982" y="58638"/>
                      </a:cubicBezTo>
                      <a:cubicBezTo>
                        <a:pt x="74485" y="32373"/>
                        <a:pt x="106501" y="19050"/>
                        <a:pt x="143149" y="19050"/>
                      </a:cubicBezTo>
                      <a:cubicBezTo>
                        <a:pt x="179796" y="19050"/>
                        <a:pt x="211812" y="32373"/>
                        <a:pt x="238315" y="58638"/>
                      </a:cubicBezTo>
                      <a:cubicBezTo>
                        <a:pt x="249211" y="69449"/>
                        <a:pt x="258483" y="81781"/>
                        <a:pt x="265843" y="95250"/>
                      </a:cubicBezTo>
                      <a:cubicBezTo>
                        <a:pt x="257258" y="111276"/>
                        <a:pt x="219861" y="171450"/>
                        <a:pt x="143149" y="171450"/>
                      </a:cubicBezTo>
                      <a:close/>
                      <a:moveTo>
                        <a:pt x="143149" y="38100"/>
                      </a:moveTo>
                      <a:cubicBezTo>
                        <a:pt x="111586" y="38100"/>
                        <a:pt x="85999" y="63687"/>
                        <a:pt x="85999" y="95250"/>
                      </a:cubicBezTo>
                      <a:cubicBezTo>
                        <a:pt x="85999" y="126813"/>
                        <a:pt x="111586" y="152400"/>
                        <a:pt x="143149" y="152400"/>
                      </a:cubicBezTo>
                      <a:cubicBezTo>
                        <a:pt x="174712" y="152400"/>
                        <a:pt x="200299" y="126813"/>
                        <a:pt x="200299" y="95250"/>
                      </a:cubicBezTo>
                      <a:cubicBezTo>
                        <a:pt x="200266" y="63701"/>
                        <a:pt x="174698" y="38133"/>
                        <a:pt x="143149" y="38100"/>
                      </a:cubicBezTo>
                      <a:close/>
                      <a:moveTo>
                        <a:pt x="143149" y="133350"/>
                      </a:moveTo>
                      <a:cubicBezTo>
                        <a:pt x="122107" y="133350"/>
                        <a:pt x="105049" y="116292"/>
                        <a:pt x="105049" y="95250"/>
                      </a:cubicBezTo>
                      <a:cubicBezTo>
                        <a:pt x="105049" y="74208"/>
                        <a:pt x="122107" y="57150"/>
                        <a:pt x="143149" y="57150"/>
                      </a:cubicBezTo>
                      <a:cubicBezTo>
                        <a:pt x="164191" y="57150"/>
                        <a:pt x="181249" y="74208"/>
                        <a:pt x="181249" y="95250"/>
                      </a:cubicBezTo>
                      <a:cubicBezTo>
                        <a:pt x="181249" y="116292"/>
                        <a:pt x="164191" y="133350"/>
                        <a:pt x="143149" y="133350"/>
                      </a:cubicBezTo>
                      <a:close/>
                    </a:path>
                  </a:pathLst>
                </a:custGeom>
                <a:solidFill>
                  <a:schemeClr val="accent1"/>
                </a:solidFill>
                <a:ln>
                  <a:noFill/>
                </a:ln>
              </p:spPr>
            </p:sp>
          </p:grpSp>
          <p:sp>
            <p:nvSpPr>
              <p:cNvPr id="39" name="TextBox 39"/>
              <p:cNvSpPr txBox="1"/>
              <p:nvPr/>
            </p:nvSpPr>
            <p:spPr>
              <a:xfrm>
                <a:off x="2905506" y="2053590"/>
                <a:ext cx="1814014"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Giao diện React</a:t>
                </a:r>
                <a:endParaRPr lang="vi-VN" sz="1800" b="1" dirty="0">
                  <a:solidFill>
                    <a:schemeClr val="dk1"/>
                  </a:solidFill>
                  <a:latin typeface="+mn-lt"/>
                  <a:ea typeface="+mn-ea"/>
                  <a:cs typeface="+mn-cs"/>
                </a:endParaRPr>
              </a:p>
            </p:txBody>
          </p:sp>
          <p:sp>
            <p:nvSpPr>
              <p:cNvPr id="40" name="TextBox 40"/>
              <p:cNvSpPr txBox="1"/>
              <p:nvPr/>
            </p:nvSpPr>
            <p:spPr>
              <a:xfrm>
                <a:off x="2508504" y="2480310"/>
                <a:ext cx="456438"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:5173</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41" name="TextBox 41"/>
              <p:cNvSpPr txBox="1"/>
              <p:nvPr/>
            </p:nvSpPr>
            <p:spPr>
              <a:xfrm>
                <a:off x="2507742" y="2749868"/>
                <a:ext cx="1482169"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camera, phát nhạc</a:t>
                </a:r>
                <a:endParaRPr lang="vi-VN" sz="1350" dirty="0">
                  <a:solidFill>
                    <a:schemeClr val="accent5"/>
                  </a:solidFill>
                  <a:latin typeface="+mn-lt"/>
                  <a:ea typeface="+mn-ea"/>
                  <a:cs typeface="+mn-cs"/>
                </a:endParaRPr>
              </a:p>
            </p:txBody>
          </p:sp>
        </p:grpSp>
        <p:grpSp>
          <p:nvGrpSpPr>
            <p:cNvPr id="50" name="node-backend"/>
            <p:cNvGrpSpPr/>
            <p:nvPr/>
          </p:nvGrpSpPr>
          <p:grpSpPr>
            <a:xfrm>
              <a:off x="5467350" y="1809750"/>
              <a:ext cx="2510080" cy="1333500"/>
              <a:chOff x="5467350" y="1809750"/>
              <a:chExt cx="2510080" cy="1333500"/>
            </a:xfrm>
          </p:grpSpPr>
          <p:sp>
            <p:nvSpPr>
              <p:cNvPr id="43" name="Rectangle 43"/>
              <p:cNvSpPr/>
              <p:nvPr/>
            </p:nvSpPr>
            <p:spPr>
              <a:xfrm>
                <a:off x="5467350" y="1809750"/>
                <a:ext cx="2476500" cy="1333500"/>
              </a:xfrm>
              <a:prstGeom prst="roundRect">
                <a:avLst>
                  <a:gd name="adj" fmla="val 8571"/>
                </a:avLst>
              </a:prstGeom>
              <a:solidFill>
                <a:schemeClr val="lt2"/>
              </a:solidFill>
              <a:ln w="14288">
                <a:solidFill>
                  <a:schemeClr val="accent6"/>
                </a:solidFill>
              </a:ln>
            </p:spPr>
          </p:sp>
          <p:grpSp>
            <p:nvGrpSpPr>
              <p:cNvPr id="46" name="Group 46"/>
              <p:cNvGrpSpPr/>
              <p:nvPr/>
            </p:nvGrpSpPr>
            <p:grpSpPr>
              <a:xfrm>
                <a:off x="5695950" y="2057400"/>
                <a:ext cx="228600" cy="228600"/>
                <a:chOff x="5695950" y="2057400"/>
                <a:chExt cx="228600" cy="228600"/>
              </a:xfrm>
            </p:grpSpPr>
            <p:sp>
              <p:nvSpPr>
                <p:cNvPr id="44" name="Freeform 44"/>
                <p:cNvSpPr/>
                <p:nvPr/>
              </p:nvSpPr>
              <p:spPr>
                <a:xfrm>
                  <a:off x="5705475" y="2066925"/>
                  <a:ext cx="209550" cy="209550"/>
                </a:xfrm>
                <a:custGeom>
                  <a:avLst/>
                  <a:gdLst/>
                  <a:ahLst/>
                  <a:cxnLst/>
                  <a:rect l="l" t="t" r="r" b="b"/>
                  <a:pathLst>
                    <a:path w="209550" h="209550">
                      <a:moveTo>
                        <a:pt x="200025" y="0"/>
                      </a:moveTo>
                      <a:lnTo>
                        <a:pt x="9525" y="0"/>
                      </a:lnTo>
                      <a:cubicBezTo>
                        <a:pt x="4264" y="0"/>
                        <a:pt x="0" y="4264"/>
                        <a:pt x="0" y="9525"/>
                      </a:cubicBezTo>
                      <a:lnTo>
                        <a:pt x="0" y="200025"/>
                      </a:lnTo>
                      <a:cubicBezTo>
                        <a:pt x="0" y="205286"/>
                        <a:pt x="4264" y="209550"/>
                        <a:pt x="9525" y="209550"/>
                      </a:cubicBezTo>
                      <a:lnTo>
                        <a:pt x="200025" y="209550"/>
                      </a:lnTo>
                      <a:cubicBezTo>
                        <a:pt x="205286" y="209550"/>
                        <a:pt x="209550" y="205286"/>
                        <a:pt x="209550" y="200025"/>
                      </a:cubicBezTo>
                      <a:lnTo>
                        <a:pt x="209550" y="9525"/>
                      </a:lnTo>
                      <a:cubicBezTo>
                        <a:pt x="209550" y="4264"/>
                        <a:pt x="205286" y="0"/>
                        <a:pt x="200025" y="0"/>
                      </a:cubicBezTo>
                      <a:close/>
                      <a:moveTo>
                        <a:pt x="57150" y="171450"/>
                      </a:moveTo>
                      <a:cubicBezTo>
                        <a:pt x="46629" y="171450"/>
                        <a:pt x="38100" y="162921"/>
                        <a:pt x="38100" y="152400"/>
                      </a:cubicBezTo>
                      <a:cubicBezTo>
                        <a:pt x="38100" y="141879"/>
                        <a:pt x="46629" y="133350"/>
                        <a:pt x="57150" y="133350"/>
                      </a:cubicBezTo>
                      <a:cubicBezTo>
                        <a:pt x="67671" y="133350"/>
                        <a:pt x="76200" y="141879"/>
                        <a:pt x="76200" y="152400"/>
                      </a:cubicBezTo>
                      <a:cubicBezTo>
                        <a:pt x="76200" y="162921"/>
                        <a:pt x="67671" y="171450"/>
                        <a:pt x="57150" y="171450"/>
                      </a:cubicBezTo>
                      <a:close/>
                      <a:moveTo>
                        <a:pt x="152400" y="95250"/>
                      </a:moveTo>
                      <a:cubicBezTo>
                        <a:pt x="141879" y="95250"/>
                        <a:pt x="133350" y="86721"/>
                        <a:pt x="133350" y="76200"/>
                      </a:cubicBezTo>
                      <a:cubicBezTo>
                        <a:pt x="133350" y="65679"/>
                        <a:pt x="141879" y="57150"/>
                        <a:pt x="152400" y="57150"/>
                      </a:cubicBezTo>
                      <a:cubicBezTo>
                        <a:pt x="162921" y="57150"/>
                        <a:pt x="171450" y="65679"/>
                        <a:pt x="171450" y="76200"/>
                      </a:cubicBezTo>
                      <a:cubicBezTo>
                        <a:pt x="171450" y="86721"/>
                        <a:pt x="162921" y="95250"/>
                        <a:pt x="152400" y="95250"/>
                      </a:cubicBezTo>
                      <a:close/>
                    </a:path>
                  </a:pathLst>
                </a:custGeom>
                <a:solidFill>
                  <a:schemeClr val="accent1">
                    <a:alpha val="20000"/>
                  </a:schemeClr>
                </a:solidFill>
                <a:ln>
                  <a:noFill/>
                </a:ln>
              </p:spPr>
            </p:sp>
            <p:sp>
              <p:nvSpPr>
                <p:cNvPr id="45" name="Freeform 45"/>
                <p:cNvSpPr/>
                <p:nvPr/>
              </p:nvSpPr>
              <p:spPr>
                <a:xfrm>
                  <a:off x="5695950" y="2057400"/>
                  <a:ext cx="228600" cy="228600"/>
                </a:xfrm>
                <a:custGeom>
                  <a:avLst/>
                  <a:gdLst/>
                  <a:ahLst/>
                  <a:cxnLst/>
                  <a:rect l="l" t="t" r="r" b="b"/>
                  <a:pathLst>
                    <a:path w="228600" h="228600">
                      <a:moveTo>
                        <a:pt x="209550" y="0"/>
                      </a:moveTo>
                      <a:lnTo>
                        <a:pt x="19050" y="0"/>
                      </a:lnTo>
                      <a:cubicBezTo>
                        <a:pt x="8529" y="0"/>
                        <a:pt x="0" y="8529"/>
                        <a:pt x="0" y="19050"/>
                      </a:cubicBezTo>
                      <a:lnTo>
                        <a:pt x="0" y="209550"/>
                      </a:lnTo>
                      <a:cubicBezTo>
                        <a:pt x="0" y="220071"/>
                        <a:pt x="8529" y="228600"/>
                        <a:pt x="19050" y="228600"/>
                      </a:cubicBezTo>
                      <a:lnTo>
                        <a:pt x="209550" y="228600"/>
                      </a:lnTo>
                      <a:cubicBezTo>
                        <a:pt x="220071" y="228600"/>
                        <a:pt x="228600" y="220071"/>
                        <a:pt x="228600" y="209550"/>
                      </a:cubicBezTo>
                      <a:lnTo>
                        <a:pt x="228600" y="19050"/>
                      </a:lnTo>
                      <a:cubicBezTo>
                        <a:pt x="228600" y="8529"/>
                        <a:pt x="220071" y="0"/>
                        <a:pt x="209550" y="0"/>
                      </a:cubicBezTo>
                      <a:close/>
                      <a:moveTo>
                        <a:pt x="66675" y="152400"/>
                      </a:moveTo>
                      <a:cubicBezTo>
                        <a:pt x="71936" y="152400"/>
                        <a:pt x="76200" y="156664"/>
                        <a:pt x="76200" y="161925"/>
                      </a:cubicBezTo>
                      <a:cubicBezTo>
                        <a:pt x="76200" y="167186"/>
                        <a:pt x="71936" y="171450"/>
                        <a:pt x="66675" y="171450"/>
                      </a:cubicBezTo>
                      <a:cubicBezTo>
                        <a:pt x="61414" y="171450"/>
                        <a:pt x="57150" y="167186"/>
                        <a:pt x="57150" y="161925"/>
                      </a:cubicBezTo>
                      <a:cubicBezTo>
                        <a:pt x="57150" y="156664"/>
                        <a:pt x="61414" y="152400"/>
                        <a:pt x="66675" y="152400"/>
                      </a:cubicBezTo>
                      <a:close/>
                      <a:moveTo>
                        <a:pt x="19050" y="19050"/>
                      </a:moveTo>
                      <a:lnTo>
                        <a:pt x="57150" y="19050"/>
                      </a:lnTo>
                      <a:lnTo>
                        <a:pt x="57150" y="134993"/>
                      </a:lnTo>
                      <a:cubicBezTo>
                        <a:pt x="44029" y="139632"/>
                        <a:pt x="36158" y="153049"/>
                        <a:pt x="38512" y="166766"/>
                      </a:cubicBezTo>
                      <a:cubicBezTo>
                        <a:pt x="40865" y="180483"/>
                        <a:pt x="52758" y="190509"/>
                        <a:pt x="66675" y="190509"/>
                      </a:cubicBezTo>
                      <a:cubicBezTo>
                        <a:pt x="80592" y="190509"/>
                        <a:pt x="92485" y="180483"/>
                        <a:pt x="94838" y="166766"/>
                      </a:cubicBezTo>
                      <a:cubicBezTo>
                        <a:pt x="97192" y="153049"/>
                        <a:pt x="89321" y="139632"/>
                        <a:pt x="76200" y="134993"/>
                      </a:cubicBezTo>
                      <a:lnTo>
                        <a:pt x="76200" y="99191"/>
                      </a:lnTo>
                      <a:lnTo>
                        <a:pt x="133350" y="156341"/>
                      </a:lnTo>
                      <a:lnTo>
                        <a:pt x="133350" y="209550"/>
                      </a:lnTo>
                      <a:lnTo>
                        <a:pt x="19050" y="209550"/>
                      </a:lnTo>
                      <a:close/>
                      <a:moveTo>
                        <a:pt x="209550" y="209550"/>
                      </a:moveTo>
                      <a:lnTo>
                        <a:pt x="152400" y="209550"/>
                      </a:lnTo>
                      <a:lnTo>
                        <a:pt x="152400" y="152400"/>
                      </a:lnTo>
                      <a:cubicBezTo>
                        <a:pt x="152402" y="149873"/>
                        <a:pt x="151400" y="147449"/>
                        <a:pt x="149614" y="145661"/>
                      </a:cubicBezTo>
                      <a:lnTo>
                        <a:pt x="76200" y="72259"/>
                      </a:lnTo>
                      <a:lnTo>
                        <a:pt x="76200" y="19050"/>
                      </a:lnTo>
                      <a:lnTo>
                        <a:pt x="114300" y="19050"/>
                      </a:lnTo>
                      <a:lnTo>
                        <a:pt x="114300" y="47625"/>
                      </a:lnTo>
                      <a:cubicBezTo>
                        <a:pt x="114298" y="50152"/>
                        <a:pt x="115300" y="52576"/>
                        <a:pt x="117086" y="54364"/>
                      </a:cubicBezTo>
                      <a:lnTo>
                        <a:pt x="136136" y="73414"/>
                      </a:lnTo>
                      <a:cubicBezTo>
                        <a:pt x="134291" y="77255"/>
                        <a:pt x="133339" y="81464"/>
                        <a:pt x="133350" y="85725"/>
                      </a:cubicBezTo>
                      <a:cubicBezTo>
                        <a:pt x="133350" y="101507"/>
                        <a:pt x="146143" y="114300"/>
                        <a:pt x="161925" y="114300"/>
                      </a:cubicBezTo>
                      <a:cubicBezTo>
                        <a:pt x="177707" y="114300"/>
                        <a:pt x="190500" y="101507"/>
                        <a:pt x="190500" y="85725"/>
                      </a:cubicBezTo>
                      <a:cubicBezTo>
                        <a:pt x="190500" y="69943"/>
                        <a:pt x="177707" y="57150"/>
                        <a:pt x="161925" y="57150"/>
                      </a:cubicBezTo>
                      <a:cubicBezTo>
                        <a:pt x="157663" y="57143"/>
                        <a:pt x="153454" y="58099"/>
                        <a:pt x="149614" y="59948"/>
                      </a:cubicBezTo>
                      <a:lnTo>
                        <a:pt x="133350" y="43684"/>
                      </a:lnTo>
                      <a:lnTo>
                        <a:pt x="133350" y="19050"/>
                      </a:lnTo>
                      <a:lnTo>
                        <a:pt x="209550" y="19050"/>
                      </a:lnTo>
                      <a:lnTo>
                        <a:pt x="209550" y="209550"/>
                      </a:lnTo>
                      <a:close/>
                      <a:moveTo>
                        <a:pt x="161925" y="76200"/>
                      </a:moveTo>
                      <a:cubicBezTo>
                        <a:pt x="167186" y="76200"/>
                        <a:pt x="171450" y="80464"/>
                        <a:pt x="171450" y="85725"/>
                      </a:cubicBezTo>
                      <a:cubicBezTo>
                        <a:pt x="171450" y="90986"/>
                        <a:pt x="167186" y="95250"/>
                        <a:pt x="161925" y="95250"/>
                      </a:cubicBezTo>
                      <a:cubicBezTo>
                        <a:pt x="156664" y="95250"/>
                        <a:pt x="152400" y="90986"/>
                        <a:pt x="152400" y="85725"/>
                      </a:cubicBezTo>
                      <a:cubicBezTo>
                        <a:pt x="152400" y="80464"/>
                        <a:pt x="156664" y="76200"/>
                        <a:pt x="161925" y="76200"/>
                      </a:cubicBezTo>
                      <a:close/>
                    </a:path>
                  </a:pathLst>
                </a:custGeom>
                <a:solidFill>
                  <a:schemeClr val="accent1"/>
                </a:solidFill>
                <a:ln>
                  <a:noFill/>
                </a:ln>
              </p:spPr>
            </p:sp>
          </p:grpSp>
          <p:sp>
            <p:nvSpPr>
              <p:cNvPr id="47" name="TextBox 47"/>
              <p:cNvSpPr txBox="1"/>
              <p:nvPr/>
            </p:nvSpPr>
            <p:spPr>
              <a:xfrm>
                <a:off x="6048756" y="2053590"/>
                <a:ext cx="1928674"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Backend Node.js</a:t>
                </a:r>
                <a:endParaRPr lang="vi-VN" sz="1800" b="1" dirty="0">
                  <a:solidFill>
                    <a:schemeClr val="dk1"/>
                  </a:solidFill>
                  <a:latin typeface="+mn-lt"/>
                  <a:ea typeface="+mn-ea"/>
                  <a:cs typeface="+mn-cs"/>
                </a:endParaRPr>
              </a:p>
            </p:txBody>
          </p:sp>
          <p:sp>
            <p:nvSpPr>
              <p:cNvPr id="48" name="TextBox 48"/>
              <p:cNvSpPr txBox="1"/>
              <p:nvPr/>
            </p:nvSpPr>
            <p:spPr>
              <a:xfrm>
                <a:off x="5651754" y="2480310"/>
                <a:ext cx="1355707"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:8080 · Express</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49" name="TextBox 49"/>
              <p:cNvSpPr txBox="1"/>
              <p:nvPr/>
            </p:nvSpPr>
            <p:spPr>
              <a:xfrm>
                <a:off x="5650992" y="2749868"/>
                <a:ext cx="1734057"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gợi ý nhạc, lưu lịch sử</a:t>
                </a:r>
                <a:endParaRPr lang="vi-VN" sz="1350" dirty="0">
                  <a:solidFill>
                    <a:schemeClr val="accent5"/>
                  </a:solidFill>
                  <a:latin typeface="+mn-lt"/>
                  <a:ea typeface="+mn-ea"/>
                  <a:cs typeface="+mn-cs"/>
                </a:endParaRPr>
              </a:p>
            </p:txBody>
          </p:sp>
        </p:grpSp>
        <p:grpSp>
          <p:nvGrpSpPr>
            <p:cNvPr id="58" name="node-ai"/>
            <p:cNvGrpSpPr/>
            <p:nvPr/>
          </p:nvGrpSpPr>
          <p:grpSpPr>
            <a:xfrm>
              <a:off x="8610600" y="1809750"/>
              <a:ext cx="2476500" cy="1333500"/>
              <a:chOff x="8610600" y="1809750"/>
              <a:chExt cx="2476500" cy="1333500"/>
            </a:xfrm>
          </p:grpSpPr>
          <p:sp>
            <p:nvSpPr>
              <p:cNvPr id="51" name="Rectangle 51"/>
              <p:cNvSpPr/>
              <p:nvPr/>
            </p:nvSpPr>
            <p:spPr>
              <a:xfrm>
                <a:off x="8610600" y="1809750"/>
                <a:ext cx="2476500" cy="1333500"/>
              </a:xfrm>
              <a:prstGeom prst="roundRect">
                <a:avLst>
                  <a:gd name="adj" fmla="val 8571"/>
                </a:avLst>
              </a:prstGeom>
              <a:solidFill>
                <a:schemeClr val="lt2"/>
              </a:solidFill>
              <a:ln w="14288">
                <a:solidFill>
                  <a:schemeClr val="accent2"/>
                </a:solidFill>
              </a:ln>
            </p:spPr>
          </p:sp>
          <p:grpSp>
            <p:nvGrpSpPr>
              <p:cNvPr id="54" name="Group 54"/>
              <p:cNvGrpSpPr/>
              <p:nvPr/>
            </p:nvGrpSpPr>
            <p:grpSpPr>
              <a:xfrm>
                <a:off x="8810616" y="2043088"/>
                <a:ext cx="285759" cy="247698"/>
                <a:chOff x="8810616" y="2043088"/>
                <a:chExt cx="285759" cy="247698"/>
              </a:xfrm>
            </p:grpSpPr>
            <p:sp>
              <p:nvSpPr>
                <p:cNvPr id="52" name="Freeform 52"/>
                <p:cNvSpPr/>
                <p:nvPr/>
              </p:nvSpPr>
              <p:spPr>
                <a:xfrm>
                  <a:off x="8820099" y="2057400"/>
                  <a:ext cx="266759" cy="219075"/>
                </a:xfrm>
                <a:custGeom>
                  <a:avLst/>
                  <a:gdLst/>
                  <a:ahLst/>
                  <a:cxnLst/>
                  <a:rect l="l" t="t" r="r" b="b"/>
                  <a:pathLst>
                    <a:path w="266759" h="219075">
                      <a:moveTo>
                        <a:pt x="266751" y="109538"/>
                      </a:moveTo>
                      <a:cubicBezTo>
                        <a:pt x="266759" y="133763"/>
                        <a:pt x="251491" y="155362"/>
                        <a:pt x="228651" y="163437"/>
                      </a:cubicBezTo>
                      <a:lnTo>
                        <a:pt x="228651" y="163437"/>
                      </a:lnTo>
                      <a:lnTo>
                        <a:pt x="228651" y="171450"/>
                      </a:lnTo>
                      <a:cubicBezTo>
                        <a:pt x="228651" y="197753"/>
                        <a:pt x="207329" y="219075"/>
                        <a:pt x="181026" y="219075"/>
                      </a:cubicBezTo>
                      <a:cubicBezTo>
                        <a:pt x="154724" y="219075"/>
                        <a:pt x="133401" y="197753"/>
                        <a:pt x="133401" y="171450"/>
                      </a:cubicBezTo>
                      <a:cubicBezTo>
                        <a:pt x="133401" y="197753"/>
                        <a:pt x="112079" y="219075"/>
                        <a:pt x="85776" y="219075"/>
                      </a:cubicBezTo>
                      <a:cubicBezTo>
                        <a:pt x="59474" y="219075"/>
                        <a:pt x="38151" y="197753"/>
                        <a:pt x="38151" y="171450"/>
                      </a:cubicBezTo>
                      <a:lnTo>
                        <a:pt x="38151" y="163437"/>
                      </a:lnTo>
                      <a:lnTo>
                        <a:pt x="38151" y="163437"/>
                      </a:lnTo>
                      <a:cubicBezTo>
                        <a:pt x="15291" y="155379"/>
                        <a:pt x="0" y="133777"/>
                        <a:pt x="0" y="109538"/>
                      </a:cubicBezTo>
                      <a:cubicBezTo>
                        <a:pt x="0" y="85298"/>
                        <a:pt x="15291" y="63696"/>
                        <a:pt x="38151" y="55638"/>
                      </a:cubicBezTo>
                      <a:lnTo>
                        <a:pt x="38151" y="47625"/>
                      </a:lnTo>
                      <a:cubicBezTo>
                        <a:pt x="38151" y="21322"/>
                        <a:pt x="59474" y="0"/>
                        <a:pt x="85776" y="0"/>
                      </a:cubicBezTo>
                      <a:cubicBezTo>
                        <a:pt x="112079" y="0"/>
                        <a:pt x="133401" y="21322"/>
                        <a:pt x="133401" y="47625"/>
                      </a:cubicBezTo>
                      <a:cubicBezTo>
                        <a:pt x="133401" y="21322"/>
                        <a:pt x="154724" y="0"/>
                        <a:pt x="181026" y="0"/>
                      </a:cubicBezTo>
                      <a:cubicBezTo>
                        <a:pt x="207329" y="0"/>
                        <a:pt x="228651" y="21322"/>
                        <a:pt x="228651" y="47625"/>
                      </a:cubicBezTo>
                      <a:lnTo>
                        <a:pt x="228651" y="55638"/>
                      </a:lnTo>
                      <a:cubicBezTo>
                        <a:pt x="251491" y="63713"/>
                        <a:pt x="266759" y="85312"/>
                        <a:pt x="266751" y="109538"/>
                      </a:cubicBezTo>
                      <a:close/>
                    </a:path>
                  </a:pathLst>
                </a:custGeom>
                <a:solidFill>
                  <a:schemeClr val="accent2">
                    <a:alpha val="20000"/>
                  </a:schemeClr>
                </a:solidFill>
                <a:ln>
                  <a:noFill/>
                </a:ln>
              </p:spPr>
            </p:sp>
            <p:sp>
              <p:nvSpPr>
                <p:cNvPr id="53" name="Freeform 53"/>
                <p:cNvSpPr/>
                <p:nvPr/>
              </p:nvSpPr>
              <p:spPr>
                <a:xfrm>
                  <a:off x="8810616" y="2043088"/>
                  <a:ext cx="285759" cy="247698"/>
                </a:xfrm>
                <a:custGeom>
                  <a:avLst/>
                  <a:gdLst/>
                  <a:ahLst/>
                  <a:cxnLst/>
                  <a:rect l="l" t="t" r="r" b="b"/>
                  <a:pathLst>
                    <a:path w="285759" h="247698">
                      <a:moveTo>
                        <a:pt x="285759" y="123849"/>
                      </a:moveTo>
                      <a:cubicBezTo>
                        <a:pt x="285733" y="98099"/>
                        <a:pt x="270911" y="74656"/>
                        <a:pt x="247659" y="63592"/>
                      </a:cubicBezTo>
                      <a:lnTo>
                        <a:pt x="247659" y="61937"/>
                      </a:lnTo>
                      <a:cubicBezTo>
                        <a:pt x="247636" y="36738"/>
                        <a:pt x="231112" y="14527"/>
                        <a:pt x="206982" y="7264"/>
                      </a:cubicBezTo>
                      <a:cubicBezTo>
                        <a:pt x="182853" y="0"/>
                        <a:pt x="156813" y="9398"/>
                        <a:pt x="142884" y="30397"/>
                      </a:cubicBezTo>
                      <a:cubicBezTo>
                        <a:pt x="128955" y="9398"/>
                        <a:pt x="102915" y="0"/>
                        <a:pt x="78786" y="7264"/>
                      </a:cubicBezTo>
                      <a:cubicBezTo>
                        <a:pt x="54656" y="14527"/>
                        <a:pt x="38131" y="36738"/>
                        <a:pt x="38109" y="61937"/>
                      </a:cubicBezTo>
                      <a:lnTo>
                        <a:pt x="38109" y="63592"/>
                      </a:lnTo>
                      <a:cubicBezTo>
                        <a:pt x="14836" y="74627"/>
                        <a:pt x="0" y="98080"/>
                        <a:pt x="0" y="123837"/>
                      </a:cubicBezTo>
                      <a:cubicBezTo>
                        <a:pt x="0" y="149594"/>
                        <a:pt x="14836" y="173048"/>
                        <a:pt x="38109" y="184083"/>
                      </a:cubicBezTo>
                      <a:lnTo>
                        <a:pt x="38109" y="185762"/>
                      </a:lnTo>
                      <a:cubicBezTo>
                        <a:pt x="38131" y="210961"/>
                        <a:pt x="54656" y="233171"/>
                        <a:pt x="78786" y="240435"/>
                      </a:cubicBezTo>
                      <a:cubicBezTo>
                        <a:pt x="102915" y="247698"/>
                        <a:pt x="128955" y="238301"/>
                        <a:pt x="142884" y="217301"/>
                      </a:cubicBezTo>
                      <a:cubicBezTo>
                        <a:pt x="156813" y="238301"/>
                        <a:pt x="182853" y="247698"/>
                        <a:pt x="206982" y="240435"/>
                      </a:cubicBezTo>
                      <a:cubicBezTo>
                        <a:pt x="231112" y="233171"/>
                        <a:pt x="247636" y="210961"/>
                        <a:pt x="247659" y="185762"/>
                      </a:cubicBezTo>
                      <a:lnTo>
                        <a:pt x="247659" y="184083"/>
                      </a:lnTo>
                      <a:cubicBezTo>
                        <a:pt x="270907" y="173027"/>
                        <a:pt x="285730" y="149592"/>
                        <a:pt x="285759" y="123849"/>
                      </a:cubicBezTo>
                      <a:close/>
                      <a:moveTo>
                        <a:pt x="95259" y="223862"/>
                      </a:moveTo>
                      <a:cubicBezTo>
                        <a:pt x="75804" y="223859"/>
                        <a:pt x="59477" y="209199"/>
                        <a:pt x="57385" y="189857"/>
                      </a:cubicBezTo>
                      <a:cubicBezTo>
                        <a:pt x="60465" y="190297"/>
                        <a:pt x="63573" y="190520"/>
                        <a:pt x="66684" y="190524"/>
                      </a:cubicBezTo>
                      <a:lnTo>
                        <a:pt x="76209" y="190524"/>
                      </a:lnTo>
                      <a:cubicBezTo>
                        <a:pt x="81469" y="190524"/>
                        <a:pt x="85734" y="186260"/>
                        <a:pt x="85734" y="180999"/>
                      </a:cubicBezTo>
                      <a:cubicBezTo>
                        <a:pt x="85734" y="175739"/>
                        <a:pt x="81469" y="171474"/>
                        <a:pt x="76209" y="171474"/>
                      </a:cubicBezTo>
                      <a:lnTo>
                        <a:pt x="66684" y="171474"/>
                      </a:lnTo>
                      <a:cubicBezTo>
                        <a:pt x="43466" y="171501"/>
                        <a:pt x="23613" y="154783"/>
                        <a:pt x="19689" y="131899"/>
                      </a:cubicBezTo>
                      <a:cubicBezTo>
                        <a:pt x="15764" y="109016"/>
                        <a:pt x="28913" y="86637"/>
                        <a:pt x="50813" y="78927"/>
                      </a:cubicBezTo>
                      <a:cubicBezTo>
                        <a:pt x="54616" y="77580"/>
                        <a:pt x="57158" y="73984"/>
                        <a:pt x="57159" y="69950"/>
                      </a:cubicBezTo>
                      <a:lnTo>
                        <a:pt x="57159" y="61937"/>
                      </a:lnTo>
                      <a:cubicBezTo>
                        <a:pt x="57159" y="40895"/>
                        <a:pt x="74217" y="23837"/>
                        <a:pt x="95259" y="23837"/>
                      </a:cubicBezTo>
                      <a:cubicBezTo>
                        <a:pt x="116301" y="23837"/>
                        <a:pt x="133359" y="40895"/>
                        <a:pt x="133359" y="61937"/>
                      </a:cubicBezTo>
                      <a:lnTo>
                        <a:pt x="133359" y="143209"/>
                      </a:lnTo>
                      <a:cubicBezTo>
                        <a:pt x="122899" y="133802"/>
                        <a:pt x="109327" y="128601"/>
                        <a:pt x="95259" y="128612"/>
                      </a:cubicBezTo>
                      <a:cubicBezTo>
                        <a:pt x="89998" y="128612"/>
                        <a:pt x="85734" y="132876"/>
                        <a:pt x="85734" y="138137"/>
                      </a:cubicBezTo>
                      <a:cubicBezTo>
                        <a:pt x="85734" y="143397"/>
                        <a:pt x="89998" y="147662"/>
                        <a:pt x="95259" y="147662"/>
                      </a:cubicBezTo>
                      <a:cubicBezTo>
                        <a:pt x="116301" y="147662"/>
                        <a:pt x="133359" y="164720"/>
                        <a:pt x="133359" y="185762"/>
                      </a:cubicBezTo>
                      <a:cubicBezTo>
                        <a:pt x="133359" y="206804"/>
                        <a:pt x="116301" y="223862"/>
                        <a:pt x="95259" y="223862"/>
                      </a:cubicBezTo>
                      <a:close/>
                      <a:moveTo>
                        <a:pt x="219084" y="171474"/>
                      </a:moveTo>
                      <a:lnTo>
                        <a:pt x="209559" y="171474"/>
                      </a:lnTo>
                      <a:cubicBezTo>
                        <a:pt x="204298" y="171474"/>
                        <a:pt x="200034" y="175739"/>
                        <a:pt x="200034" y="180999"/>
                      </a:cubicBezTo>
                      <a:cubicBezTo>
                        <a:pt x="200034" y="186260"/>
                        <a:pt x="204298" y="190524"/>
                        <a:pt x="209559" y="190524"/>
                      </a:cubicBezTo>
                      <a:lnTo>
                        <a:pt x="219084" y="190524"/>
                      </a:lnTo>
                      <a:cubicBezTo>
                        <a:pt x="222195" y="190520"/>
                        <a:pt x="225303" y="190297"/>
                        <a:pt x="228383" y="189857"/>
                      </a:cubicBezTo>
                      <a:cubicBezTo>
                        <a:pt x="226178" y="210249"/>
                        <a:pt x="208226" y="225236"/>
                        <a:pt x="187768" y="223763"/>
                      </a:cubicBezTo>
                      <a:cubicBezTo>
                        <a:pt x="167311" y="222291"/>
                        <a:pt x="151690" y="204888"/>
                        <a:pt x="152428" y="184391"/>
                      </a:cubicBezTo>
                      <a:cubicBezTo>
                        <a:pt x="153166" y="163893"/>
                        <a:pt x="169998" y="147659"/>
                        <a:pt x="190509" y="147662"/>
                      </a:cubicBezTo>
                      <a:cubicBezTo>
                        <a:pt x="195769" y="147662"/>
                        <a:pt x="200034" y="143397"/>
                        <a:pt x="200034" y="138137"/>
                      </a:cubicBezTo>
                      <a:cubicBezTo>
                        <a:pt x="200034" y="132876"/>
                        <a:pt x="195769" y="128612"/>
                        <a:pt x="190509" y="128612"/>
                      </a:cubicBezTo>
                      <a:cubicBezTo>
                        <a:pt x="176441" y="128601"/>
                        <a:pt x="162868" y="133802"/>
                        <a:pt x="152409" y="143209"/>
                      </a:cubicBezTo>
                      <a:lnTo>
                        <a:pt x="152409" y="61937"/>
                      </a:lnTo>
                      <a:cubicBezTo>
                        <a:pt x="152409" y="40895"/>
                        <a:pt x="169467" y="23837"/>
                        <a:pt x="190509" y="23837"/>
                      </a:cubicBezTo>
                      <a:cubicBezTo>
                        <a:pt x="211551" y="23837"/>
                        <a:pt x="228609" y="40895"/>
                        <a:pt x="228609" y="61937"/>
                      </a:cubicBezTo>
                      <a:lnTo>
                        <a:pt x="228609" y="69950"/>
                      </a:lnTo>
                      <a:cubicBezTo>
                        <a:pt x="228610" y="73984"/>
                        <a:pt x="231152" y="77580"/>
                        <a:pt x="234955" y="78927"/>
                      </a:cubicBezTo>
                      <a:cubicBezTo>
                        <a:pt x="256855" y="86637"/>
                        <a:pt x="270004" y="109016"/>
                        <a:pt x="266079" y="131899"/>
                      </a:cubicBezTo>
                      <a:cubicBezTo>
                        <a:pt x="262155" y="154783"/>
                        <a:pt x="242301" y="171501"/>
                        <a:pt x="219084" y="171474"/>
                      </a:cubicBezTo>
                      <a:close/>
                      <a:moveTo>
                        <a:pt x="238134" y="109562"/>
                      </a:moveTo>
                      <a:cubicBezTo>
                        <a:pt x="238134" y="114822"/>
                        <a:pt x="233869" y="119087"/>
                        <a:pt x="228609" y="119087"/>
                      </a:cubicBezTo>
                      <a:lnTo>
                        <a:pt x="223846" y="119087"/>
                      </a:lnTo>
                      <a:cubicBezTo>
                        <a:pt x="200174" y="119087"/>
                        <a:pt x="180984" y="99897"/>
                        <a:pt x="180984" y="76224"/>
                      </a:cubicBezTo>
                      <a:lnTo>
                        <a:pt x="180984" y="71462"/>
                      </a:lnTo>
                      <a:cubicBezTo>
                        <a:pt x="180984" y="66201"/>
                        <a:pt x="185248" y="61937"/>
                        <a:pt x="190509" y="61937"/>
                      </a:cubicBezTo>
                      <a:cubicBezTo>
                        <a:pt x="195769" y="61937"/>
                        <a:pt x="200034" y="66201"/>
                        <a:pt x="200034" y="71462"/>
                      </a:cubicBezTo>
                      <a:lnTo>
                        <a:pt x="200034" y="76224"/>
                      </a:lnTo>
                      <a:cubicBezTo>
                        <a:pt x="200034" y="89376"/>
                        <a:pt x="210695" y="100037"/>
                        <a:pt x="223846" y="100037"/>
                      </a:cubicBezTo>
                      <a:lnTo>
                        <a:pt x="228609" y="100037"/>
                      </a:lnTo>
                      <a:cubicBezTo>
                        <a:pt x="233869" y="100037"/>
                        <a:pt x="238134" y="104301"/>
                        <a:pt x="238134" y="109562"/>
                      </a:cubicBezTo>
                      <a:close/>
                      <a:moveTo>
                        <a:pt x="61921" y="119087"/>
                      </a:moveTo>
                      <a:lnTo>
                        <a:pt x="57159" y="119087"/>
                      </a:lnTo>
                      <a:cubicBezTo>
                        <a:pt x="51898" y="119087"/>
                        <a:pt x="47634" y="114822"/>
                        <a:pt x="47634" y="109562"/>
                      </a:cubicBezTo>
                      <a:cubicBezTo>
                        <a:pt x="47634" y="104301"/>
                        <a:pt x="51898" y="100037"/>
                        <a:pt x="57159" y="100037"/>
                      </a:cubicBezTo>
                      <a:lnTo>
                        <a:pt x="61921" y="100037"/>
                      </a:lnTo>
                      <a:cubicBezTo>
                        <a:pt x="75073" y="100037"/>
                        <a:pt x="85734" y="89376"/>
                        <a:pt x="85734" y="76224"/>
                      </a:cubicBezTo>
                      <a:lnTo>
                        <a:pt x="85734" y="71462"/>
                      </a:lnTo>
                      <a:cubicBezTo>
                        <a:pt x="85734" y="66201"/>
                        <a:pt x="89998" y="61937"/>
                        <a:pt x="95259" y="61937"/>
                      </a:cubicBezTo>
                      <a:cubicBezTo>
                        <a:pt x="100519" y="61937"/>
                        <a:pt x="104784" y="66201"/>
                        <a:pt x="104784" y="71462"/>
                      </a:cubicBezTo>
                      <a:lnTo>
                        <a:pt x="104784" y="76224"/>
                      </a:lnTo>
                      <a:cubicBezTo>
                        <a:pt x="104784" y="99897"/>
                        <a:pt x="85594" y="119087"/>
                        <a:pt x="61921" y="119087"/>
                      </a:cubicBezTo>
                      <a:close/>
                    </a:path>
                  </a:pathLst>
                </a:custGeom>
                <a:solidFill>
                  <a:schemeClr val="accent2"/>
                </a:solidFill>
                <a:ln>
                  <a:noFill/>
                </a:ln>
              </p:spPr>
            </p:sp>
          </p:grpSp>
          <p:sp>
            <p:nvSpPr>
              <p:cNvPr id="55" name="TextBox 55"/>
              <p:cNvSpPr txBox="1"/>
              <p:nvPr/>
            </p:nvSpPr>
            <p:spPr>
              <a:xfrm>
                <a:off x="9192006" y="2053590"/>
                <a:ext cx="921020"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AI Flask</a:t>
                </a:r>
                <a:endParaRPr lang="vi-VN" sz="1800" b="1" dirty="0">
                  <a:solidFill>
                    <a:schemeClr val="dk1"/>
                  </a:solidFill>
                  <a:latin typeface="+mn-lt"/>
                  <a:ea typeface="+mn-ea"/>
                  <a:cs typeface="+mn-cs"/>
                </a:endParaRPr>
              </a:p>
            </p:txBody>
          </p:sp>
          <p:sp>
            <p:nvSpPr>
              <p:cNvPr id="56" name="TextBox 56"/>
              <p:cNvSpPr txBox="1"/>
              <p:nvPr/>
            </p:nvSpPr>
            <p:spPr>
              <a:xfrm>
                <a:off x="8795004" y="2480310"/>
                <a:ext cx="1366484" cy="234696"/>
              </a:xfrm>
              <a:prstGeom prst="rect">
                <a:avLst/>
              </a:prstGeom>
              <a:noFill/>
              <a:ln>
                <a:noFill/>
              </a:ln>
            </p:spPr>
            <p:txBody>
              <a:bodyPr wrap="none" lIns="0" tIns="0" rIns="0" bIns="0" anchor="t" anchorCtr="0">
                <a:spAutoFit/>
              </a:bodyPr>
              <a:lstStyle/>
              <a:p>
                <a:pPr algn="l"/>
                <a:r>
                  <a:rPr lang="vi-VN" sz="1200" dirty="0">
                    <a:solidFill>
                      <a:schemeClr val="accent2"/>
                    </a:solidFill>
                    <a:latin typeface="Consolas" panose="020B0609020204030204"/>
                    <a:ea typeface="Consolas" panose="020B0609020204030204"/>
                    <a:cs typeface="Consolas" panose="020B0609020204030204"/>
                  </a:rPr>
                  <a:t>:5000 · PyTorch</a:t>
                </a:r>
                <a:endParaRPr lang="vi-VN" sz="1200" dirty="0">
                  <a:solidFill>
                    <a:schemeClr val="accent2"/>
                  </a:solidFill>
                  <a:latin typeface="Consolas" panose="020B0609020204030204"/>
                  <a:ea typeface="Consolas" panose="020B0609020204030204"/>
                  <a:cs typeface="Consolas" panose="020B0609020204030204"/>
                </a:endParaRPr>
              </a:p>
            </p:txBody>
          </p:sp>
          <p:sp>
            <p:nvSpPr>
              <p:cNvPr id="57" name="TextBox 57"/>
              <p:cNvSpPr txBox="1"/>
              <p:nvPr/>
            </p:nvSpPr>
            <p:spPr>
              <a:xfrm>
                <a:off x="8794242" y="2749868"/>
                <a:ext cx="1516136"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nhận diện cảm xúc</a:t>
                </a:r>
                <a:endParaRPr lang="vi-VN" sz="1350" dirty="0">
                  <a:solidFill>
                    <a:schemeClr val="accent5"/>
                  </a:solidFill>
                  <a:latin typeface="+mn-lt"/>
                  <a:ea typeface="+mn-ea"/>
                  <a:cs typeface="+mn-cs"/>
                </a:endParaRPr>
              </a:p>
            </p:txBody>
          </p:sp>
        </p:grpSp>
        <p:grpSp>
          <p:nvGrpSpPr>
            <p:cNvPr id="66" name="node-gpio"/>
            <p:cNvGrpSpPr/>
            <p:nvPr/>
          </p:nvGrpSpPr>
          <p:grpSpPr>
            <a:xfrm>
              <a:off x="2324100" y="3810000"/>
              <a:ext cx="2476500" cy="1013651"/>
              <a:chOff x="2324100" y="3810000"/>
              <a:chExt cx="2476500" cy="1013651"/>
            </a:xfrm>
          </p:grpSpPr>
          <p:sp>
            <p:nvSpPr>
              <p:cNvPr id="59" name="Rectangle 59"/>
              <p:cNvSpPr/>
              <p:nvPr/>
            </p:nvSpPr>
            <p:spPr>
              <a:xfrm>
                <a:off x="2324100" y="3810000"/>
                <a:ext cx="2476500" cy="990600"/>
              </a:xfrm>
              <a:prstGeom prst="roundRect">
                <a:avLst>
                  <a:gd name="adj" fmla="val 11538"/>
                </a:avLst>
              </a:prstGeom>
              <a:solidFill>
                <a:schemeClr val="lt2"/>
              </a:solidFill>
              <a:ln w="14288">
                <a:solidFill>
                  <a:schemeClr val="accent6"/>
                </a:solidFill>
              </a:ln>
            </p:spPr>
          </p:sp>
          <p:grpSp>
            <p:nvGrpSpPr>
              <p:cNvPr id="62" name="Group 62"/>
              <p:cNvGrpSpPr/>
              <p:nvPr/>
            </p:nvGrpSpPr>
            <p:grpSpPr>
              <a:xfrm>
                <a:off x="2561694" y="3990134"/>
                <a:ext cx="210546" cy="287432"/>
                <a:chOff x="2561694" y="3990134"/>
                <a:chExt cx="210546" cy="287432"/>
              </a:xfrm>
            </p:grpSpPr>
            <p:sp>
              <p:nvSpPr>
                <p:cNvPr id="60" name="Freeform 60"/>
                <p:cNvSpPr/>
                <p:nvPr/>
              </p:nvSpPr>
              <p:spPr>
                <a:xfrm>
                  <a:off x="2571750" y="4000500"/>
                  <a:ext cx="190500" cy="266700"/>
                </a:xfrm>
                <a:custGeom>
                  <a:avLst/>
                  <a:gdLst/>
                  <a:ahLst/>
                  <a:cxnLst/>
                  <a:rect l="l" t="t" r="r" b="b"/>
                  <a:pathLst>
                    <a:path w="190500" h="266700">
                      <a:moveTo>
                        <a:pt x="57150" y="266700"/>
                      </a:moveTo>
                      <a:lnTo>
                        <a:pt x="76200" y="171450"/>
                      </a:lnTo>
                      <a:lnTo>
                        <a:pt x="0" y="142875"/>
                      </a:lnTo>
                      <a:lnTo>
                        <a:pt x="133350" y="0"/>
                      </a:lnTo>
                      <a:lnTo>
                        <a:pt x="114300" y="95250"/>
                      </a:lnTo>
                      <a:lnTo>
                        <a:pt x="190500" y="123825"/>
                      </a:lnTo>
                      <a:close/>
                    </a:path>
                  </a:pathLst>
                </a:custGeom>
                <a:solidFill>
                  <a:schemeClr val="accent1">
                    <a:alpha val="20000"/>
                  </a:schemeClr>
                </a:solidFill>
                <a:ln>
                  <a:noFill/>
                </a:ln>
              </p:spPr>
            </p:sp>
            <p:sp>
              <p:nvSpPr>
                <p:cNvPr id="61" name="Freeform 61"/>
                <p:cNvSpPr/>
                <p:nvPr/>
              </p:nvSpPr>
              <p:spPr>
                <a:xfrm>
                  <a:off x="2561694" y="3990134"/>
                  <a:ext cx="210546" cy="287432"/>
                </a:xfrm>
                <a:custGeom>
                  <a:avLst/>
                  <a:gdLst/>
                  <a:ahLst/>
                  <a:cxnLst/>
                  <a:rect l="l" t="t" r="r" b="b"/>
                  <a:pathLst>
                    <a:path w="210546" h="287432">
                      <a:moveTo>
                        <a:pt x="209831" y="132012"/>
                      </a:moveTo>
                      <a:cubicBezTo>
                        <a:pt x="209098" y="128912"/>
                        <a:pt x="206864" y="126382"/>
                        <a:pt x="203878" y="125273"/>
                      </a:cubicBezTo>
                      <a:lnTo>
                        <a:pt x="135286" y="99544"/>
                      </a:lnTo>
                      <a:lnTo>
                        <a:pt x="152740" y="12235"/>
                      </a:lnTo>
                      <a:cubicBezTo>
                        <a:pt x="153552" y="8068"/>
                        <a:pt x="151508" y="3866"/>
                        <a:pt x="147728" y="1933"/>
                      </a:cubicBezTo>
                      <a:cubicBezTo>
                        <a:pt x="143947" y="0"/>
                        <a:pt x="139344" y="803"/>
                        <a:pt x="136441" y="3901"/>
                      </a:cubicBezTo>
                      <a:lnTo>
                        <a:pt x="3091" y="146776"/>
                      </a:lnTo>
                      <a:cubicBezTo>
                        <a:pt x="891" y="149094"/>
                        <a:pt x="0" y="152361"/>
                        <a:pt x="719" y="155474"/>
                      </a:cubicBezTo>
                      <a:cubicBezTo>
                        <a:pt x="1437" y="158588"/>
                        <a:pt x="3669" y="161134"/>
                        <a:pt x="6663" y="162254"/>
                      </a:cubicBezTo>
                      <a:lnTo>
                        <a:pt x="75278" y="187983"/>
                      </a:lnTo>
                      <a:lnTo>
                        <a:pt x="57871" y="275197"/>
                      </a:lnTo>
                      <a:cubicBezTo>
                        <a:pt x="57059" y="279364"/>
                        <a:pt x="59104" y="283566"/>
                        <a:pt x="62884" y="285499"/>
                      </a:cubicBezTo>
                      <a:cubicBezTo>
                        <a:pt x="66665" y="287432"/>
                        <a:pt x="71268" y="286629"/>
                        <a:pt x="74171" y="283531"/>
                      </a:cubicBezTo>
                      <a:lnTo>
                        <a:pt x="207521" y="140656"/>
                      </a:lnTo>
                      <a:cubicBezTo>
                        <a:pt x="209681" y="138338"/>
                        <a:pt x="210546" y="135098"/>
                        <a:pt x="209831" y="132012"/>
                      </a:cubicBezTo>
                      <a:close/>
                      <a:moveTo>
                        <a:pt x="83125" y="246110"/>
                      </a:moveTo>
                      <a:lnTo>
                        <a:pt x="95590" y="183745"/>
                      </a:lnTo>
                      <a:cubicBezTo>
                        <a:pt x="96512" y="179177"/>
                        <a:pt x="93993" y="174613"/>
                        <a:pt x="89637" y="172958"/>
                      </a:cubicBezTo>
                      <a:lnTo>
                        <a:pt x="26725" y="149324"/>
                      </a:lnTo>
                      <a:lnTo>
                        <a:pt x="127475" y="41382"/>
                      </a:lnTo>
                      <a:lnTo>
                        <a:pt x="115021" y="103747"/>
                      </a:lnTo>
                      <a:cubicBezTo>
                        <a:pt x="114100" y="108314"/>
                        <a:pt x="116619" y="112878"/>
                        <a:pt x="120974" y="114534"/>
                      </a:cubicBezTo>
                      <a:lnTo>
                        <a:pt x="183839" y="138108"/>
                      </a:lnTo>
                      <a:close/>
                    </a:path>
                  </a:pathLst>
                </a:custGeom>
                <a:solidFill>
                  <a:schemeClr val="accent1"/>
                </a:solidFill>
                <a:ln>
                  <a:noFill/>
                </a:ln>
              </p:spPr>
            </p:sp>
          </p:grpSp>
          <p:sp>
            <p:nvSpPr>
              <p:cNvPr id="63" name="TextBox 63"/>
              <p:cNvSpPr txBox="1"/>
              <p:nvPr/>
            </p:nvSpPr>
            <p:spPr>
              <a:xfrm>
                <a:off x="2905506" y="4015740"/>
                <a:ext cx="1477973"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GPIO service</a:t>
                </a:r>
                <a:endParaRPr lang="vi-VN" sz="1800" b="1" dirty="0">
                  <a:solidFill>
                    <a:schemeClr val="dk1"/>
                  </a:solidFill>
                  <a:latin typeface="+mn-lt"/>
                  <a:ea typeface="+mn-ea"/>
                  <a:cs typeface="+mn-cs"/>
                </a:endParaRPr>
              </a:p>
            </p:txBody>
          </p:sp>
          <p:sp>
            <p:nvSpPr>
              <p:cNvPr id="64" name="TextBox 64"/>
              <p:cNvSpPr txBox="1"/>
              <p:nvPr/>
            </p:nvSpPr>
            <p:spPr>
              <a:xfrm>
                <a:off x="2508504" y="4366260"/>
                <a:ext cx="1433779"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:5001 · gpiozero</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65" name="TextBox 65"/>
              <p:cNvSpPr txBox="1"/>
              <p:nvPr/>
            </p:nvSpPr>
            <p:spPr>
              <a:xfrm>
                <a:off x="2507742" y="4559618"/>
                <a:ext cx="864990"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đèn và nút</a:t>
                </a:r>
                <a:endParaRPr lang="vi-VN" sz="1350" dirty="0">
                  <a:solidFill>
                    <a:schemeClr val="accent5"/>
                  </a:solidFill>
                  <a:latin typeface="+mn-lt"/>
                  <a:ea typeface="+mn-ea"/>
                  <a:cs typeface="+mn-cs"/>
                </a:endParaRPr>
              </a:p>
            </p:txBody>
          </p:sp>
        </p:grpSp>
        <p:grpSp>
          <p:nvGrpSpPr>
            <p:cNvPr id="73" name="node-db"/>
            <p:cNvGrpSpPr/>
            <p:nvPr/>
          </p:nvGrpSpPr>
          <p:grpSpPr>
            <a:xfrm>
              <a:off x="5467350" y="3810000"/>
              <a:ext cx="2476500" cy="1013651"/>
              <a:chOff x="5467350" y="3810000"/>
              <a:chExt cx="2476500" cy="1013651"/>
            </a:xfrm>
          </p:grpSpPr>
          <p:sp>
            <p:nvSpPr>
              <p:cNvPr id="67" name="Rectangle 67"/>
              <p:cNvSpPr/>
              <p:nvPr/>
            </p:nvSpPr>
            <p:spPr>
              <a:xfrm>
                <a:off x="5467350" y="3810000"/>
                <a:ext cx="2476500" cy="990600"/>
              </a:xfrm>
              <a:prstGeom prst="roundRect">
                <a:avLst>
                  <a:gd name="adj" fmla="val 11538"/>
                </a:avLst>
              </a:prstGeom>
              <a:solidFill>
                <a:schemeClr val="lt2"/>
              </a:solidFill>
              <a:ln w="14288">
                <a:solidFill>
                  <a:schemeClr val="accent6"/>
                </a:solidFill>
              </a:ln>
            </p:spPr>
          </p:sp>
          <p:grpSp>
            <p:nvGrpSpPr>
              <p:cNvPr id="70" name="Group 70"/>
              <p:cNvGrpSpPr/>
              <p:nvPr/>
            </p:nvGrpSpPr>
            <p:grpSpPr>
              <a:xfrm>
                <a:off x="5695950" y="4010025"/>
                <a:ext cx="228600" cy="247650"/>
                <a:chOff x="5695950" y="4010025"/>
                <a:chExt cx="228600" cy="247650"/>
              </a:xfrm>
            </p:grpSpPr>
            <p:sp>
              <p:nvSpPr>
                <p:cNvPr id="68" name="Freeform 68"/>
                <p:cNvSpPr/>
                <p:nvPr/>
              </p:nvSpPr>
              <p:spPr>
                <a:xfrm>
                  <a:off x="5705475" y="4019550"/>
                  <a:ext cx="209550" cy="114300"/>
                </a:xfrm>
                <a:custGeom>
                  <a:avLst/>
                  <a:gdLst/>
                  <a:ahLst/>
                  <a:cxnLst/>
                  <a:rect l="l" t="t" r="r" b="b"/>
                  <a:pathLst>
                    <a:path w="209550" h="114300">
                      <a:moveTo>
                        <a:pt x="209550" y="57150"/>
                      </a:moveTo>
                      <a:cubicBezTo>
                        <a:pt x="209550" y="88713"/>
                        <a:pt x="162639" y="114300"/>
                        <a:pt x="104775" y="114300"/>
                      </a:cubicBezTo>
                      <a:cubicBezTo>
                        <a:pt x="46911" y="114300"/>
                        <a:pt x="0" y="88713"/>
                        <a:pt x="0" y="57150"/>
                      </a:cubicBezTo>
                      <a:cubicBezTo>
                        <a:pt x="0" y="25587"/>
                        <a:pt x="46911" y="0"/>
                        <a:pt x="104775" y="0"/>
                      </a:cubicBezTo>
                      <a:cubicBezTo>
                        <a:pt x="162639" y="0"/>
                        <a:pt x="209550" y="25587"/>
                        <a:pt x="209550" y="57150"/>
                      </a:cubicBezTo>
                      <a:close/>
                    </a:path>
                  </a:pathLst>
                </a:custGeom>
                <a:solidFill>
                  <a:schemeClr val="accent1">
                    <a:alpha val="20000"/>
                  </a:schemeClr>
                </a:solidFill>
                <a:ln>
                  <a:noFill/>
                </a:ln>
              </p:spPr>
            </p:sp>
            <p:sp>
              <p:nvSpPr>
                <p:cNvPr id="69" name="Freeform 69"/>
                <p:cNvSpPr/>
                <p:nvPr/>
              </p:nvSpPr>
              <p:spPr>
                <a:xfrm>
                  <a:off x="5695950" y="4010025"/>
                  <a:ext cx="228600" cy="247650"/>
                </a:xfrm>
                <a:custGeom>
                  <a:avLst/>
                  <a:gdLst/>
                  <a:ahLst/>
                  <a:cxnLst/>
                  <a:rect l="l" t="t" r="r" b="b"/>
                  <a:pathLst>
                    <a:path w="228600" h="247650">
                      <a:moveTo>
                        <a:pt x="114300" y="0"/>
                      </a:moveTo>
                      <a:cubicBezTo>
                        <a:pt x="50209" y="0"/>
                        <a:pt x="0" y="29289"/>
                        <a:pt x="0" y="66675"/>
                      </a:cubicBezTo>
                      <a:lnTo>
                        <a:pt x="0" y="180975"/>
                      </a:lnTo>
                      <a:cubicBezTo>
                        <a:pt x="0" y="218361"/>
                        <a:pt x="50209" y="247650"/>
                        <a:pt x="114300" y="247650"/>
                      </a:cubicBezTo>
                      <a:cubicBezTo>
                        <a:pt x="178391" y="247650"/>
                        <a:pt x="228600" y="218361"/>
                        <a:pt x="228600" y="180975"/>
                      </a:cubicBezTo>
                      <a:lnTo>
                        <a:pt x="228600" y="66675"/>
                      </a:lnTo>
                      <a:cubicBezTo>
                        <a:pt x="228600" y="29289"/>
                        <a:pt x="178391" y="0"/>
                        <a:pt x="114300" y="0"/>
                      </a:cubicBezTo>
                      <a:close/>
                      <a:moveTo>
                        <a:pt x="209550" y="123825"/>
                      </a:moveTo>
                      <a:cubicBezTo>
                        <a:pt x="209550" y="135279"/>
                        <a:pt x="200168" y="146959"/>
                        <a:pt x="183821" y="155877"/>
                      </a:cubicBezTo>
                      <a:cubicBezTo>
                        <a:pt x="165414" y="165914"/>
                        <a:pt x="140720" y="171450"/>
                        <a:pt x="114300" y="171450"/>
                      </a:cubicBezTo>
                      <a:cubicBezTo>
                        <a:pt x="87880" y="171450"/>
                        <a:pt x="63186" y="165914"/>
                        <a:pt x="44779" y="155877"/>
                      </a:cubicBezTo>
                      <a:cubicBezTo>
                        <a:pt x="28432" y="146959"/>
                        <a:pt x="19050" y="135279"/>
                        <a:pt x="19050" y="123825"/>
                      </a:cubicBezTo>
                      <a:lnTo>
                        <a:pt x="19050" y="104013"/>
                      </a:lnTo>
                      <a:cubicBezTo>
                        <a:pt x="39362" y="121872"/>
                        <a:pt x="74093" y="133350"/>
                        <a:pt x="114300" y="133350"/>
                      </a:cubicBezTo>
                      <a:cubicBezTo>
                        <a:pt x="154507" y="133350"/>
                        <a:pt x="189238" y="121825"/>
                        <a:pt x="209550" y="104013"/>
                      </a:cubicBezTo>
                      <a:close/>
                      <a:moveTo>
                        <a:pt x="44779" y="34623"/>
                      </a:moveTo>
                      <a:cubicBezTo>
                        <a:pt x="63186" y="24586"/>
                        <a:pt x="87880" y="19050"/>
                        <a:pt x="114300" y="19050"/>
                      </a:cubicBezTo>
                      <a:cubicBezTo>
                        <a:pt x="140720" y="19050"/>
                        <a:pt x="165414" y="24586"/>
                        <a:pt x="183821" y="34623"/>
                      </a:cubicBezTo>
                      <a:cubicBezTo>
                        <a:pt x="200168" y="43541"/>
                        <a:pt x="209550" y="55221"/>
                        <a:pt x="209550" y="66675"/>
                      </a:cubicBezTo>
                      <a:cubicBezTo>
                        <a:pt x="209550" y="78129"/>
                        <a:pt x="200168" y="89809"/>
                        <a:pt x="183821" y="98727"/>
                      </a:cubicBezTo>
                      <a:cubicBezTo>
                        <a:pt x="165414" y="108764"/>
                        <a:pt x="140720" y="114300"/>
                        <a:pt x="114300" y="114300"/>
                      </a:cubicBezTo>
                      <a:cubicBezTo>
                        <a:pt x="87880" y="114300"/>
                        <a:pt x="63186" y="108764"/>
                        <a:pt x="44779" y="98727"/>
                      </a:cubicBezTo>
                      <a:cubicBezTo>
                        <a:pt x="28432" y="89809"/>
                        <a:pt x="19050" y="78129"/>
                        <a:pt x="19050" y="66675"/>
                      </a:cubicBezTo>
                      <a:cubicBezTo>
                        <a:pt x="19050" y="55221"/>
                        <a:pt x="28432" y="43541"/>
                        <a:pt x="44779" y="34623"/>
                      </a:cubicBezTo>
                      <a:close/>
                      <a:moveTo>
                        <a:pt x="183821" y="213027"/>
                      </a:moveTo>
                      <a:cubicBezTo>
                        <a:pt x="165414" y="223064"/>
                        <a:pt x="140720" y="228600"/>
                        <a:pt x="114300" y="228600"/>
                      </a:cubicBezTo>
                      <a:cubicBezTo>
                        <a:pt x="87880" y="228600"/>
                        <a:pt x="63186" y="223064"/>
                        <a:pt x="44779" y="213027"/>
                      </a:cubicBezTo>
                      <a:cubicBezTo>
                        <a:pt x="28432" y="204109"/>
                        <a:pt x="19050" y="192429"/>
                        <a:pt x="19050" y="180975"/>
                      </a:cubicBezTo>
                      <a:lnTo>
                        <a:pt x="19050" y="161163"/>
                      </a:lnTo>
                      <a:cubicBezTo>
                        <a:pt x="39362" y="179022"/>
                        <a:pt x="74093" y="190500"/>
                        <a:pt x="114300" y="190500"/>
                      </a:cubicBezTo>
                      <a:cubicBezTo>
                        <a:pt x="154507" y="190500"/>
                        <a:pt x="189238" y="178975"/>
                        <a:pt x="209550" y="161163"/>
                      </a:cubicBezTo>
                      <a:lnTo>
                        <a:pt x="209550" y="180975"/>
                      </a:lnTo>
                      <a:cubicBezTo>
                        <a:pt x="209550" y="192429"/>
                        <a:pt x="200168" y="204109"/>
                        <a:pt x="183821" y="213027"/>
                      </a:cubicBezTo>
                      <a:close/>
                    </a:path>
                  </a:pathLst>
                </a:custGeom>
                <a:solidFill>
                  <a:schemeClr val="accent1"/>
                </a:solidFill>
                <a:ln>
                  <a:noFill/>
                </a:ln>
              </p:spPr>
            </p:sp>
          </p:grpSp>
          <p:sp>
            <p:nvSpPr>
              <p:cNvPr id="71" name="TextBox 71"/>
              <p:cNvSpPr txBox="1"/>
              <p:nvPr/>
            </p:nvSpPr>
            <p:spPr>
              <a:xfrm>
                <a:off x="6048756" y="4015740"/>
                <a:ext cx="1367027"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PostgreSQL</a:t>
                </a:r>
                <a:endParaRPr lang="vi-VN" sz="1800" b="1" dirty="0">
                  <a:solidFill>
                    <a:schemeClr val="dk1"/>
                  </a:solidFill>
                  <a:latin typeface="+mn-lt"/>
                  <a:ea typeface="+mn-ea"/>
                  <a:cs typeface="+mn-cs"/>
                </a:endParaRPr>
              </a:p>
            </p:txBody>
          </p:sp>
          <p:sp>
            <p:nvSpPr>
              <p:cNvPr id="72" name="TextBox 72"/>
              <p:cNvSpPr txBox="1"/>
              <p:nvPr/>
            </p:nvSpPr>
            <p:spPr>
              <a:xfrm>
                <a:off x="5650992" y="4350068"/>
                <a:ext cx="1770170" cy="473583"/>
              </a:xfrm>
              <a:prstGeom prst="rect">
                <a:avLst/>
              </a:prstGeom>
              <a:noFill/>
              <a:ln>
                <a:noFill/>
              </a:ln>
            </p:spPr>
            <p:txBody>
              <a:bodyPr wrap="none" lIns="0" tIns="0" rIns="0" bIns="0" anchor="t" anchorCtr="0">
                <a:spAutoFit/>
              </a:bodyPr>
              <a:lstStyle/>
              <a:p>
                <a:pPr algn="l">
                  <a:lnSpc>
                    <a:spcPts val="1650"/>
                  </a:lnSpc>
                </a:pPr>
                <a:r>
                  <a:rPr lang="vi-VN" sz="1350" dirty="0">
                    <a:solidFill>
                      <a:schemeClr val="accent5"/>
                    </a:solidFill>
                    <a:latin typeface="+mn-lt"/>
                    <a:ea typeface="+mn-ea"/>
                    <a:cs typeface="+mn-cs"/>
                  </a:rPr>
                  <a:t>bài hát, điểm yêu thích,</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lịch sử cảm xúc</a:t>
                </a:r>
                <a:endParaRPr lang="vi-VN" sz="1350" dirty="0">
                  <a:solidFill>
                    <a:schemeClr val="accent5"/>
                  </a:solidFill>
                  <a:latin typeface="+mn-lt"/>
                  <a:ea typeface="+mn-ea"/>
                  <a:cs typeface="+mn-cs"/>
                </a:endParaRPr>
              </a:p>
            </p:txBody>
          </p:sp>
        </p:grpSp>
        <p:grpSp>
          <p:nvGrpSpPr>
            <p:cNvPr id="76" name="takeaway"/>
            <p:cNvGrpSpPr/>
            <p:nvPr/>
          </p:nvGrpSpPr>
          <p:grpSpPr>
            <a:xfrm>
              <a:off x="8610600" y="3848100"/>
              <a:ext cx="2204809" cy="1034034"/>
              <a:chOff x="8610600" y="3848100"/>
              <a:chExt cx="2204809" cy="1034034"/>
            </a:xfrm>
          </p:grpSpPr>
          <p:sp>
            <p:nvSpPr>
              <p:cNvPr id="74" name="Rectangle 74"/>
              <p:cNvSpPr/>
              <p:nvPr/>
            </p:nvSpPr>
            <p:spPr>
              <a:xfrm>
                <a:off x="8610600" y="3848100"/>
                <a:ext cx="38100" cy="914400"/>
              </a:xfrm>
              <a:prstGeom prst="rect">
                <a:avLst/>
              </a:prstGeom>
              <a:solidFill>
                <a:schemeClr val="accent2"/>
              </a:solidFill>
              <a:ln>
                <a:noFill/>
              </a:ln>
            </p:spPr>
          </p:sp>
          <p:sp>
            <p:nvSpPr>
              <p:cNvPr id="75" name="TextBox 75"/>
              <p:cNvSpPr txBox="1"/>
              <p:nvPr/>
            </p:nvSpPr>
            <p:spPr>
              <a:xfrm>
                <a:off x="8791956" y="3882390"/>
                <a:ext cx="2023453" cy="99974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Mỗi khối một việc:</a:t>
                </a:r>
                <a:br>
                  <a:rPr lang="vi-VN" sz="1800" b="1" dirty="0">
                    <a:solidFill>
                      <a:schemeClr val="dk1"/>
                    </a:solidFill>
                    <a:latin typeface="+mn-lt"/>
                    <a:ea typeface="+mn-ea"/>
                    <a:cs typeface="+mn-cs"/>
                  </a:rPr>
                </a:br>
                <a:r>
                  <a:rPr lang="vi-VN" sz="1800" dirty="0">
                    <a:solidFill>
                      <a:schemeClr val="dk1"/>
                    </a:solidFill>
                    <a:latin typeface="+mn-lt"/>
                    <a:ea typeface="+mn-ea"/>
                    <a:cs typeface="+mn-cs"/>
                  </a:rPr>
                  <a:t>đèn/nút lỗi thì</a:t>
                </a:r>
                <a:br>
                  <a:rPr lang="vi-VN" sz="1800" dirty="0">
                    <a:solidFill>
                      <a:schemeClr val="dk1"/>
                    </a:solidFill>
                    <a:latin typeface="+mn-lt"/>
                    <a:ea typeface="+mn-ea"/>
                    <a:cs typeface="+mn-cs"/>
                  </a:rPr>
                </a:br>
                <a:r>
                  <a:rPr lang="vi-VN" sz="1800" dirty="0">
                    <a:solidFill>
                      <a:schemeClr val="dk1"/>
                    </a:solidFill>
                    <a:latin typeface="+mn-lt"/>
                    <a:ea typeface="+mn-ea"/>
                    <a:cs typeface="+mn-cs"/>
                  </a:rPr>
                  <a:t>nhạc vẫn chạy</a:t>
                </a:r>
                <a:endParaRPr lang="vi-VN" sz="1800" dirty="0">
                  <a:solidFill>
                    <a:schemeClr val="dk1"/>
                  </a:solidFill>
                  <a:latin typeface="+mn-lt"/>
                  <a:ea typeface="+mn-ea"/>
                  <a:cs typeface="+mn-cs"/>
                </a:endParaRPr>
              </a:p>
            </p:txBody>
          </p:sp>
        </p:grpSp>
      </p:grpSp>
      <p:grpSp>
        <p:nvGrpSpPr>
          <p:cNvPr id="84" name="hw-led"/>
          <p:cNvGrpSpPr/>
          <p:nvPr/>
        </p:nvGrpSpPr>
        <p:grpSpPr>
          <a:xfrm>
            <a:off x="2324100" y="5181600"/>
            <a:ext cx="2476500" cy="952500"/>
            <a:chOff x="2324100" y="5181600"/>
            <a:chExt cx="2476500" cy="952500"/>
          </a:xfrm>
        </p:grpSpPr>
        <p:sp>
          <p:nvSpPr>
            <p:cNvPr id="78" name="Line 78"/>
            <p:cNvSpPr/>
            <p:nvPr/>
          </p:nvSpPr>
          <p:spPr>
            <a:xfrm>
              <a:off x="3562350" y="5181600"/>
              <a:ext cx="1" cy="323850"/>
            </a:xfrm>
            <a:prstGeom prst="line">
              <a:avLst/>
            </a:prstGeom>
            <a:noFill/>
            <a:ln w="19050">
              <a:solidFill>
                <a:schemeClr val="accent1"/>
              </a:solidFill>
              <a:tailEnd type="triangle" w="lg" len="lg"/>
            </a:ln>
          </p:spPr>
        </p:sp>
        <p:sp>
          <p:nvSpPr>
            <p:cNvPr id="79" name="Rectangle 79"/>
            <p:cNvSpPr/>
            <p:nvPr/>
          </p:nvSpPr>
          <p:spPr>
            <a:xfrm>
              <a:off x="2324100" y="5524500"/>
              <a:ext cx="2476500" cy="609600"/>
            </a:xfrm>
            <a:prstGeom prst="roundRect">
              <a:avLst>
                <a:gd name="adj" fmla="val 18750"/>
              </a:avLst>
            </a:prstGeom>
            <a:solidFill>
              <a:schemeClr val="lt2"/>
            </a:solidFill>
            <a:ln w="14288">
              <a:solidFill>
                <a:schemeClr val="accent6"/>
              </a:solidFill>
            </a:ln>
          </p:spPr>
        </p:sp>
        <p:grpSp>
          <p:nvGrpSpPr>
            <p:cNvPr id="82" name="Group 82"/>
            <p:cNvGrpSpPr/>
            <p:nvPr/>
          </p:nvGrpSpPr>
          <p:grpSpPr>
            <a:xfrm>
              <a:off x="2536951" y="5712024"/>
              <a:ext cx="183700" cy="233958"/>
              <a:chOff x="2536951" y="5712024"/>
              <a:chExt cx="183700" cy="233958"/>
            </a:xfrm>
          </p:grpSpPr>
          <p:sp>
            <p:nvSpPr>
              <p:cNvPr id="80" name="Freeform 80"/>
              <p:cNvSpPr/>
              <p:nvPr/>
            </p:nvSpPr>
            <p:spPr>
              <a:xfrm>
                <a:off x="2545306" y="5720411"/>
                <a:ext cx="166960" cy="183898"/>
              </a:xfrm>
              <a:custGeom>
                <a:avLst/>
                <a:gdLst/>
                <a:ahLst/>
                <a:cxnLst/>
                <a:rect l="l" t="t" r="r" b="b"/>
                <a:pathLst>
                  <a:path w="166960" h="183898">
                    <a:moveTo>
                      <a:pt x="166938" y="83886"/>
                    </a:moveTo>
                    <a:cubicBezTo>
                      <a:pt x="166960" y="109474"/>
                      <a:pt x="155207" y="133649"/>
                      <a:pt x="135069" y="149435"/>
                    </a:cubicBezTo>
                    <a:cubicBezTo>
                      <a:pt x="128919" y="154202"/>
                      <a:pt x="125304" y="161532"/>
                      <a:pt x="125266" y="169313"/>
                    </a:cubicBezTo>
                    <a:lnTo>
                      <a:pt x="125266" y="175564"/>
                    </a:lnTo>
                    <a:cubicBezTo>
                      <a:pt x="125266" y="180167"/>
                      <a:pt x="121534" y="183898"/>
                      <a:pt x="116931" y="183898"/>
                    </a:cubicBezTo>
                    <a:lnTo>
                      <a:pt x="50256" y="183898"/>
                    </a:lnTo>
                    <a:cubicBezTo>
                      <a:pt x="45653" y="183898"/>
                      <a:pt x="41922" y="180167"/>
                      <a:pt x="41922" y="175564"/>
                    </a:cubicBezTo>
                    <a:lnTo>
                      <a:pt x="41922" y="169313"/>
                    </a:lnTo>
                    <a:cubicBezTo>
                      <a:pt x="41914" y="161575"/>
                      <a:pt x="38339" y="154272"/>
                      <a:pt x="32233" y="149519"/>
                    </a:cubicBezTo>
                    <a:cubicBezTo>
                      <a:pt x="12160" y="133838"/>
                      <a:pt x="375" y="109826"/>
                      <a:pt x="250" y="84354"/>
                    </a:cubicBezTo>
                    <a:cubicBezTo>
                      <a:pt x="0" y="39182"/>
                      <a:pt x="36421" y="1584"/>
                      <a:pt x="81583" y="542"/>
                    </a:cubicBezTo>
                    <a:cubicBezTo>
                      <a:pt x="104034" y="0"/>
                      <a:pt x="125753" y="8541"/>
                      <a:pt x="141820" y="24230"/>
                    </a:cubicBezTo>
                    <a:cubicBezTo>
                      <a:pt x="157888" y="39919"/>
                      <a:pt x="166944" y="61429"/>
                      <a:pt x="166938" y="83886"/>
                    </a:cubicBezTo>
                    <a:close/>
                  </a:path>
                </a:pathLst>
              </a:custGeom>
              <a:solidFill>
                <a:schemeClr val="accent2">
                  <a:alpha val="20000"/>
                </a:schemeClr>
              </a:solidFill>
              <a:ln>
                <a:noFill/>
              </a:ln>
            </p:spPr>
          </p:sp>
          <p:sp>
            <p:nvSpPr>
              <p:cNvPr id="81" name="Freeform 81"/>
              <p:cNvSpPr/>
              <p:nvPr/>
            </p:nvSpPr>
            <p:spPr>
              <a:xfrm>
                <a:off x="2536951" y="5712024"/>
                <a:ext cx="183700" cy="233958"/>
              </a:xfrm>
              <a:custGeom>
                <a:avLst/>
                <a:gdLst/>
                <a:ahLst/>
                <a:cxnLst/>
                <a:rect l="l" t="t" r="r" b="b"/>
                <a:pathLst>
                  <a:path w="183700" h="233958">
                    <a:moveTo>
                      <a:pt x="141955" y="225623"/>
                    </a:moveTo>
                    <a:cubicBezTo>
                      <a:pt x="141955" y="230226"/>
                      <a:pt x="138224" y="233958"/>
                      <a:pt x="133621" y="233958"/>
                    </a:cubicBezTo>
                    <a:lnTo>
                      <a:pt x="50277" y="233958"/>
                    </a:lnTo>
                    <a:cubicBezTo>
                      <a:pt x="45674" y="233958"/>
                      <a:pt x="41943" y="230226"/>
                      <a:pt x="41943" y="225623"/>
                    </a:cubicBezTo>
                    <a:cubicBezTo>
                      <a:pt x="41943" y="221020"/>
                      <a:pt x="45674" y="217289"/>
                      <a:pt x="50277" y="217289"/>
                    </a:cubicBezTo>
                    <a:lnTo>
                      <a:pt x="133621" y="217289"/>
                    </a:lnTo>
                    <a:cubicBezTo>
                      <a:pt x="138224" y="217289"/>
                      <a:pt x="141955" y="221020"/>
                      <a:pt x="141955" y="225623"/>
                    </a:cubicBezTo>
                    <a:close/>
                    <a:moveTo>
                      <a:pt x="183627" y="92273"/>
                    </a:moveTo>
                    <a:cubicBezTo>
                      <a:pt x="183700" y="120428"/>
                      <a:pt x="170766" y="147039"/>
                      <a:pt x="148581" y="164376"/>
                    </a:cubicBezTo>
                    <a:cubicBezTo>
                      <a:pt x="144433" y="167556"/>
                      <a:pt x="141987" y="172474"/>
                      <a:pt x="141955" y="177701"/>
                    </a:cubicBezTo>
                    <a:lnTo>
                      <a:pt x="141955" y="183951"/>
                    </a:lnTo>
                    <a:cubicBezTo>
                      <a:pt x="141955" y="193157"/>
                      <a:pt x="134492" y="200620"/>
                      <a:pt x="125286" y="200620"/>
                    </a:cubicBezTo>
                    <a:lnTo>
                      <a:pt x="58611" y="200620"/>
                    </a:lnTo>
                    <a:cubicBezTo>
                      <a:pt x="49406" y="200620"/>
                      <a:pt x="41943" y="193157"/>
                      <a:pt x="41943" y="183951"/>
                    </a:cubicBezTo>
                    <a:lnTo>
                      <a:pt x="41943" y="177701"/>
                    </a:lnTo>
                    <a:cubicBezTo>
                      <a:pt x="41939" y="172536"/>
                      <a:pt x="39542" y="167665"/>
                      <a:pt x="35452" y="164511"/>
                    </a:cubicBezTo>
                    <a:cubicBezTo>
                      <a:pt x="13326" y="147279"/>
                      <a:pt x="352" y="120829"/>
                      <a:pt x="271" y="92784"/>
                    </a:cubicBezTo>
                    <a:cubicBezTo>
                      <a:pt x="0" y="43132"/>
                      <a:pt x="40130" y="1783"/>
                      <a:pt x="89740" y="595"/>
                    </a:cubicBezTo>
                    <a:cubicBezTo>
                      <a:pt x="114435" y="0"/>
                      <a:pt x="138325" y="9396"/>
                      <a:pt x="155999" y="26653"/>
                    </a:cubicBezTo>
                    <a:cubicBezTo>
                      <a:pt x="173673" y="43911"/>
                      <a:pt x="183634" y="67571"/>
                      <a:pt x="183627" y="92273"/>
                    </a:cubicBezTo>
                    <a:close/>
                    <a:moveTo>
                      <a:pt x="166958" y="92273"/>
                    </a:moveTo>
                    <a:cubicBezTo>
                      <a:pt x="166964" y="72061"/>
                      <a:pt x="158813" y="52703"/>
                      <a:pt x="144352" y="38582"/>
                    </a:cubicBezTo>
                    <a:cubicBezTo>
                      <a:pt x="129890" y="24462"/>
                      <a:pt x="110342" y="16775"/>
                      <a:pt x="90136" y="17264"/>
                    </a:cubicBezTo>
                    <a:cubicBezTo>
                      <a:pt x="49506" y="18222"/>
                      <a:pt x="16721" y="52049"/>
                      <a:pt x="16940" y="92680"/>
                    </a:cubicBezTo>
                    <a:cubicBezTo>
                      <a:pt x="17017" y="115616"/>
                      <a:pt x="27635" y="137244"/>
                      <a:pt x="45735" y="151333"/>
                    </a:cubicBezTo>
                    <a:cubicBezTo>
                      <a:pt x="53873" y="157659"/>
                      <a:pt x="58626" y="167393"/>
                      <a:pt x="58611" y="177701"/>
                    </a:cubicBezTo>
                    <a:lnTo>
                      <a:pt x="58611" y="183951"/>
                    </a:lnTo>
                    <a:lnTo>
                      <a:pt x="125286" y="183951"/>
                    </a:lnTo>
                    <a:lnTo>
                      <a:pt x="125286" y="177701"/>
                    </a:lnTo>
                    <a:cubicBezTo>
                      <a:pt x="125310" y="167364"/>
                      <a:pt x="130104" y="157618"/>
                      <a:pt x="138278" y="151291"/>
                    </a:cubicBezTo>
                    <a:cubicBezTo>
                      <a:pt x="156436" y="137100"/>
                      <a:pt x="167021" y="115318"/>
                      <a:pt x="166958" y="92273"/>
                    </a:cubicBezTo>
                    <a:close/>
                    <a:moveTo>
                      <a:pt x="150175" y="82543"/>
                    </a:moveTo>
                    <a:cubicBezTo>
                      <a:pt x="145749" y="57819"/>
                      <a:pt x="126393" y="38468"/>
                      <a:pt x="101669" y="34047"/>
                    </a:cubicBezTo>
                    <a:cubicBezTo>
                      <a:pt x="97129" y="33282"/>
                      <a:pt x="92829" y="36342"/>
                      <a:pt x="92064" y="40881"/>
                    </a:cubicBezTo>
                    <a:cubicBezTo>
                      <a:pt x="91298" y="45421"/>
                      <a:pt x="94358" y="49722"/>
                      <a:pt x="98898" y="50487"/>
                    </a:cubicBezTo>
                    <a:cubicBezTo>
                      <a:pt x="116160" y="53393"/>
                      <a:pt x="130808" y="68041"/>
                      <a:pt x="133735" y="85335"/>
                    </a:cubicBezTo>
                    <a:cubicBezTo>
                      <a:pt x="134416" y="89343"/>
                      <a:pt x="137890" y="92275"/>
                      <a:pt x="141955" y="92273"/>
                    </a:cubicBezTo>
                    <a:cubicBezTo>
                      <a:pt x="142426" y="92270"/>
                      <a:pt x="142896" y="92232"/>
                      <a:pt x="143362" y="92159"/>
                    </a:cubicBezTo>
                    <a:cubicBezTo>
                      <a:pt x="147898" y="91384"/>
                      <a:pt x="150948" y="87079"/>
                      <a:pt x="150175" y="82543"/>
                    </a:cubicBezTo>
                    <a:close/>
                  </a:path>
                </a:pathLst>
              </a:custGeom>
              <a:solidFill>
                <a:schemeClr val="accent2"/>
              </a:solidFill>
              <a:ln>
                <a:noFill/>
              </a:ln>
            </p:spPr>
          </p:sp>
        </p:grpSp>
        <p:sp>
          <p:nvSpPr>
            <p:cNvPr id="83" name="TextBox 83"/>
            <p:cNvSpPr txBox="1"/>
            <p:nvPr/>
          </p:nvSpPr>
          <p:spPr>
            <a:xfrm>
              <a:off x="2867406" y="5711190"/>
              <a:ext cx="1860157"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LED RGB + 2 nút</a:t>
              </a:r>
              <a:endParaRPr lang="vi-VN" sz="1800" dirty="0">
                <a:solidFill>
                  <a:schemeClr val="dk1"/>
                </a:solidFill>
                <a:latin typeface="+mn-lt"/>
                <a:ea typeface="+mn-ea"/>
                <a:cs typeface="+mn-cs"/>
              </a:endParaRPr>
            </a:p>
          </p:txBody>
        </p:sp>
      </p:grpSp>
      <p:grpSp>
        <p:nvGrpSpPr>
          <p:cNvPr id="86" name="hw-summary"/>
          <p:cNvGrpSpPr/>
          <p:nvPr/>
        </p:nvGrpSpPr>
        <p:grpSpPr>
          <a:xfrm>
            <a:off x="5458206" y="5577840"/>
            <a:ext cx="5274031" cy="675894"/>
            <a:chOff x="5458206" y="5577840"/>
            <a:chExt cx="5274031" cy="675894"/>
          </a:xfrm>
        </p:grpSpPr>
        <p:sp>
          <p:nvSpPr>
            <p:cNvPr id="85" name="TextBox 85"/>
            <p:cNvSpPr txBox="1"/>
            <p:nvPr/>
          </p:nvSpPr>
          <p:spPr>
            <a:xfrm>
              <a:off x="5458206" y="5577840"/>
              <a:ext cx="5274031" cy="67589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Phần cứng:</a:t>
              </a:r>
              <a:r>
                <a:rPr lang="vi-VN" sz="1800" dirty="0">
                  <a:solidFill>
                    <a:schemeClr val="accent5"/>
                  </a:solidFill>
                  <a:latin typeface="+mn-lt"/>
                  <a:ea typeface="+mn-ea"/>
                  <a:cs typeface="+mn-cs"/>
                </a:rPr>
                <a:t> Raspberry Pi 5 · Webcam Logitech C270</a:t>
              </a:r>
              <a:br>
                <a:rPr lang="vi-VN" sz="1800" dirty="0">
                  <a:solidFill>
                    <a:schemeClr val="accent5"/>
                  </a:solidFill>
                  <a:latin typeface="+mn-lt"/>
                  <a:ea typeface="+mn-ea"/>
                  <a:cs typeface="+mn-cs"/>
                </a:rPr>
              </a:br>
              <a:r>
                <a:rPr lang="vi-VN" sz="1800" dirty="0">
                  <a:solidFill>
                    <a:schemeClr val="accent5"/>
                  </a:solidFill>
                  <a:latin typeface="+mn-lt"/>
                  <a:ea typeface="+mn-ea"/>
                  <a:cs typeface="+mn-cs"/>
                </a:rPr>
                <a:t>Loa Bluetooth · LED RGB + 2 nút bấm</a:t>
              </a:r>
              <a:endParaRPr lang="vi-VN" sz="1800" dirty="0">
                <a:solidFill>
                  <a:schemeClr val="accent5"/>
                </a:solidFill>
                <a:latin typeface="+mn-lt"/>
                <a:ea typeface="+mn-ea"/>
                <a:cs typeface="+mn-cs"/>
              </a:endParaRPr>
            </a:p>
          </p:txBody>
        </p:sp>
      </p:grpSp>
      <p:sp>
        <p:nvSpPr>
          <p:cNvPr id="87" name="TextBox 87"/>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03 / 13</a:t>
            </a:r>
            <a:endParaRPr lang="vi-VN" sz="1200" dirty="0">
              <a:solidFill>
                <a:schemeClr val="accent5"/>
              </a:solidFill>
              <a:latin typeface="Consolas" panose="020B0609020204030204"/>
              <a:ea typeface="Consolas" panose="020B0609020204030204"/>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3025445" cy="849630"/>
            <a:chOff x="594360" y="422910"/>
            <a:chExt cx="3025445" cy="849630"/>
          </a:xfrm>
        </p:grpSpPr>
        <p:sp>
          <p:nvSpPr>
            <p:cNvPr id="2" name="TextBox 2"/>
            <p:cNvSpPr txBox="1"/>
            <p:nvPr/>
          </p:nvSpPr>
          <p:spPr>
            <a:xfrm>
              <a:off x="603504" y="422910"/>
              <a:ext cx="301630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PHẦN 2 · CÁCH HỆ THỐNG HOẠT ĐỘNG</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3" name="TextBox 3"/>
            <p:cNvSpPr txBox="1"/>
            <p:nvPr/>
          </p:nvSpPr>
          <p:spPr>
            <a:xfrm>
              <a:off x="594360" y="685800"/>
              <a:ext cx="3016829"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Flow hoạt động</a:t>
              </a:r>
              <a:endParaRPr lang="vi-VN" sz="3000" b="1" dirty="0">
                <a:solidFill>
                  <a:schemeClr val="dk1"/>
                </a:solidFill>
                <a:latin typeface="+mn-lt"/>
                <a:ea typeface="+mn-ea"/>
                <a:cs typeface="+mn-cs"/>
              </a:endParaRP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42" name="flow-spine"/>
          <p:cNvGrpSpPr/>
          <p:nvPr/>
        </p:nvGrpSpPr>
        <p:grpSpPr>
          <a:xfrm>
            <a:off x="714375" y="1752600"/>
            <a:ext cx="10763250" cy="609600"/>
            <a:chOff x="714375" y="1752600"/>
            <a:chExt cx="10763250" cy="609600"/>
          </a:xfrm>
        </p:grpSpPr>
        <p:sp>
          <p:nvSpPr>
            <p:cNvPr id="11" name="Freeform 11"/>
            <p:cNvSpPr/>
            <p:nvPr/>
          </p:nvSpPr>
          <p:spPr>
            <a:xfrm>
              <a:off x="714375" y="1752600"/>
              <a:ext cx="2000250" cy="609600"/>
            </a:xfrm>
            <a:prstGeom prst="homePlate">
              <a:avLst/>
            </a:prstGeom>
            <a:solidFill>
              <a:schemeClr val="lt2"/>
            </a:solidFill>
            <a:ln w="14288">
              <a:solidFill>
                <a:schemeClr val="accent1"/>
              </a:solidFill>
            </a:ln>
          </p:spPr>
        </p:sp>
        <p:sp>
          <p:nvSpPr>
            <p:cNvPr id="12" name="Freeform 12"/>
            <p:cNvSpPr/>
            <p:nvPr/>
          </p:nvSpPr>
          <p:spPr>
            <a:xfrm>
              <a:off x="2466975" y="1752600"/>
              <a:ext cx="2000250" cy="609600"/>
            </a:xfrm>
            <a:prstGeom prst="chevron">
              <a:avLst/>
            </a:prstGeom>
            <a:solidFill>
              <a:schemeClr val="lt2"/>
            </a:solidFill>
            <a:ln w="14288">
              <a:solidFill>
                <a:schemeClr val="accent1"/>
              </a:solidFill>
            </a:ln>
          </p:spPr>
        </p:sp>
        <p:sp>
          <p:nvSpPr>
            <p:cNvPr id="13" name="Freeform 13"/>
            <p:cNvSpPr/>
            <p:nvPr/>
          </p:nvSpPr>
          <p:spPr>
            <a:xfrm>
              <a:off x="4219575" y="1752600"/>
              <a:ext cx="2000250" cy="609600"/>
            </a:xfrm>
            <a:prstGeom prst="chevron">
              <a:avLst/>
            </a:prstGeom>
            <a:solidFill>
              <a:schemeClr val="lt2"/>
            </a:solidFill>
            <a:ln w="14288">
              <a:solidFill>
                <a:schemeClr val="accent2"/>
              </a:solidFill>
            </a:ln>
          </p:spPr>
        </p:sp>
        <p:sp>
          <p:nvSpPr>
            <p:cNvPr id="14" name="Freeform 14"/>
            <p:cNvSpPr/>
            <p:nvPr/>
          </p:nvSpPr>
          <p:spPr>
            <a:xfrm>
              <a:off x="5972175" y="1752600"/>
              <a:ext cx="2000250" cy="609600"/>
            </a:xfrm>
            <a:prstGeom prst="chevron">
              <a:avLst/>
            </a:prstGeom>
            <a:solidFill>
              <a:schemeClr val="lt2"/>
            </a:solidFill>
            <a:ln w="14288">
              <a:solidFill>
                <a:schemeClr val="accent1"/>
              </a:solidFill>
            </a:ln>
          </p:spPr>
        </p:sp>
        <p:sp>
          <p:nvSpPr>
            <p:cNvPr id="15" name="Freeform 15"/>
            <p:cNvSpPr/>
            <p:nvPr/>
          </p:nvSpPr>
          <p:spPr>
            <a:xfrm>
              <a:off x="7724775" y="1752600"/>
              <a:ext cx="2000250" cy="609600"/>
            </a:xfrm>
            <a:prstGeom prst="chevron">
              <a:avLst/>
            </a:prstGeom>
            <a:solidFill>
              <a:schemeClr val="lt2"/>
            </a:solidFill>
            <a:ln w="14288">
              <a:solidFill>
                <a:schemeClr val="accent1"/>
              </a:solidFill>
            </a:ln>
          </p:spPr>
        </p:sp>
        <p:sp>
          <p:nvSpPr>
            <p:cNvPr id="16" name="Freeform 16"/>
            <p:cNvSpPr/>
            <p:nvPr/>
          </p:nvSpPr>
          <p:spPr>
            <a:xfrm>
              <a:off x="9477375" y="1752600"/>
              <a:ext cx="2000250" cy="609600"/>
            </a:xfrm>
            <a:prstGeom prst="chevron">
              <a:avLst/>
            </a:prstGeom>
            <a:solidFill>
              <a:schemeClr val="lt2"/>
            </a:solidFill>
            <a:ln w="14288">
              <a:solidFill>
                <a:schemeClr val="accent1"/>
              </a:solidFill>
            </a:ln>
          </p:spPr>
        </p:sp>
        <p:grpSp>
          <p:nvGrpSpPr>
            <p:cNvPr id="23" name="spine-labels"/>
            <p:cNvGrpSpPr/>
            <p:nvPr/>
          </p:nvGrpSpPr>
          <p:grpSpPr>
            <a:xfrm>
              <a:off x="936879" y="1985010"/>
              <a:ext cx="9143390" cy="234696"/>
              <a:chOff x="936879" y="1985010"/>
              <a:chExt cx="9143390" cy="234696"/>
            </a:xfrm>
          </p:grpSpPr>
          <p:sp>
            <p:nvSpPr>
              <p:cNvPr id="17" name="TextBox 17"/>
              <p:cNvSpPr txBox="1"/>
              <p:nvPr/>
            </p:nvSpPr>
            <p:spPr>
              <a:xfrm>
                <a:off x="936879" y="1985010"/>
                <a:ext cx="18989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01</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18" name="TextBox 18"/>
              <p:cNvSpPr txBox="1"/>
              <p:nvPr/>
            </p:nvSpPr>
            <p:spPr>
              <a:xfrm>
                <a:off x="2879979" y="1985010"/>
                <a:ext cx="18989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02</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19" name="TextBox 19"/>
              <p:cNvSpPr txBox="1"/>
              <p:nvPr/>
            </p:nvSpPr>
            <p:spPr>
              <a:xfrm>
                <a:off x="4632579" y="1985010"/>
                <a:ext cx="189890" cy="234696"/>
              </a:xfrm>
              <a:prstGeom prst="rect">
                <a:avLst/>
              </a:prstGeom>
              <a:noFill/>
              <a:ln>
                <a:noFill/>
              </a:ln>
            </p:spPr>
            <p:txBody>
              <a:bodyPr wrap="none" lIns="0" tIns="0" rIns="0" bIns="0" anchor="t" anchorCtr="0">
                <a:spAutoFit/>
              </a:bodyPr>
              <a:lstStyle/>
              <a:p>
                <a:pPr algn="l"/>
                <a:r>
                  <a:rPr lang="vi-VN" sz="1200" dirty="0">
                    <a:solidFill>
                      <a:schemeClr val="accent2"/>
                    </a:solidFill>
                    <a:latin typeface="Consolas" panose="020B0609020204030204"/>
                    <a:ea typeface="Consolas" panose="020B0609020204030204"/>
                    <a:cs typeface="Consolas" panose="020B0609020204030204"/>
                  </a:rPr>
                  <a:t>03</a:t>
                </a:r>
                <a:endParaRPr lang="vi-VN" sz="1200" dirty="0">
                  <a:solidFill>
                    <a:schemeClr val="accent2"/>
                  </a:solidFill>
                  <a:latin typeface="Consolas" panose="020B0609020204030204"/>
                  <a:ea typeface="Consolas" panose="020B0609020204030204"/>
                  <a:cs typeface="Consolas" panose="020B0609020204030204"/>
                </a:endParaRPr>
              </a:p>
            </p:txBody>
          </p:sp>
          <p:sp>
            <p:nvSpPr>
              <p:cNvPr id="20" name="TextBox 20"/>
              <p:cNvSpPr txBox="1"/>
              <p:nvPr/>
            </p:nvSpPr>
            <p:spPr>
              <a:xfrm>
                <a:off x="6385179" y="1985010"/>
                <a:ext cx="18989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04</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21" name="TextBox 21"/>
              <p:cNvSpPr txBox="1"/>
              <p:nvPr/>
            </p:nvSpPr>
            <p:spPr>
              <a:xfrm>
                <a:off x="8137779" y="1985010"/>
                <a:ext cx="18989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05</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22" name="TextBox 22"/>
              <p:cNvSpPr txBox="1"/>
              <p:nvPr/>
            </p:nvSpPr>
            <p:spPr>
              <a:xfrm>
                <a:off x="9890379" y="1985010"/>
                <a:ext cx="18989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06</a:t>
                </a:r>
                <a:endParaRPr lang="vi-VN" sz="1200" dirty="0">
                  <a:solidFill>
                    <a:schemeClr val="accent1"/>
                  </a:solidFill>
                  <a:latin typeface="Consolas" panose="020B0609020204030204"/>
                  <a:ea typeface="Consolas" panose="020B0609020204030204"/>
                  <a:cs typeface="Consolas" panose="020B0609020204030204"/>
                </a:endParaRPr>
              </a:p>
            </p:txBody>
          </p:sp>
        </p:grpSp>
        <p:grpSp>
          <p:nvGrpSpPr>
            <p:cNvPr id="26" name="Group 26"/>
            <p:cNvGrpSpPr/>
            <p:nvPr/>
          </p:nvGrpSpPr>
          <p:grpSpPr>
            <a:xfrm>
              <a:off x="1315006" y="1940719"/>
              <a:ext cx="204232" cy="233362"/>
              <a:chOff x="1315006" y="1940719"/>
              <a:chExt cx="204232" cy="233362"/>
            </a:xfrm>
          </p:grpSpPr>
          <p:sp>
            <p:nvSpPr>
              <p:cNvPr id="24" name="Freeform 24"/>
              <p:cNvSpPr/>
              <p:nvPr/>
            </p:nvSpPr>
            <p:spPr>
              <a:xfrm>
                <a:off x="1324678" y="1949053"/>
                <a:ext cx="186225" cy="216694"/>
              </a:xfrm>
              <a:custGeom>
                <a:avLst/>
                <a:gdLst/>
                <a:ahLst/>
                <a:cxnLst/>
                <a:rect l="l" t="t" r="r" b="b"/>
                <a:pathLst>
                  <a:path w="186225" h="216694">
                    <a:moveTo>
                      <a:pt x="186225" y="95845"/>
                    </a:moveTo>
                    <a:lnTo>
                      <a:pt x="186225" y="133350"/>
                    </a:lnTo>
                    <a:cubicBezTo>
                      <a:pt x="186225" y="179379"/>
                      <a:pt x="148911" y="216694"/>
                      <a:pt x="102881" y="216694"/>
                    </a:cubicBezTo>
                    <a:cubicBezTo>
                      <a:pt x="56855" y="216694"/>
                      <a:pt x="44739" y="191691"/>
                      <a:pt x="5661" y="122932"/>
                    </a:cubicBezTo>
                    <a:cubicBezTo>
                      <a:pt x="0" y="112975"/>
                      <a:pt x="3437" y="100316"/>
                      <a:pt x="13356" y="94589"/>
                    </a:cubicBezTo>
                    <a:cubicBezTo>
                      <a:pt x="23275" y="88863"/>
                      <a:pt x="35956" y="92215"/>
                      <a:pt x="41749" y="102096"/>
                    </a:cubicBezTo>
                    <a:lnTo>
                      <a:pt x="61210" y="133350"/>
                    </a:lnTo>
                    <a:lnTo>
                      <a:pt x="61210" y="20836"/>
                    </a:lnTo>
                    <a:cubicBezTo>
                      <a:pt x="61210" y="9329"/>
                      <a:pt x="70538" y="0"/>
                      <a:pt x="82045" y="0"/>
                    </a:cubicBezTo>
                    <a:cubicBezTo>
                      <a:pt x="93553" y="0"/>
                      <a:pt x="102881" y="9329"/>
                      <a:pt x="102881" y="20836"/>
                    </a:cubicBezTo>
                    <a:lnTo>
                      <a:pt x="102881" y="79177"/>
                    </a:lnTo>
                    <a:cubicBezTo>
                      <a:pt x="102881" y="67669"/>
                      <a:pt x="112210" y="58341"/>
                      <a:pt x="123717" y="58341"/>
                    </a:cubicBezTo>
                    <a:cubicBezTo>
                      <a:pt x="135225" y="58341"/>
                      <a:pt x="144553" y="67669"/>
                      <a:pt x="144553" y="79177"/>
                    </a:cubicBezTo>
                    <a:lnTo>
                      <a:pt x="144553" y="95845"/>
                    </a:lnTo>
                    <a:cubicBezTo>
                      <a:pt x="144553" y="84338"/>
                      <a:pt x="153882" y="75009"/>
                      <a:pt x="165389" y="75009"/>
                    </a:cubicBezTo>
                    <a:cubicBezTo>
                      <a:pt x="176897" y="75009"/>
                      <a:pt x="186225" y="84338"/>
                      <a:pt x="186225" y="95845"/>
                    </a:cubicBezTo>
                    <a:close/>
                  </a:path>
                </a:pathLst>
              </a:custGeom>
              <a:solidFill>
                <a:schemeClr val="dk1">
                  <a:alpha val="20000"/>
                </a:schemeClr>
              </a:solidFill>
              <a:ln>
                <a:noFill/>
              </a:ln>
            </p:spPr>
          </p:sp>
          <p:sp>
            <p:nvSpPr>
              <p:cNvPr id="25" name="Freeform 25"/>
              <p:cNvSpPr/>
              <p:nvPr/>
            </p:nvSpPr>
            <p:spPr>
              <a:xfrm>
                <a:off x="1315006" y="1940719"/>
                <a:ext cx="204232" cy="233362"/>
              </a:xfrm>
              <a:custGeom>
                <a:avLst/>
                <a:gdLst/>
                <a:ahLst/>
                <a:cxnLst/>
                <a:rect l="l" t="t" r="r" b="b"/>
                <a:pathLst>
                  <a:path w="204232" h="233362">
                    <a:moveTo>
                      <a:pt x="175061" y="75009"/>
                    </a:moveTo>
                    <a:cubicBezTo>
                      <a:pt x="170203" y="75004"/>
                      <a:pt x="165421" y="76218"/>
                      <a:pt x="161153" y="78541"/>
                    </a:cubicBezTo>
                    <a:cubicBezTo>
                      <a:pt x="158572" y="70548"/>
                      <a:pt x="152670" y="64056"/>
                      <a:pt x="144959" y="60726"/>
                    </a:cubicBezTo>
                    <a:cubicBezTo>
                      <a:pt x="137248" y="57397"/>
                      <a:pt x="128476" y="57552"/>
                      <a:pt x="120888" y="61153"/>
                    </a:cubicBezTo>
                    <a:lnTo>
                      <a:pt x="120888" y="29170"/>
                    </a:lnTo>
                    <a:cubicBezTo>
                      <a:pt x="120888" y="13060"/>
                      <a:pt x="107828" y="0"/>
                      <a:pt x="91718" y="0"/>
                    </a:cubicBezTo>
                    <a:cubicBezTo>
                      <a:pt x="75607" y="0"/>
                      <a:pt x="62547" y="13060"/>
                      <a:pt x="62547" y="29170"/>
                    </a:cubicBezTo>
                    <a:lnTo>
                      <a:pt x="62547" y="112514"/>
                    </a:lnTo>
                    <a:lnTo>
                      <a:pt x="58568" y="106128"/>
                    </a:lnTo>
                    <a:cubicBezTo>
                      <a:pt x="50475" y="92190"/>
                      <a:pt x="32616" y="87451"/>
                      <a:pt x="18677" y="95543"/>
                    </a:cubicBezTo>
                    <a:cubicBezTo>
                      <a:pt x="4739" y="103636"/>
                      <a:pt x="0" y="121495"/>
                      <a:pt x="8093" y="135434"/>
                    </a:cubicBezTo>
                    <a:lnTo>
                      <a:pt x="12958" y="144008"/>
                    </a:lnTo>
                    <a:cubicBezTo>
                      <a:pt x="48806" y="207203"/>
                      <a:pt x="63641" y="233362"/>
                      <a:pt x="112554" y="233362"/>
                    </a:cubicBezTo>
                    <a:cubicBezTo>
                      <a:pt x="163162" y="233305"/>
                      <a:pt x="204174" y="192293"/>
                      <a:pt x="204232" y="141684"/>
                    </a:cubicBezTo>
                    <a:lnTo>
                      <a:pt x="204232" y="104180"/>
                    </a:lnTo>
                    <a:cubicBezTo>
                      <a:pt x="204232" y="88069"/>
                      <a:pt x="191172" y="75009"/>
                      <a:pt x="175061" y="75009"/>
                    </a:cubicBezTo>
                    <a:close/>
                    <a:moveTo>
                      <a:pt x="187563" y="141684"/>
                    </a:moveTo>
                    <a:cubicBezTo>
                      <a:pt x="187517" y="183092"/>
                      <a:pt x="153961" y="216648"/>
                      <a:pt x="112554" y="216694"/>
                    </a:cubicBezTo>
                    <a:cubicBezTo>
                      <a:pt x="73351" y="216694"/>
                      <a:pt x="62714" y="197941"/>
                      <a:pt x="27460" y="135767"/>
                    </a:cubicBezTo>
                    <a:lnTo>
                      <a:pt x="22574" y="127151"/>
                    </a:lnTo>
                    <a:lnTo>
                      <a:pt x="22574" y="127099"/>
                    </a:lnTo>
                    <a:cubicBezTo>
                      <a:pt x="19119" y="121126"/>
                      <a:pt x="21157" y="113484"/>
                      <a:pt x="27126" y="110024"/>
                    </a:cubicBezTo>
                    <a:cubicBezTo>
                      <a:pt x="29025" y="108924"/>
                      <a:pt x="31182" y="108349"/>
                      <a:pt x="33377" y="108357"/>
                    </a:cubicBezTo>
                    <a:cubicBezTo>
                      <a:pt x="37850" y="108351"/>
                      <a:pt x="41986" y="110734"/>
                      <a:pt x="44222" y="114608"/>
                    </a:cubicBezTo>
                    <a:cubicBezTo>
                      <a:pt x="44265" y="114692"/>
                      <a:pt x="44313" y="114772"/>
                      <a:pt x="44368" y="114848"/>
                    </a:cubicBezTo>
                    <a:lnTo>
                      <a:pt x="63818" y="146102"/>
                    </a:lnTo>
                    <a:cubicBezTo>
                      <a:pt x="65790" y="149250"/>
                      <a:pt x="69609" y="150714"/>
                      <a:pt x="73180" y="149689"/>
                    </a:cubicBezTo>
                    <a:cubicBezTo>
                      <a:pt x="76751" y="148664"/>
                      <a:pt x="79213" y="145400"/>
                      <a:pt x="79216" y="141684"/>
                    </a:cubicBezTo>
                    <a:lnTo>
                      <a:pt x="79216" y="29170"/>
                    </a:lnTo>
                    <a:cubicBezTo>
                      <a:pt x="79216" y="22266"/>
                      <a:pt x="84813" y="16669"/>
                      <a:pt x="91718" y="16669"/>
                    </a:cubicBezTo>
                    <a:cubicBezTo>
                      <a:pt x="98622" y="16669"/>
                      <a:pt x="104219" y="22266"/>
                      <a:pt x="104219" y="29170"/>
                    </a:cubicBezTo>
                    <a:lnTo>
                      <a:pt x="104219" y="100012"/>
                    </a:lnTo>
                    <a:cubicBezTo>
                      <a:pt x="104219" y="104615"/>
                      <a:pt x="107951" y="108347"/>
                      <a:pt x="112554" y="108347"/>
                    </a:cubicBezTo>
                    <a:cubicBezTo>
                      <a:pt x="117156" y="108347"/>
                      <a:pt x="120888" y="104615"/>
                      <a:pt x="120888" y="100012"/>
                    </a:cubicBezTo>
                    <a:lnTo>
                      <a:pt x="120888" y="87511"/>
                    </a:lnTo>
                    <a:cubicBezTo>
                      <a:pt x="120888" y="80607"/>
                      <a:pt x="126485" y="75009"/>
                      <a:pt x="133389" y="75009"/>
                    </a:cubicBezTo>
                    <a:cubicBezTo>
                      <a:pt x="140294" y="75009"/>
                      <a:pt x="145891" y="80607"/>
                      <a:pt x="145891" y="87511"/>
                    </a:cubicBezTo>
                    <a:lnTo>
                      <a:pt x="145891" y="108347"/>
                    </a:lnTo>
                    <a:cubicBezTo>
                      <a:pt x="145891" y="112950"/>
                      <a:pt x="149622" y="116681"/>
                      <a:pt x="154225" y="116681"/>
                    </a:cubicBezTo>
                    <a:cubicBezTo>
                      <a:pt x="158828" y="116681"/>
                      <a:pt x="162560" y="112950"/>
                      <a:pt x="162560" y="108347"/>
                    </a:cubicBezTo>
                    <a:lnTo>
                      <a:pt x="162560" y="104180"/>
                    </a:lnTo>
                    <a:cubicBezTo>
                      <a:pt x="162560" y="97275"/>
                      <a:pt x="168157" y="91678"/>
                      <a:pt x="175061" y="91678"/>
                    </a:cubicBezTo>
                    <a:cubicBezTo>
                      <a:pt x="181966" y="91678"/>
                      <a:pt x="187563" y="97275"/>
                      <a:pt x="187563" y="104180"/>
                    </a:cubicBezTo>
                    <a:close/>
                  </a:path>
                </a:pathLst>
              </a:custGeom>
              <a:solidFill>
                <a:schemeClr val="dk1"/>
              </a:solidFill>
              <a:ln>
                <a:noFill/>
              </a:ln>
            </p:spPr>
          </p:sp>
        </p:grpSp>
        <p:grpSp>
          <p:nvGrpSpPr>
            <p:cNvPr id="29" name="Group 29"/>
            <p:cNvGrpSpPr/>
            <p:nvPr/>
          </p:nvGrpSpPr>
          <p:grpSpPr>
            <a:xfrm>
              <a:off x="3253978" y="1957388"/>
              <a:ext cx="216694" cy="191691"/>
              <a:chOff x="3253978" y="1957388"/>
              <a:chExt cx="216694" cy="191691"/>
            </a:xfrm>
          </p:grpSpPr>
          <p:sp>
            <p:nvSpPr>
              <p:cNvPr id="27" name="Freeform 27"/>
              <p:cNvSpPr/>
              <p:nvPr/>
            </p:nvSpPr>
            <p:spPr>
              <a:xfrm>
                <a:off x="3262312" y="1965722"/>
                <a:ext cx="200025" cy="175022"/>
              </a:xfrm>
              <a:custGeom>
                <a:avLst/>
                <a:gdLst/>
                <a:ahLst/>
                <a:cxnLst/>
                <a:rect l="l" t="t" r="r" b="b"/>
                <a:pathLst>
                  <a:path w="200025" h="175022">
                    <a:moveTo>
                      <a:pt x="183356" y="25003"/>
                    </a:moveTo>
                    <a:lnTo>
                      <a:pt x="150019" y="25003"/>
                    </a:lnTo>
                    <a:lnTo>
                      <a:pt x="133350" y="0"/>
                    </a:lnTo>
                    <a:lnTo>
                      <a:pt x="66675" y="0"/>
                    </a:lnTo>
                    <a:lnTo>
                      <a:pt x="50006" y="25003"/>
                    </a:lnTo>
                    <a:lnTo>
                      <a:pt x="16669" y="25003"/>
                    </a:lnTo>
                    <a:cubicBezTo>
                      <a:pt x="7463" y="25003"/>
                      <a:pt x="0" y="32466"/>
                      <a:pt x="0" y="41672"/>
                    </a:cubicBezTo>
                    <a:lnTo>
                      <a:pt x="0" y="158353"/>
                    </a:lnTo>
                    <a:cubicBezTo>
                      <a:pt x="0" y="167559"/>
                      <a:pt x="7463" y="175022"/>
                      <a:pt x="16669" y="175022"/>
                    </a:cubicBezTo>
                    <a:lnTo>
                      <a:pt x="183356" y="175022"/>
                    </a:lnTo>
                    <a:cubicBezTo>
                      <a:pt x="192562" y="175022"/>
                      <a:pt x="200025" y="167559"/>
                      <a:pt x="200025" y="158353"/>
                    </a:cubicBezTo>
                    <a:lnTo>
                      <a:pt x="200025" y="41672"/>
                    </a:lnTo>
                    <a:cubicBezTo>
                      <a:pt x="200025" y="32466"/>
                      <a:pt x="192562" y="25003"/>
                      <a:pt x="183356" y="25003"/>
                    </a:cubicBezTo>
                    <a:close/>
                    <a:moveTo>
                      <a:pt x="100012" y="133350"/>
                    </a:moveTo>
                    <a:cubicBezTo>
                      <a:pt x="79299" y="133350"/>
                      <a:pt x="62508" y="116559"/>
                      <a:pt x="62508" y="95845"/>
                    </a:cubicBezTo>
                    <a:cubicBezTo>
                      <a:pt x="62508" y="75132"/>
                      <a:pt x="79299" y="58341"/>
                      <a:pt x="100012" y="58341"/>
                    </a:cubicBezTo>
                    <a:cubicBezTo>
                      <a:pt x="120726" y="58341"/>
                      <a:pt x="137517" y="75132"/>
                      <a:pt x="137517" y="95845"/>
                    </a:cubicBezTo>
                    <a:cubicBezTo>
                      <a:pt x="137517" y="116559"/>
                      <a:pt x="120726" y="133350"/>
                      <a:pt x="100012" y="133350"/>
                    </a:cubicBezTo>
                    <a:close/>
                  </a:path>
                </a:pathLst>
              </a:custGeom>
              <a:solidFill>
                <a:schemeClr val="dk1">
                  <a:alpha val="20000"/>
                </a:schemeClr>
              </a:solidFill>
              <a:ln>
                <a:noFill/>
              </a:ln>
            </p:spPr>
          </p:sp>
          <p:sp>
            <p:nvSpPr>
              <p:cNvPr id="28" name="Freeform 28"/>
              <p:cNvSpPr/>
              <p:nvPr/>
            </p:nvSpPr>
            <p:spPr>
              <a:xfrm>
                <a:off x="3253978" y="1957388"/>
                <a:ext cx="216694" cy="191691"/>
              </a:xfrm>
              <a:custGeom>
                <a:avLst/>
                <a:gdLst/>
                <a:ahLst/>
                <a:cxnLst/>
                <a:rect l="l" t="t" r="r" b="b"/>
                <a:pathLst>
                  <a:path w="216694" h="191691">
                    <a:moveTo>
                      <a:pt x="191691" y="25003"/>
                    </a:moveTo>
                    <a:lnTo>
                      <a:pt x="162812" y="25003"/>
                    </a:lnTo>
                    <a:lnTo>
                      <a:pt x="148612" y="3709"/>
                    </a:lnTo>
                    <a:cubicBezTo>
                      <a:pt x="147067" y="1393"/>
                      <a:pt x="144468" y="2"/>
                      <a:pt x="141684" y="0"/>
                    </a:cubicBezTo>
                    <a:lnTo>
                      <a:pt x="75009" y="0"/>
                    </a:lnTo>
                    <a:cubicBezTo>
                      <a:pt x="72226" y="2"/>
                      <a:pt x="69626" y="1393"/>
                      <a:pt x="68081" y="3709"/>
                    </a:cubicBezTo>
                    <a:lnTo>
                      <a:pt x="53871" y="25003"/>
                    </a:lnTo>
                    <a:lnTo>
                      <a:pt x="25003" y="25003"/>
                    </a:lnTo>
                    <a:cubicBezTo>
                      <a:pt x="11194" y="25003"/>
                      <a:pt x="0" y="36197"/>
                      <a:pt x="0" y="50006"/>
                    </a:cubicBezTo>
                    <a:lnTo>
                      <a:pt x="0" y="166688"/>
                    </a:lnTo>
                    <a:cubicBezTo>
                      <a:pt x="0" y="180496"/>
                      <a:pt x="11194" y="191691"/>
                      <a:pt x="25003" y="191691"/>
                    </a:cubicBezTo>
                    <a:lnTo>
                      <a:pt x="191691" y="191691"/>
                    </a:lnTo>
                    <a:cubicBezTo>
                      <a:pt x="205499" y="191691"/>
                      <a:pt x="216694" y="180496"/>
                      <a:pt x="216694" y="166688"/>
                    </a:cubicBezTo>
                    <a:lnTo>
                      <a:pt x="216694" y="50006"/>
                    </a:lnTo>
                    <a:cubicBezTo>
                      <a:pt x="216694" y="36197"/>
                      <a:pt x="205499" y="25003"/>
                      <a:pt x="191691" y="25003"/>
                    </a:cubicBezTo>
                    <a:close/>
                    <a:moveTo>
                      <a:pt x="200025" y="166688"/>
                    </a:moveTo>
                    <a:cubicBezTo>
                      <a:pt x="200025" y="171290"/>
                      <a:pt x="196294" y="175022"/>
                      <a:pt x="191691" y="175022"/>
                    </a:cubicBezTo>
                    <a:lnTo>
                      <a:pt x="25003" y="175022"/>
                    </a:lnTo>
                    <a:cubicBezTo>
                      <a:pt x="20400" y="175022"/>
                      <a:pt x="16669" y="171290"/>
                      <a:pt x="16669" y="166688"/>
                    </a:cubicBezTo>
                    <a:lnTo>
                      <a:pt x="16669" y="50006"/>
                    </a:lnTo>
                    <a:cubicBezTo>
                      <a:pt x="16669" y="45403"/>
                      <a:pt x="20400" y="41672"/>
                      <a:pt x="25003" y="41672"/>
                    </a:cubicBezTo>
                    <a:lnTo>
                      <a:pt x="58341" y="41672"/>
                    </a:lnTo>
                    <a:cubicBezTo>
                      <a:pt x="61128" y="41674"/>
                      <a:pt x="63732" y="40282"/>
                      <a:pt x="65279" y="37963"/>
                    </a:cubicBezTo>
                    <a:lnTo>
                      <a:pt x="79468" y="16669"/>
                    </a:lnTo>
                    <a:lnTo>
                      <a:pt x="137215" y="16669"/>
                    </a:lnTo>
                    <a:lnTo>
                      <a:pt x="151415" y="37963"/>
                    </a:lnTo>
                    <a:cubicBezTo>
                      <a:pt x="152962" y="40282"/>
                      <a:pt x="155566" y="41674"/>
                      <a:pt x="158353" y="41672"/>
                    </a:cubicBezTo>
                    <a:lnTo>
                      <a:pt x="191691" y="41672"/>
                    </a:lnTo>
                    <a:cubicBezTo>
                      <a:pt x="196294" y="41672"/>
                      <a:pt x="200025" y="45403"/>
                      <a:pt x="200025" y="50006"/>
                    </a:cubicBezTo>
                    <a:close/>
                    <a:moveTo>
                      <a:pt x="108347" y="58341"/>
                    </a:moveTo>
                    <a:cubicBezTo>
                      <a:pt x="83031" y="58341"/>
                      <a:pt x="62508" y="78863"/>
                      <a:pt x="62508" y="104180"/>
                    </a:cubicBezTo>
                    <a:cubicBezTo>
                      <a:pt x="62508" y="129496"/>
                      <a:pt x="83031" y="150019"/>
                      <a:pt x="108347" y="150019"/>
                    </a:cubicBezTo>
                    <a:cubicBezTo>
                      <a:pt x="133663" y="150019"/>
                      <a:pt x="154186" y="129496"/>
                      <a:pt x="154186" y="104180"/>
                    </a:cubicBezTo>
                    <a:cubicBezTo>
                      <a:pt x="154157" y="78875"/>
                      <a:pt x="133651" y="58369"/>
                      <a:pt x="108347" y="58341"/>
                    </a:cubicBezTo>
                    <a:close/>
                    <a:moveTo>
                      <a:pt x="108347" y="133350"/>
                    </a:moveTo>
                    <a:cubicBezTo>
                      <a:pt x="92237" y="133350"/>
                      <a:pt x="79177" y="120290"/>
                      <a:pt x="79177" y="104180"/>
                    </a:cubicBezTo>
                    <a:cubicBezTo>
                      <a:pt x="79177" y="88069"/>
                      <a:pt x="92237" y="75009"/>
                      <a:pt x="108347" y="75009"/>
                    </a:cubicBezTo>
                    <a:cubicBezTo>
                      <a:pt x="124457" y="75009"/>
                      <a:pt x="137517" y="88069"/>
                      <a:pt x="137517" y="104180"/>
                    </a:cubicBezTo>
                    <a:cubicBezTo>
                      <a:pt x="137517" y="120290"/>
                      <a:pt x="124457" y="133350"/>
                      <a:pt x="108347" y="133350"/>
                    </a:cubicBezTo>
                    <a:close/>
                  </a:path>
                </a:pathLst>
              </a:custGeom>
              <a:solidFill>
                <a:schemeClr val="dk1"/>
              </a:solidFill>
              <a:ln>
                <a:noFill/>
              </a:ln>
            </p:spPr>
          </p:sp>
        </p:grpSp>
        <p:grpSp>
          <p:nvGrpSpPr>
            <p:cNvPr id="32" name="Group 32"/>
            <p:cNvGrpSpPr/>
            <p:nvPr/>
          </p:nvGrpSpPr>
          <p:grpSpPr>
            <a:xfrm>
              <a:off x="4994563" y="1940346"/>
              <a:ext cx="212047" cy="228473"/>
              <a:chOff x="4994563" y="1940346"/>
              <a:chExt cx="212047" cy="228473"/>
            </a:xfrm>
          </p:grpSpPr>
          <p:sp>
            <p:nvSpPr>
              <p:cNvPr id="30" name="Freeform 30"/>
              <p:cNvSpPr/>
              <p:nvPr/>
            </p:nvSpPr>
            <p:spPr>
              <a:xfrm>
                <a:off x="5006578" y="2065734"/>
                <a:ext cx="191691" cy="91678"/>
              </a:xfrm>
              <a:custGeom>
                <a:avLst/>
                <a:gdLst/>
                <a:ahLst/>
                <a:cxnLst/>
                <a:rect l="l" t="t" r="r" b="b"/>
                <a:pathLst>
                  <a:path w="191691" h="91678">
                    <a:moveTo>
                      <a:pt x="191691" y="29170"/>
                    </a:moveTo>
                    <a:cubicBezTo>
                      <a:pt x="191691" y="45281"/>
                      <a:pt x="178631" y="58341"/>
                      <a:pt x="162520" y="58341"/>
                    </a:cubicBezTo>
                    <a:cubicBezTo>
                      <a:pt x="146410" y="58341"/>
                      <a:pt x="133350" y="45281"/>
                      <a:pt x="133350" y="29170"/>
                    </a:cubicBezTo>
                    <a:cubicBezTo>
                      <a:pt x="133350" y="13060"/>
                      <a:pt x="146410" y="0"/>
                      <a:pt x="162520" y="0"/>
                    </a:cubicBezTo>
                    <a:cubicBezTo>
                      <a:pt x="178631" y="0"/>
                      <a:pt x="191691" y="13060"/>
                      <a:pt x="191691" y="29170"/>
                    </a:cubicBezTo>
                    <a:close/>
                    <a:moveTo>
                      <a:pt x="29170" y="33338"/>
                    </a:moveTo>
                    <a:cubicBezTo>
                      <a:pt x="13060" y="33338"/>
                      <a:pt x="0" y="46397"/>
                      <a:pt x="0" y="62508"/>
                    </a:cubicBezTo>
                    <a:cubicBezTo>
                      <a:pt x="0" y="78618"/>
                      <a:pt x="13060" y="91678"/>
                      <a:pt x="29170" y="91678"/>
                    </a:cubicBezTo>
                    <a:cubicBezTo>
                      <a:pt x="45281" y="91678"/>
                      <a:pt x="58341" y="78618"/>
                      <a:pt x="58341" y="62508"/>
                    </a:cubicBezTo>
                    <a:cubicBezTo>
                      <a:pt x="58341" y="46397"/>
                      <a:pt x="45281" y="33338"/>
                      <a:pt x="29170" y="33338"/>
                    </a:cubicBezTo>
                    <a:close/>
                  </a:path>
                </a:pathLst>
              </a:custGeom>
              <a:solidFill>
                <a:schemeClr val="accent2">
                  <a:alpha val="20000"/>
                </a:schemeClr>
              </a:solidFill>
              <a:ln>
                <a:noFill/>
              </a:ln>
            </p:spPr>
          </p:sp>
          <p:sp>
            <p:nvSpPr>
              <p:cNvPr id="31" name="Freeform 31"/>
              <p:cNvSpPr/>
              <p:nvPr/>
            </p:nvSpPr>
            <p:spPr>
              <a:xfrm>
                <a:off x="4994563" y="1940346"/>
                <a:ext cx="212047" cy="228473"/>
              </a:xfrm>
              <a:custGeom>
                <a:avLst/>
                <a:gdLst/>
                <a:ahLst/>
                <a:cxnLst/>
                <a:rect l="l" t="t" r="r" b="b"/>
                <a:pathLst>
                  <a:path w="212047" h="228473">
                    <a:moveTo>
                      <a:pt x="208832" y="2133"/>
                    </a:moveTo>
                    <a:cubicBezTo>
                      <a:pt x="206809" y="557"/>
                      <a:pt x="204173" y="0"/>
                      <a:pt x="201685" y="623"/>
                    </a:cubicBezTo>
                    <a:lnTo>
                      <a:pt x="68335" y="33960"/>
                    </a:lnTo>
                    <a:cubicBezTo>
                      <a:pt x="64625" y="34888"/>
                      <a:pt x="62022" y="38221"/>
                      <a:pt x="62022" y="42045"/>
                    </a:cubicBezTo>
                    <a:lnTo>
                      <a:pt x="62022" y="156726"/>
                    </a:lnTo>
                    <a:cubicBezTo>
                      <a:pt x="47717" y="147168"/>
                      <a:pt x="28743" y="148568"/>
                      <a:pt x="15996" y="160124"/>
                    </a:cubicBezTo>
                    <a:cubicBezTo>
                      <a:pt x="3250" y="171679"/>
                      <a:pt x="0" y="190425"/>
                      <a:pt x="8113" y="205596"/>
                    </a:cubicBezTo>
                    <a:cubicBezTo>
                      <a:pt x="16226" y="220767"/>
                      <a:pt x="33621" y="228473"/>
                      <a:pt x="50309" y="224288"/>
                    </a:cubicBezTo>
                    <a:cubicBezTo>
                      <a:pt x="66997" y="220103"/>
                      <a:pt x="78697" y="205101"/>
                      <a:pt x="78691" y="187896"/>
                    </a:cubicBezTo>
                    <a:lnTo>
                      <a:pt x="78691" y="98562"/>
                    </a:lnTo>
                    <a:lnTo>
                      <a:pt x="195372" y="69392"/>
                    </a:lnTo>
                    <a:lnTo>
                      <a:pt x="195372" y="123388"/>
                    </a:lnTo>
                    <a:cubicBezTo>
                      <a:pt x="181067" y="113830"/>
                      <a:pt x="162093" y="115231"/>
                      <a:pt x="149346" y="126786"/>
                    </a:cubicBezTo>
                    <a:cubicBezTo>
                      <a:pt x="136600" y="138341"/>
                      <a:pt x="133350" y="157087"/>
                      <a:pt x="141463" y="172259"/>
                    </a:cubicBezTo>
                    <a:cubicBezTo>
                      <a:pt x="149576" y="187430"/>
                      <a:pt x="166971" y="195136"/>
                      <a:pt x="183659" y="190951"/>
                    </a:cubicBezTo>
                    <a:cubicBezTo>
                      <a:pt x="200347" y="186766"/>
                      <a:pt x="212047" y="171763"/>
                      <a:pt x="212041" y="154559"/>
                    </a:cubicBezTo>
                    <a:lnTo>
                      <a:pt x="212041" y="8707"/>
                    </a:lnTo>
                    <a:cubicBezTo>
                      <a:pt x="212041" y="6139"/>
                      <a:pt x="210857" y="3713"/>
                      <a:pt x="208832" y="2133"/>
                    </a:cubicBezTo>
                    <a:close/>
                    <a:moveTo>
                      <a:pt x="41186" y="208732"/>
                    </a:moveTo>
                    <a:cubicBezTo>
                      <a:pt x="29678" y="208732"/>
                      <a:pt x="20350" y="199404"/>
                      <a:pt x="20350" y="187896"/>
                    </a:cubicBezTo>
                    <a:cubicBezTo>
                      <a:pt x="20350" y="176389"/>
                      <a:pt x="29678" y="167060"/>
                      <a:pt x="41186" y="167060"/>
                    </a:cubicBezTo>
                    <a:cubicBezTo>
                      <a:pt x="52693" y="167060"/>
                      <a:pt x="62022" y="176389"/>
                      <a:pt x="62022" y="187896"/>
                    </a:cubicBezTo>
                    <a:cubicBezTo>
                      <a:pt x="62022" y="199404"/>
                      <a:pt x="52693" y="208732"/>
                      <a:pt x="41186" y="208732"/>
                    </a:cubicBezTo>
                    <a:close/>
                    <a:moveTo>
                      <a:pt x="78691" y="81373"/>
                    </a:moveTo>
                    <a:lnTo>
                      <a:pt x="78691" y="48556"/>
                    </a:lnTo>
                    <a:lnTo>
                      <a:pt x="195372" y="19386"/>
                    </a:lnTo>
                    <a:lnTo>
                      <a:pt x="195372" y="52202"/>
                    </a:lnTo>
                    <a:close/>
                    <a:moveTo>
                      <a:pt x="174536" y="175395"/>
                    </a:moveTo>
                    <a:cubicBezTo>
                      <a:pt x="163028" y="175395"/>
                      <a:pt x="153700" y="166066"/>
                      <a:pt x="153700" y="154559"/>
                    </a:cubicBezTo>
                    <a:cubicBezTo>
                      <a:pt x="153700" y="143051"/>
                      <a:pt x="163028" y="133723"/>
                      <a:pt x="174536" y="133723"/>
                    </a:cubicBezTo>
                    <a:cubicBezTo>
                      <a:pt x="186043" y="133723"/>
                      <a:pt x="195372" y="143051"/>
                      <a:pt x="195372" y="154559"/>
                    </a:cubicBezTo>
                    <a:cubicBezTo>
                      <a:pt x="195372" y="166066"/>
                      <a:pt x="186043" y="175395"/>
                      <a:pt x="174536" y="175395"/>
                    </a:cubicBezTo>
                    <a:close/>
                  </a:path>
                </a:pathLst>
              </a:custGeom>
              <a:solidFill>
                <a:schemeClr val="accent2"/>
              </a:solidFill>
              <a:ln>
                <a:noFill/>
              </a:ln>
            </p:spPr>
          </p:sp>
        </p:grpSp>
        <p:grpSp>
          <p:nvGrpSpPr>
            <p:cNvPr id="35" name="Group 35"/>
            <p:cNvGrpSpPr/>
            <p:nvPr/>
          </p:nvGrpSpPr>
          <p:grpSpPr>
            <a:xfrm>
              <a:off x="6750844" y="1948504"/>
              <a:ext cx="241713" cy="217788"/>
              <a:chOff x="6750844" y="1948504"/>
              <a:chExt cx="241713" cy="217788"/>
            </a:xfrm>
          </p:grpSpPr>
          <p:sp>
            <p:nvSpPr>
              <p:cNvPr id="33" name="Freeform 33"/>
              <p:cNvSpPr/>
              <p:nvPr/>
            </p:nvSpPr>
            <p:spPr>
              <a:xfrm>
                <a:off x="6759178" y="2015728"/>
                <a:ext cx="58341" cy="83344"/>
              </a:xfrm>
              <a:custGeom>
                <a:avLst/>
                <a:gdLst/>
                <a:ahLst/>
                <a:cxnLst/>
                <a:rect l="l" t="t" r="r" b="b"/>
                <a:pathLst>
                  <a:path w="58341" h="83344">
                    <a:moveTo>
                      <a:pt x="58341" y="0"/>
                    </a:moveTo>
                    <a:lnTo>
                      <a:pt x="58341" y="83344"/>
                    </a:lnTo>
                    <a:lnTo>
                      <a:pt x="8334" y="83344"/>
                    </a:lnTo>
                    <a:cubicBezTo>
                      <a:pt x="3731" y="83344"/>
                      <a:pt x="0" y="79612"/>
                      <a:pt x="0" y="75009"/>
                    </a:cubicBezTo>
                    <a:lnTo>
                      <a:pt x="0" y="8334"/>
                    </a:lnTo>
                    <a:cubicBezTo>
                      <a:pt x="0" y="3731"/>
                      <a:pt x="3731" y="0"/>
                      <a:pt x="8334" y="0"/>
                    </a:cubicBezTo>
                    <a:close/>
                  </a:path>
                </a:pathLst>
              </a:custGeom>
              <a:solidFill>
                <a:schemeClr val="dk1">
                  <a:alpha val="20000"/>
                </a:schemeClr>
              </a:solidFill>
              <a:ln>
                <a:noFill/>
              </a:ln>
            </p:spPr>
          </p:sp>
          <p:sp>
            <p:nvSpPr>
              <p:cNvPr id="34" name="Freeform 34"/>
              <p:cNvSpPr/>
              <p:nvPr/>
            </p:nvSpPr>
            <p:spPr>
              <a:xfrm>
                <a:off x="6750844" y="1948504"/>
                <a:ext cx="241713" cy="217788"/>
              </a:xfrm>
              <a:custGeom>
                <a:avLst/>
                <a:gdLst/>
                <a:ahLst/>
                <a:cxnLst/>
                <a:rect l="l" t="t" r="r" b="b"/>
                <a:pathLst>
                  <a:path w="241713" h="217788">
                    <a:moveTo>
                      <a:pt x="145341" y="1393"/>
                    </a:moveTo>
                    <a:cubicBezTo>
                      <a:pt x="142482" y="0"/>
                      <a:pt x="139079" y="356"/>
                      <a:pt x="136569" y="2310"/>
                    </a:cubicBezTo>
                    <a:lnTo>
                      <a:pt x="63810" y="58890"/>
                    </a:lnTo>
                    <a:lnTo>
                      <a:pt x="16669" y="58890"/>
                    </a:lnTo>
                    <a:cubicBezTo>
                      <a:pt x="7463" y="58890"/>
                      <a:pt x="0" y="66353"/>
                      <a:pt x="0" y="75559"/>
                    </a:cubicBezTo>
                    <a:lnTo>
                      <a:pt x="0" y="142234"/>
                    </a:lnTo>
                    <a:cubicBezTo>
                      <a:pt x="0" y="151440"/>
                      <a:pt x="7463" y="158903"/>
                      <a:pt x="16669" y="158903"/>
                    </a:cubicBezTo>
                    <a:lnTo>
                      <a:pt x="63810" y="158903"/>
                    </a:lnTo>
                    <a:lnTo>
                      <a:pt x="136569" y="215483"/>
                    </a:lnTo>
                    <a:cubicBezTo>
                      <a:pt x="139081" y="217435"/>
                      <a:pt x="142486" y="217788"/>
                      <a:pt x="145344" y="216390"/>
                    </a:cubicBezTo>
                    <a:cubicBezTo>
                      <a:pt x="148203" y="214993"/>
                      <a:pt x="150016" y="212091"/>
                      <a:pt x="150019" y="208909"/>
                    </a:cubicBezTo>
                    <a:lnTo>
                      <a:pt x="150019" y="8884"/>
                    </a:lnTo>
                    <a:cubicBezTo>
                      <a:pt x="150019" y="5698"/>
                      <a:pt x="148204" y="2791"/>
                      <a:pt x="145341" y="1393"/>
                    </a:cubicBezTo>
                    <a:close/>
                    <a:moveTo>
                      <a:pt x="16669" y="75559"/>
                    </a:moveTo>
                    <a:lnTo>
                      <a:pt x="58341" y="75559"/>
                    </a:lnTo>
                    <a:lnTo>
                      <a:pt x="58341" y="142234"/>
                    </a:lnTo>
                    <a:lnTo>
                      <a:pt x="16669" y="142234"/>
                    </a:lnTo>
                    <a:close/>
                    <a:moveTo>
                      <a:pt x="133350" y="191865"/>
                    </a:moveTo>
                    <a:lnTo>
                      <a:pt x="75009" y="146495"/>
                    </a:lnTo>
                    <a:lnTo>
                      <a:pt x="75009" y="71298"/>
                    </a:lnTo>
                    <a:lnTo>
                      <a:pt x="133350" y="25928"/>
                    </a:lnTo>
                    <a:close/>
                    <a:moveTo>
                      <a:pt x="189607" y="81351"/>
                    </a:moveTo>
                    <a:cubicBezTo>
                      <a:pt x="203476" y="97096"/>
                      <a:pt x="203476" y="120697"/>
                      <a:pt x="189607" y="136441"/>
                    </a:cubicBezTo>
                    <a:cubicBezTo>
                      <a:pt x="186543" y="139808"/>
                      <a:pt x="181346" y="140094"/>
                      <a:pt x="177931" y="137083"/>
                    </a:cubicBezTo>
                    <a:cubicBezTo>
                      <a:pt x="174517" y="134073"/>
                      <a:pt x="174149" y="128880"/>
                      <a:pt x="177105" y="125419"/>
                    </a:cubicBezTo>
                    <a:cubicBezTo>
                      <a:pt x="185422" y="115974"/>
                      <a:pt x="185422" y="101819"/>
                      <a:pt x="177105" y="92373"/>
                    </a:cubicBezTo>
                    <a:cubicBezTo>
                      <a:pt x="174149" y="88912"/>
                      <a:pt x="174517" y="83720"/>
                      <a:pt x="177931" y="80709"/>
                    </a:cubicBezTo>
                    <a:cubicBezTo>
                      <a:pt x="181346" y="77699"/>
                      <a:pt x="186543" y="77985"/>
                      <a:pt x="189607" y="81351"/>
                    </a:cubicBezTo>
                    <a:close/>
                    <a:moveTo>
                      <a:pt x="241697" y="108896"/>
                    </a:moveTo>
                    <a:cubicBezTo>
                      <a:pt x="241709" y="129401"/>
                      <a:pt x="234152" y="149189"/>
                      <a:pt x="220475" y="164466"/>
                    </a:cubicBezTo>
                    <a:cubicBezTo>
                      <a:pt x="217386" y="167808"/>
                      <a:pt x="212187" y="168054"/>
                      <a:pt x="208796" y="165019"/>
                    </a:cubicBezTo>
                    <a:cubicBezTo>
                      <a:pt x="205405" y="161983"/>
                      <a:pt x="205076" y="156789"/>
                      <a:pt x="208057" y="153350"/>
                    </a:cubicBezTo>
                    <a:cubicBezTo>
                      <a:pt x="230693" y="128040"/>
                      <a:pt x="230693" y="89763"/>
                      <a:pt x="208057" y="64453"/>
                    </a:cubicBezTo>
                    <a:cubicBezTo>
                      <a:pt x="206015" y="62243"/>
                      <a:pt x="205322" y="59104"/>
                      <a:pt x="206245" y="56240"/>
                    </a:cubicBezTo>
                    <a:cubicBezTo>
                      <a:pt x="207168" y="53376"/>
                      <a:pt x="209564" y="51232"/>
                      <a:pt x="212512" y="50630"/>
                    </a:cubicBezTo>
                    <a:cubicBezTo>
                      <a:pt x="215461" y="50029"/>
                      <a:pt x="218504" y="51064"/>
                      <a:pt x="220475" y="53337"/>
                    </a:cubicBezTo>
                    <a:cubicBezTo>
                      <a:pt x="234156" y="68608"/>
                      <a:pt x="241713" y="88394"/>
                      <a:pt x="241697" y="108896"/>
                    </a:cubicBezTo>
                    <a:close/>
                  </a:path>
                </a:pathLst>
              </a:custGeom>
              <a:solidFill>
                <a:schemeClr val="dk1"/>
              </a:solidFill>
              <a:ln>
                <a:noFill/>
              </a:ln>
            </p:spPr>
          </p:sp>
        </p:grpSp>
        <p:grpSp>
          <p:nvGrpSpPr>
            <p:cNvPr id="38" name="Group 38"/>
            <p:cNvGrpSpPr/>
            <p:nvPr/>
          </p:nvGrpSpPr>
          <p:grpSpPr>
            <a:xfrm>
              <a:off x="8511778" y="1965722"/>
              <a:ext cx="216694" cy="183356"/>
              <a:chOff x="8511778" y="1965722"/>
              <a:chExt cx="216694" cy="183356"/>
            </a:xfrm>
          </p:grpSpPr>
          <p:sp>
            <p:nvSpPr>
              <p:cNvPr id="36" name="Freeform 36"/>
              <p:cNvSpPr/>
              <p:nvPr/>
            </p:nvSpPr>
            <p:spPr>
              <a:xfrm>
                <a:off x="8520112" y="1974056"/>
                <a:ext cx="200025" cy="166688"/>
              </a:xfrm>
              <a:custGeom>
                <a:avLst/>
                <a:gdLst/>
                <a:ahLst/>
                <a:cxnLst/>
                <a:rect l="l" t="t" r="r" b="b"/>
                <a:pathLst>
                  <a:path w="200025" h="166688">
                    <a:moveTo>
                      <a:pt x="200025" y="16669"/>
                    </a:moveTo>
                    <a:lnTo>
                      <a:pt x="200025" y="166688"/>
                    </a:lnTo>
                    <a:lnTo>
                      <a:pt x="0" y="166688"/>
                    </a:lnTo>
                    <a:lnTo>
                      <a:pt x="0" y="0"/>
                    </a:lnTo>
                    <a:lnTo>
                      <a:pt x="183356" y="0"/>
                    </a:lnTo>
                    <a:cubicBezTo>
                      <a:pt x="192562" y="0"/>
                      <a:pt x="200025" y="7463"/>
                      <a:pt x="200025" y="16669"/>
                    </a:cubicBezTo>
                    <a:close/>
                  </a:path>
                </a:pathLst>
              </a:custGeom>
              <a:solidFill>
                <a:schemeClr val="dk1">
                  <a:alpha val="20000"/>
                </a:schemeClr>
              </a:solidFill>
              <a:ln>
                <a:noFill/>
              </a:ln>
            </p:spPr>
          </p:sp>
          <p:sp>
            <p:nvSpPr>
              <p:cNvPr id="37" name="Freeform 37"/>
              <p:cNvSpPr/>
              <p:nvPr/>
            </p:nvSpPr>
            <p:spPr>
              <a:xfrm>
                <a:off x="8511778" y="1965722"/>
                <a:ext cx="216694" cy="183356"/>
              </a:xfrm>
              <a:custGeom>
                <a:avLst/>
                <a:gdLst/>
                <a:ahLst/>
                <a:cxnLst/>
                <a:rect l="l" t="t" r="r" b="b"/>
                <a:pathLst>
                  <a:path w="216694" h="183356">
                    <a:moveTo>
                      <a:pt x="216694" y="175022"/>
                    </a:moveTo>
                    <a:cubicBezTo>
                      <a:pt x="216694" y="179625"/>
                      <a:pt x="212962" y="183356"/>
                      <a:pt x="208359" y="183356"/>
                    </a:cubicBezTo>
                    <a:lnTo>
                      <a:pt x="8334" y="183356"/>
                    </a:lnTo>
                    <a:cubicBezTo>
                      <a:pt x="3731" y="183356"/>
                      <a:pt x="0" y="179625"/>
                      <a:pt x="0" y="175022"/>
                    </a:cubicBezTo>
                    <a:lnTo>
                      <a:pt x="0" y="8334"/>
                    </a:lnTo>
                    <a:cubicBezTo>
                      <a:pt x="0" y="3731"/>
                      <a:pt x="3731" y="0"/>
                      <a:pt x="8334" y="0"/>
                    </a:cubicBezTo>
                    <a:cubicBezTo>
                      <a:pt x="12937" y="0"/>
                      <a:pt x="16669" y="3731"/>
                      <a:pt x="16669" y="8334"/>
                    </a:cubicBezTo>
                    <a:lnTo>
                      <a:pt x="16669" y="121567"/>
                    </a:lnTo>
                    <a:lnTo>
                      <a:pt x="69113" y="69113"/>
                    </a:lnTo>
                    <a:cubicBezTo>
                      <a:pt x="70676" y="67548"/>
                      <a:pt x="72797" y="66668"/>
                      <a:pt x="75009" y="66668"/>
                    </a:cubicBezTo>
                    <a:cubicBezTo>
                      <a:pt x="77221" y="66668"/>
                      <a:pt x="79343" y="67548"/>
                      <a:pt x="80906" y="69113"/>
                    </a:cubicBezTo>
                    <a:lnTo>
                      <a:pt x="108347" y="96564"/>
                    </a:lnTo>
                    <a:lnTo>
                      <a:pt x="163239" y="41672"/>
                    </a:lnTo>
                    <a:lnTo>
                      <a:pt x="141684" y="41672"/>
                    </a:lnTo>
                    <a:cubicBezTo>
                      <a:pt x="137081" y="41672"/>
                      <a:pt x="133350" y="37940"/>
                      <a:pt x="133350" y="33338"/>
                    </a:cubicBezTo>
                    <a:cubicBezTo>
                      <a:pt x="133350" y="28735"/>
                      <a:pt x="137081" y="25003"/>
                      <a:pt x="141684" y="25003"/>
                    </a:cubicBezTo>
                    <a:lnTo>
                      <a:pt x="183356" y="25003"/>
                    </a:lnTo>
                    <a:cubicBezTo>
                      <a:pt x="187959" y="25003"/>
                      <a:pt x="191691" y="28735"/>
                      <a:pt x="191691" y="33338"/>
                    </a:cubicBezTo>
                    <a:lnTo>
                      <a:pt x="191691" y="75009"/>
                    </a:lnTo>
                    <a:cubicBezTo>
                      <a:pt x="191691" y="79612"/>
                      <a:pt x="187959" y="83344"/>
                      <a:pt x="183356" y="83344"/>
                    </a:cubicBezTo>
                    <a:cubicBezTo>
                      <a:pt x="178753" y="83344"/>
                      <a:pt x="175022" y="79612"/>
                      <a:pt x="175022" y="75009"/>
                    </a:cubicBezTo>
                    <a:lnTo>
                      <a:pt x="175022" y="53455"/>
                    </a:lnTo>
                    <a:lnTo>
                      <a:pt x="114243" y="114243"/>
                    </a:lnTo>
                    <a:cubicBezTo>
                      <a:pt x="112680" y="115808"/>
                      <a:pt x="110559" y="116688"/>
                      <a:pt x="108347" y="116688"/>
                    </a:cubicBezTo>
                    <a:cubicBezTo>
                      <a:pt x="106135" y="116688"/>
                      <a:pt x="104014" y="115808"/>
                      <a:pt x="102450" y="114243"/>
                    </a:cubicBezTo>
                    <a:lnTo>
                      <a:pt x="75009" y="86792"/>
                    </a:lnTo>
                    <a:lnTo>
                      <a:pt x="16669" y="145133"/>
                    </a:lnTo>
                    <a:lnTo>
                      <a:pt x="16669" y="166688"/>
                    </a:lnTo>
                    <a:lnTo>
                      <a:pt x="208359" y="166688"/>
                    </a:lnTo>
                    <a:cubicBezTo>
                      <a:pt x="212962" y="166688"/>
                      <a:pt x="216694" y="170419"/>
                      <a:pt x="216694" y="175022"/>
                    </a:cubicBezTo>
                    <a:close/>
                  </a:path>
                </a:pathLst>
              </a:custGeom>
              <a:solidFill>
                <a:schemeClr val="dk1"/>
              </a:solidFill>
              <a:ln>
                <a:noFill/>
              </a:ln>
            </p:spPr>
          </p:sp>
        </p:grpSp>
        <p:grpSp>
          <p:nvGrpSpPr>
            <p:cNvPr id="41" name="Group 41"/>
            <p:cNvGrpSpPr/>
            <p:nvPr/>
          </p:nvGrpSpPr>
          <p:grpSpPr>
            <a:xfrm>
              <a:off x="10272712" y="1949579"/>
              <a:ext cx="200025" cy="205880"/>
              <a:chOff x="10272712" y="1949579"/>
              <a:chExt cx="200025" cy="205880"/>
            </a:xfrm>
          </p:grpSpPr>
          <p:sp>
            <p:nvSpPr>
              <p:cNvPr id="39" name="Freeform 39"/>
              <p:cNvSpPr/>
              <p:nvPr/>
            </p:nvSpPr>
            <p:spPr>
              <a:xfrm>
                <a:off x="10281047" y="1965722"/>
                <a:ext cx="183356" cy="183356"/>
              </a:xfrm>
              <a:custGeom>
                <a:avLst/>
                <a:gdLst/>
                <a:ahLst/>
                <a:cxnLst/>
                <a:rect l="l" t="t" r="r" b="b"/>
                <a:pathLst>
                  <a:path w="183356" h="183356">
                    <a:moveTo>
                      <a:pt x="183356" y="91678"/>
                    </a:moveTo>
                    <a:cubicBezTo>
                      <a:pt x="183356" y="142311"/>
                      <a:pt x="142311" y="183356"/>
                      <a:pt x="91678" y="183356"/>
                    </a:cubicBezTo>
                    <a:cubicBezTo>
                      <a:pt x="41046" y="183356"/>
                      <a:pt x="0" y="142311"/>
                      <a:pt x="0" y="91678"/>
                    </a:cubicBezTo>
                    <a:cubicBezTo>
                      <a:pt x="0" y="41046"/>
                      <a:pt x="41046" y="0"/>
                      <a:pt x="91678" y="0"/>
                    </a:cubicBezTo>
                    <a:cubicBezTo>
                      <a:pt x="142311" y="0"/>
                      <a:pt x="183356" y="41046"/>
                      <a:pt x="183356" y="91678"/>
                    </a:cubicBezTo>
                    <a:close/>
                  </a:path>
                </a:pathLst>
              </a:custGeom>
              <a:solidFill>
                <a:schemeClr val="dk1">
                  <a:alpha val="20000"/>
                </a:schemeClr>
              </a:solidFill>
              <a:ln>
                <a:noFill/>
              </a:ln>
            </p:spPr>
          </p:sp>
          <p:sp>
            <p:nvSpPr>
              <p:cNvPr id="40" name="Freeform 40"/>
              <p:cNvSpPr/>
              <p:nvPr/>
            </p:nvSpPr>
            <p:spPr>
              <a:xfrm>
                <a:off x="10272712" y="1949579"/>
                <a:ext cx="200025" cy="205880"/>
              </a:xfrm>
              <a:custGeom>
                <a:avLst/>
                <a:gdLst/>
                <a:ahLst/>
                <a:cxnLst/>
                <a:rect l="l" t="t" r="r" b="b"/>
                <a:pathLst>
                  <a:path w="200025" h="205880">
                    <a:moveTo>
                      <a:pt x="200025" y="24478"/>
                    </a:moveTo>
                    <a:lnTo>
                      <a:pt x="200025" y="74484"/>
                    </a:lnTo>
                    <a:cubicBezTo>
                      <a:pt x="200025" y="79087"/>
                      <a:pt x="196294" y="82818"/>
                      <a:pt x="191691" y="82818"/>
                    </a:cubicBezTo>
                    <a:lnTo>
                      <a:pt x="141684" y="82818"/>
                    </a:lnTo>
                    <a:cubicBezTo>
                      <a:pt x="137081" y="82818"/>
                      <a:pt x="133350" y="79087"/>
                      <a:pt x="133350" y="74484"/>
                    </a:cubicBezTo>
                    <a:cubicBezTo>
                      <a:pt x="133350" y="69881"/>
                      <a:pt x="137081" y="66149"/>
                      <a:pt x="141684" y="66149"/>
                    </a:cubicBezTo>
                    <a:lnTo>
                      <a:pt x="171574" y="66149"/>
                    </a:lnTo>
                    <a:lnTo>
                      <a:pt x="156332" y="50908"/>
                    </a:lnTo>
                    <a:cubicBezTo>
                      <a:pt x="140842" y="35348"/>
                      <a:pt x="119812" y="26569"/>
                      <a:pt x="97856" y="26499"/>
                    </a:cubicBezTo>
                    <a:lnTo>
                      <a:pt x="97387" y="26499"/>
                    </a:lnTo>
                    <a:cubicBezTo>
                      <a:pt x="75615" y="26448"/>
                      <a:pt x="54699" y="34969"/>
                      <a:pt x="39161" y="50220"/>
                    </a:cubicBezTo>
                    <a:cubicBezTo>
                      <a:pt x="35851" y="53311"/>
                      <a:pt x="30678" y="53192"/>
                      <a:pt x="27513" y="49953"/>
                    </a:cubicBezTo>
                    <a:cubicBezTo>
                      <a:pt x="24348" y="46714"/>
                      <a:pt x="24348" y="41541"/>
                      <a:pt x="27514" y="38302"/>
                    </a:cubicBezTo>
                    <a:cubicBezTo>
                      <a:pt x="66703" y="0"/>
                      <a:pt x="129418" y="367"/>
                      <a:pt x="168156" y="39125"/>
                    </a:cubicBezTo>
                    <a:lnTo>
                      <a:pt x="183356" y="54367"/>
                    </a:lnTo>
                    <a:lnTo>
                      <a:pt x="183356" y="24478"/>
                    </a:lnTo>
                    <a:cubicBezTo>
                      <a:pt x="183356" y="19875"/>
                      <a:pt x="187088" y="16143"/>
                      <a:pt x="191691" y="16143"/>
                    </a:cubicBezTo>
                    <a:cubicBezTo>
                      <a:pt x="196294" y="16143"/>
                      <a:pt x="200025" y="19875"/>
                      <a:pt x="200025" y="24478"/>
                    </a:cubicBezTo>
                    <a:close/>
                    <a:moveTo>
                      <a:pt x="160864" y="165422"/>
                    </a:moveTo>
                    <a:cubicBezTo>
                      <a:pt x="128209" y="197320"/>
                      <a:pt x="75971" y="197013"/>
                      <a:pt x="43693" y="164735"/>
                    </a:cubicBezTo>
                    <a:lnTo>
                      <a:pt x="28451" y="149493"/>
                    </a:lnTo>
                    <a:lnTo>
                      <a:pt x="58341" y="149493"/>
                    </a:lnTo>
                    <a:cubicBezTo>
                      <a:pt x="62944" y="149493"/>
                      <a:pt x="66675" y="145762"/>
                      <a:pt x="66675" y="141159"/>
                    </a:cubicBezTo>
                    <a:cubicBezTo>
                      <a:pt x="66675" y="136556"/>
                      <a:pt x="62944" y="132824"/>
                      <a:pt x="58341" y="132824"/>
                    </a:cubicBezTo>
                    <a:lnTo>
                      <a:pt x="8334" y="132824"/>
                    </a:lnTo>
                    <a:cubicBezTo>
                      <a:pt x="3731" y="132824"/>
                      <a:pt x="0" y="136556"/>
                      <a:pt x="0" y="141159"/>
                    </a:cubicBezTo>
                    <a:lnTo>
                      <a:pt x="0" y="191165"/>
                    </a:lnTo>
                    <a:cubicBezTo>
                      <a:pt x="0" y="195768"/>
                      <a:pt x="3731" y="199499"/>
                      <a:pt x="8334" y="199499"/>
                    </a:cubicBezTo>
                    <a:cubicBezTo>
                      <a:pt x="12937" y="199499"/>
                      <a:pt x="16669" y="195768"/>
                      <a:pt x="16669" y="191165"/>
                    </a:cubicBezTo>
                    <a:lnTo>
                      <a:pt x="16669" y="161276"/>
                    </a:lnTo>
                    <a:lnTo>
                      <a:pt x="31910" y="176517"/>
                    </a:lnTo>
                    <a:cubicBezTo>
                      <a:pt x="50498" y="195199"/>
                      <a:pt x="75743" y="205736"/>
                      <a:pt x="102096" y="205813"/>
                    </a:cubicBezTo>
                    <a:lnTo>
                      <a:pt x="102648" y="205813"/>
                    </a:lnTo>
                    <a:cubicBezTo>
                      <a:pt x="128777" y="205880"/>
                      <a:pt x="153881" y="195651"/>
                      <a:pt x="172522" y="177340"/>
                    </a:cubicBezTo>
                    <a:cubicBezTo>
                      <a:pt x="175687" y="174102"/>
                      <a:pt x="175687" y="168928"/>
                      <a:pt x="172522" y="165689"/>
                    </a:cubicBezTo>
                    <a:cubicBezTo>
                      <a:pt x="169357" y="162451"/>
                      <a:pt x="164185" y="162332"/>
                      <a:pt x="160874" y="165422"/>
                    </a:cubicBezTo>
                    <a:close/>
                  </a:path>
                </a:pathLst>
              </a:custGeom>
              <a:solidFill>
                <a:schemeClr val="dk1"/>
              </a:solidFill>
              <a:ln>
                <a:noFill/>
              </a:ln>
            </p:spPr>
          </p:sp>
        </p:grpSp>
      </p:grpSp>
      <p:grpSp>
        <p:nvGrpSpPr>
          <p:cNvPr id="45" name="step-1"/>
          <p:cNvGrpSpPr/>
          <p:nvPr/>
        </p:nvGrpSpPr>
        <p:grpSpPr>
          <a:xfrm>
            <a:off x="857631" y="2586990"/>
            <a:ext cx="1593805" cy="1207961"/>
            <a:chOff x="857631" y="2586990"/>
            <a:chExt cx="1593805" cy="1207961"/>
          </a:xfrm>
        </p:grpSpPr>
        <p:sp>
          <p:nvSpPr>
            <p:cNvPr id="43" name="TextBox 43"/>
            <p:cNvSpPr txBox="1"/>
            <p:nvPr/>
          </p:nvSpPr>
          <p:spPr>
            <a:xfrm>
              <a:off x="857631" y="2586990"/>
              <a:ext cx="1120460" cy="67589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Bấm nút 1</a:t>
              </a:r>
              <a:br>
                <a:rPr lang="vi-VN" sz="1800" b="1" dirty="0">
                  <a:solidFill>
                    <a:schemeClr val="dk1"/>
                  </a:solidFill>
                  <a:latin typeface="+mn-lt"/>
                  <a:ea typeface="+mn-ea"/>
                  <a:cs typeface="+mn-cs"/>
                </a:rPr>
              </a:br>
              <a:r>
                <a:rPr lang="vi-VN" sz="1800" b="1" dirty="0">
                  <a:solidFill>
                    <a:schemeClr val="dk1"/>
                  </a:solidFill>
                  <a:latin typeface="+mn-lt"/>
                  <a:ea typeface="+mn-ea"/>
                  <a:cs typeface="+mn-cs"/>
                </a:rPr>
                <a:t>→ bắt đầu</a:t>
              </a:r>
              <a:endParaRPr lang="vi-VN" sz="1800" b="1" dirty="0">
                <a:solidFill>
                  <a:schemeClr val="dk1"/>
                </a:solidFill>
                <a:latin typeface="+mn-lt"/>
                <a:ea typeface="+mn-ea"/>
                <a:cs typeface="+mn-cs"/>
              </a:endParaRPr>
            </a:p>
          </p:txBody>
        </p:sp>
        <p:sp>
          <p:nvSpPr>
            <p:cNvPr id="44" name="TextBox 44"/>
            <p:cNvSpPr txBox="1"/>
            <p:nvPr/>
          </p:nvSpPr>
          <p:spPr>
            <a:xfrm>
              <a:off x="859917" y="3302318"/>
              <a:ext cx="1591519" cy="492633"/>
            </a:xfrm>
            <a:prstGeom prst="rect">
              <a:avLst/>
            </a:prstGeom>
            <a:noFill/>
            <a:ln>
              <a:noFill/>
            </a:ln>
          </p:spPr>
          <p:txBody>
            <a:bodyPr wrap="none" lIns="0" tIns="0" rIns="0" bIns="0" anchor="t" anchorCtr="0">
              <a:spAutoFit/>
            </a:bodyPr>
            <a:lstStyle/>
            <a:p>
              <a:pPr algn="l">
                <a:lnSpc>
                  <a:spcPts val="1800"/>
                </a:lnSpc>
              </a:pPr>
              <a:r>
                <a:rPr lang="vi-VN" sz="1350" dirty="0">
                  <a:solidFill>
                    <a:schemeClr val="accent5"/>
                  </a:solidFill>
                  <a:latin typeface="+mn-lt"/>
                  <a:ea typeface="+mn-ea"/>
                  <a:cs typeface="+mn-cs"/>
                </a:rPr>
                <a:t>đèn trắng nhấp nháy</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 camera đang bật</a:t>
              </a:r>
              <a:endParaRPr lang="vi-VN" sz="1350" dirty="0">
                <a:solidFill>
                  <a:schemeClr val="accent5"/>
                </a:solidFill>
                <a:latin typeface="+mn-lt"/>
                <a:ea typeface="+mn-ea"/>
                <a:cs typeface="+mn-cs"/>
              </a:endParaRPr>
            </a:p>
          </p:txBody>
        </p:sp>
      </p:grpSp>
      <p:grpSp>
        <p:nvGrpSpPr>
          <p:cNvPr id="48" name="step-2"/>
          <p:cNvGrpSpPr/>
          <p:nvPr/>
        </p:nvGrpSpPr>
        <p:grpSpPr>
          <a:xfrm>
            <a:off x="2800731" y="2586990"/>
            <a:ext cx="1202253" cy="1207961"/>
            <a:chOff x="2800731" y="2586990"/>
            <a:chExt cx="1202253" cy="1207961"/>
          </a:xfrm>
        </p:grpSpPr>
        <p:sp>
          <p:nvSpPr>
            <p:cNvPr id="46" name="TextBox 46"/>
            <p:cNvSpPr txBox="1"/>
            <p:nvPr/>
          </p:nvSpPr>
          <p:spPr>
            <a:xfrm>
              <a:off x="2800731" y="2586990"/>
              <a:ext cx="1202253" cy="67589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Cứ 3 giây</a:t>
              </a:r>
              <a:br>
                <a:rPr lang="vi-VN" sz="1800" b="1" dirty="0">
                  <a:solidFill>
                    <a:schemeClr val="dk1"/>
                  </a:solidFill>
                  <a:latin typeface="+mn-lt"/>
                  <a:ea typeface="+mn-ea"/>
                  <a:cs typeface="+mn-cs"/>
                </a:rPr>
              </a:br>
              <a:r>
                <a:rPr lang="vi-VN" sz="1800" b="1" dirty="0">
                  <a:solidFill>
                    <a:schemeClr val="dk1"/>
                  </a:solidFill>
                  <a:latin typeface="+mn-lt"/>
                  <a:ea typeface="+mn-ea"/>
                  <a:cs typeface="+mn-cs"/>
                </a:rPr>
                <a:t>chụp 1 ảnh</a:t>
              </a:r>
              <a:endParaRPr lang="vi-VN" sz="1800" b="1" dirty="0">
                <a:solidFill>
                  <a:schemeClr val="dk1"/>
                </a:solidFill>
                <a:latin typeface="+mn-lt"/>
                <a:ea typeface="+mn-ea"/>
                <a:cs typeface="+mn-cs"/>
              </a:endParaRPr>
            </a:p>
          </p:txBody>
        </p:sp>
        <p:sp>
          <p:nvSpPr>
            <p:cNvPr id="47" name="TextBox 47"/>
            <p:cNvSpPr txBox="1"/>
            <p:nvPr/>
          </p:nvSpPr>
          <p:spPr>
            <a:xfrm>
              <a:off x="2803017" y="3302318"/>
              <a:ext cx="971333" cy="492633"/>
            </a:xfrm>
            <a:prstGeom prst="rect">
              <a:avLst/>
            </a:prstGeom>
            <a:noFill/>
            <a:ln>
              <a:noFill/>
            </a:ln>
          </p:spPr>
          <p:txBody>
            <a:bodyPr wrap="none" lIns="0" tIns="0" rIns="0" bIns="0" anchor="t" anchorCtr="0">
              <a:spAutoFit/>
            </a:bodyPr>
            <a:lstStyle/>
            <a:p>
              <a:pPr algn="l">
                <a:lnSpc>
                  <a:spcPts val="1800"/>
                </a:lnSpc>
              </a:pPr>
              <a:r>
                <a:rPr lang="vi-VN" sz="1350" dirty="0">
                  <a:solidFill>
                    <a:schemeClr val="accent5"/>
                  </a:solidFill>
                  <a:latin typeface="+mn-lt"/>
                  <a:ea typeface="+mn-ea"/>
                  <a:cs typeface="+mn-cs"/>
                </a:rPr>
                <a:t>AI nhận diện</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cảm xúc</a:t>
              </a:r>
              <a:endParaRPr lang="vi-VN" sz="1350" dirty="0">
                <a:solidFill>
                  <a:schemeClr val="accent5"/>
                </a:solidFill>
                <a:latin typeface="+mn-lt"/>
                <a:ea typeface="+mn-ea"/>
                <a:cs typeface="+mn-cs"/>
              </a:endParaRPr>
            </a:p>
          </p:txBody>
        </p:sp>
      </p:grpSp>
      <p:grpSp>
        <p:nvGrpSpPr>
          <p:cNvPr id="51" name="step-3"/>
          <p:cNvGrpSpPr/>
          <p:nvPr/>
        </p:nvGrpSpPr>
        <p:grpSpPr>
          <a:xfrm>
            <a:off x="4553331" y="2586990"/>
            <a:ext cx="1379967" cy="1436561"/>
            <a:chOff x="4553331" y="2586990"/>
            <a:chExt cx="1379967" cy="1436561"/>
          </a:xfrm>
        </p:grpSpPr>
        <p:sp>
          <p:nvSpPr>
            <p:cNvPr id="49" name="TextBox 49"/>
            <p:cNvSpPr txBox="1"/>
            <p:nvPr/>
          </p:nvSpPr>
          <p:spPr>
            <a:xfrm>
              <a:off x="4553331" y="2586990"/>
              <a:ext cx="1379967" cy="675894"/>
            </a:xfrm>
            <a:prstGeom prst="rect">
              <a:avLst/>
            </a:prstGeom>
            <a:noFill/>
            <a:ln>
              <a:noFill/>
            </a:ln>
          </p:spPr>
          <p:txBody>
            <a:bodyPr wrap="none" lIns="0" tIns="0" rIns="0" bIns="0" anchor="t" anchorCtr="0">
              <a:spAutoFit/>
            </a:bodyPr>
            <a:lstStyle/>
            <a:p>
              <a:pPr algn="l">
                <a:lnSpc>
                  <a:spcPts val="2550"/>
                </a:lnSpc>
              </a:pPr>
              <a:r>
                <a:rPr lang="vi-VN" sz="1800" b="1" dirty="0">
                  <a:solidFill>
                    <a:schemeClr val="accent2"/>
                  </a:solidFill>
                  <a:latin typeface="+mn-lt"/>
                  <a:ea typeface="+mn-ea"/>
                  <a:cs typeface="+mn-cs"/>
                </a:rPr>
                <a:t>Chọn bài</a:t>
              </a:r>
              <a:br>
                <a:rPr lang="vi-VN" sz="1800" b="1" dirty="0">
                  <a:solidFill>
                    <a:schemeClr val="accent2"/>
                  </a:solidFill>
                  <a:latin typeface="+mn-lt"/>
                  <a:ea typeface="+mn-ea"/>
                  <a:cs typeface="+mn-cs"/>
                </a:rPr>
              </a:br>
              <a:r>
                <a:rPr lang="vi-VN" sz="1800" b="1" dirty="0">
                  <a:solidFill>
                    <a:schemeClr val="accent2"/>
                  </a:solidFill>
                  <a:latin typeface="+mn-lt"/>
                  <a:ea typeface="+mn-ea"/>
                  <a:cs typeface="+mn-cs"/>
                </a:rPr>
                <a:t>hợp cảm xúc</a:t>
              </a:r>
              <a:endParaRPr lang="vi-VN" sz="1800" b="1" dirty="0">
                <a:solidFill>
                  <a:schemeClr val="accent2"/>
                </a:solidFill>
                <a:latin typeface="+mn-lt"/>
                <a:ea typeface="+mn-ea"/>
                <a:cs typeface="+mn-cs"/>
              </a:endParaRPr>
            </a:p>
          </p:txBody>
        </p:sp>
        <p:sp>
          <p:nvSpPr>
            <p:cNvPr id="50" name="TextBox 50"/>
            <p:cNvSpPr txBox="1"/>
            <p:nvPr/>
          </p:nvSpPr>
          <p:spPr>
            <a:xfrm>
              <a:off x="4555617" y="3302318"/>
              <a:ext cx="970167" cy="721233"/>
            </a:xfrm>
            <a:prstGeom prst="rect">
              <a:avLst/>
            </a:prstGeom>
            <a:noFill/>
            <a:ln>
              <a:noFill/>
            </a:ln>
          </p:spPr>
          <p:txBody>
            <a:bodyPr wrap="none" lIns="0" tIns="0" rIns="0" bIns="0" anchor="t" anchorCtr="0">
              <a:spAutoFit/>
            </a:bodyPr>
            <a:lstStyle/>
            <a:p>
              <a:pPr algn="l">
                <a:lnSpc>
                  <a:spcPts val="1800"/>
                </a:lnSpc>
              </a:pPr>
              <a:r>
                <a:rPr lang="vi-VN" sz="1350" dirty="0">
                  <a:solidFill>
                    <a:schemeClr val="accent5"/>
                  </a:solidFill>
                  <a:latin typeface="+mn-lt"/>
                  <a:ea typeface="+mn-ea"/>
                  <a:cs typeface="+mn-cs"/>
                </a:rPr>
                <a:t>tắt camera,</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phát nhạc,</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đèn đổi màu</a:t>
              </a:r>
              <a:endParaRPr lang="vi-VN" sz="1350" dirty="0">
                <a:solidFill>
                  <a:schemeClr val="accent5"/>
                </a:solidFill>
                <a:latin typeface="+mn-lt"/>
                <a:ea typeface="+mn-ea"/>
                <a:cs typeface="+mn-cs"/>
              </a:endParaRPr>
            </a:p>
          </p:txBody>
        </p:sp>
      </p:grpSp>
      <p:grpSp>
        <p:nvGrpSpPr>
          <p:cNvPr id="54" name="step-4"/>
          <p:cNvGrpSpPr/>
          <p:nvPr/>
        </p:nvGrpSpPr>
        <p:grpSpPr>
          <a:xfrm>
            <a:off x="6305931" y="2586990"/>
            <a:ext cx="1494267" cy="1207961"/>
            <a:chOff x="6305931" y="2586990"/>
            <a:chExt cx="1494267" cy="1207961"/>
          </a:xfrm>
        </p:grpSpPr>
        <p:sp>
          <p:nvSpPr>
            <p:cNvPr id="52" name="TextBox 52"/>
            <p:cNvSpPr txBox="1"/>
            <p:nvPr/>
          </p:nvSpPr>
          <p:spPr>
            <a:xfrm>
              <a:off x="6305931" y="2586990"/>
              <a:ext cx="1494267" cy="67589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Nghe hết</a:t>
              </a:r>
              <a:br>
                <a:rPr lang="vi-VN" sz="1800" b="1" dirty="0">
                  <a:solidFill>
                    <a:schemeClr val="dk1"/>
                  </a:solidFill>
                  <a:latin typeface="+mn-lt"/>
                  <a:ea typeface="+mn-ea"/>
                  <a:cs typeface="+mn-cs"/>
                </a:rPr>
              </a:br>
              <a:r>
                <a:rPr lang="vi-VN" sz="1800" b="1" dirty="0">
                  <a:solidFill>
                    <a:schemeClr val="dk1"/>
                  </a:solidFill>
                  <a:latin typeface="+mn-lt"/>
                  <a:ea typeface="+mn-ea"/>
                  <a:cs typeface="+mn-cs"/>
                </a:rPr>
                <a:t>hoặc bấm nút</a:t>
              </a:r>
              <a:endParaRPr lang="vi-VN" sz="1800" b="1" dirty="0">
                <a:solidFill>
                  <a:schemeClr val="dk1"/>
                </a:solidFill>
                <a:latin typeface="+mn-lt"/>
                <a:ea typeface="+mn-ea"/>
                <a:cs typeface="+mn-cs"/>
              </a:endParaRPr>
            </a:p>
          </p:txBody>
        </p:sp>
        <p:sp>
          <p:nvSpPr>
            <p:cNvPr id="53" name="TextBox 53"/>
            <p:cNvSpPr txBox="1"/>
            <p:nvPr/>
          </p:nvSpPr>
          <p:spPr>
            <a:xfrm>
              <a:off x="6308217" y="3302318"/>
              <a:ext cx="1225336" cy="492633"/>
            </a:xfrm>
            <a:prstGeom prst="rect">
              <a:avLst/>
            </a:prstGeom>
            <a:noFill/>
            <a:ln>
              <a:noFill/>
            </a:ln>
          </p:spPr>
          <p:txBody>
            <a:bodyPr wrap="none" lIns="0" tIns="0" rIns="0" bIns="0" anchor="t" anchorCtr="0">
              <a:spAutoFit/>
            </a:bodyPr>
            <a:lstStyle/>
            <a:p>
              <a:pPr algn="l">
                <a:lnSpc>
                  <a:spcPts val="1800"/>
                </a:lnSpc>
              </a:pPr>
              <a:r>
                <a:rPr lang="vi-VN" sz="1350" dirty="0">
                  <a:solidFill>
                    <a:schemeClr val="accent5"/>
                  </a:solidFill>
                  <a:latin typeface="+mn-lt"/>
                  <a:ea typeface="+mn-ea"/>
                  <a:cs typeface="+mn-cs"/>
                </a:rPr>
                <a:t>nút 1: bài tiếp</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nút 2: tạm dừng</a:t>
              </a:r>
              <a:endParaRPr lang="vi-VN" sz="1350" dirty="0">
                <a:solidFill>
                  <a:schemeClr val="accent5"/>
                </a:solidFill>
                <a:latin typeface="+mn-lt"/>
                <a:ea typeface="+mn-ea"/>
                <a:cs typeface="+mn-cs"/>
              </a:endParaRPr>
            </a:p>
          </p:txBody>
        </p:sp>
      </p:grpSp>
      <p:grpSp>
        <p:nvGrpSpPr>
          <p:cNvPr id="57" name="step-5"/>
          <p:cNvGrpSpPr/>
          <p:nvPr/>
        </p:nvGrpSpPr>
        <p:grpSpPr>
          <a:xfrm>
            <a:off x="8058531" y="2586990"/>
            <a:ext cx="1337161" cy="1207961"/>
            <a:chOff x="8058531" y="2586990"/>
            <a:chExt cx="1337161" cy="1207961"/>
          </a:xfrm>
        </p:grpSpPr>
        <p:sp>
          <p:nvSpPr>
            <p:cNvPr id="55" name="TextBox 55"/>
            <p:cNvSpPr txBox="1"/>
            <p:nvPr/>
          </p:nvSpPr>
          <p:spPr>
            <a:xfrm>
              <a:off x="8058531" y="2586990"/>
              <a:ext cx="980694" cy="67589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Đo % bài</a:t>
              </a:r>
              <a:br>
                <a:rPr lang="vi-VN" sz="1800" b="1" dirty="0">
                  <a:solidFill>
                    <a:schemeClr val="dk1"/>
                  </a:solidFill>
                  <a:latin typeface="+mn-lt"/>
                  <a:ea typeface="+mn-ea"/>
                  <a:cs typeface="+mn-cs"/>
                </a:rPr>
              </a:br>
              <a:r>
                <a:rPr lang="vi-VN" sz="1800" b="1" dirty="0">
                  <a:solidFill>
                    <a:schemeClr val="dk1"/>
                  </a:solidFill>
                  <a:latin typeface="+mn-lt"/>
                  <a:ea typeface="+mn-ea"/>
                  <a:cs typeface="+mn-cs"/>
                </a:rPr>
                <a:t>đã nghe</a:t>
              </a:r>
              <a:endParaRPr lang="vi-VN" sz="1800" b="1" dirty="0">
                <a:solidFill>
                  <a:schemeClr val="dk1"/>
                </a:solidFill>
                <a:latin typeface="+mn-lt"/>
                <a:ea typeface="+mn-ea"/>
                <a:cs typeface="+mn-cs"/>
              </a:endParaRPr>
            </a:p>
          </p:txBody>
        </p:sp>
        <p:sp>
          <p:nvSpPr>
            <p:cNvPr id="56" name="TextBox 56"/>
            <p:cNvSpPr txBox="1"/>
            <p:nvPr/>
          </p:nvSpPr>
          <p:spPr>
            <a:xfrm>
              <a:off x="8060817" y="3302318"/>
              <a:ext cx="1334875" cy="492633"/>
            </a:xfrm>
            <a:prstGeom prst="rect">
              <a:avLst/>
            </a:prstGeom>
            <a:noFill/>
            <a:ln>
              <a:noFill/>
            </a:ln>
          </p:spPr>
          <p:txBody>
            <a:bodyPr wrap="none" lIns="0" tIns="0" rIns="0" bIns="0" anchor="t" anchorCtr="0">
              <a:spAutoFit/>
            </a:bodyPr>
            <a:lstStyle/>
            <a:p>
              <a:pPr algn="l">
                <a:lnSpc>
                  <a:spcPts val="1800"/>
                </a:lnSpc>
              </a:pPr>
              <a:r>
                <a:rPr lang="vi-VN" sz="1350" dirty="0">
                  <a:solidFill>
                    <a:schemeClr val="accent5"/>
                  </a:solidFill>
                  <a:latin typeface="+mn-lt"/>
                  <a:ea typeface="+mn-ea"/>
                  <a:cs typeface="+mn-cs"/>
                </a:rPr>
                <a:t>→ cộng / trừ điểm</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bài đó</a:t>
              </a:r>
              <a:endParaRPr lang="vi-VN" sz="1350" dirty="0">
                <a:solidFill>
                  <a:schemeClr val="accent5"/>
                </a:solidFill>
                <a:latin typeface="+mn-lt"/>
                <a:ea typeface="+mn-ea"/>
                <a:cs typeface="+mn-cs"/>
              </a:endParaRPr>
            </a:p>
          </p:txBody>
        </p:sp>
      </p:grpSp>
      <p:grpSp>
        <p:nvGrpSpPr>
          <p:cNvPr id="60" name="step-6"/>
          <p:cNvGrpSpPr/>
          <p:nvPr/>
        </p:nvGrpSpPr>
        <p:grpSpPr>
          <a:xfrm>
            <a:off x="9811131" y="2586990"/>
            <a:ext cx="1166757" cy="1207961"/>
            <a:chOff x="9811131" y="2586990"/>
            <a:chExt cx="1166757" cy="1207961"/>
          </a:xfrm>
        </p:grpSpPr>
        <p:sp>
          <p:nvSpPr>
            <p:cNvPr id="58" name="TextBox 58"/>
            <p:cNvSpPr txBox="1"/>
            <p:nvPr/>
          </p:nvSpPr>
          <p:spPr>
            <a:xfrm>
              <a:off x="9811131" y="2586990"/>
              <a:ext cx="1021865" cy="675894"/>
            </a:xfrm>
            <a:prstGeom prst="rect">
              <a:avLst/>
            </a:prstGeom>
            <a:noFill/>
            <a:ln>
              <a:noFill/>
            </a:ln>
          </p:spPr>
          <p:txBody>
            <a:bodyPr wrap="none" lIns="0" tIns="0" rIns="0" bIns="0" anchor="t" anchorCtr="0">
              <a:spAutoFit/>
            </a:bodyPr>
            <a:lstStyle/>
            <a:p>
              <a:pPr algn="l">
                <a:lnSpc>
                  <a:spcPts val="2550"/>
                </a:lnSpc>
              </a:pPr>
              <a:r>
                <a:rPr lang="vi-VN" sz="1800" b="1" dirty="0">
                  <a:solidFill>
                    <a:schemeClr val="dk1"/>
                  </a:solidFill>
                  <a:latin typeface="+mn-lt"/>
                  <a:ea typeface="+mn-ea"/>
                  <a:cs typeface="+mn-cs"/>
                </a:rPr>
                <a:t>Hết bài</a:t>
              </a:r>
              <a:br>
                <a:rPr lang="vi-VN" sz="1800" b="1" dirty="0">
                  <a:solidFill>
                    <a:schemeClr val="dk1"/>
                  </a:solidFill>
                  <a:latin typeface="+mn-lt"/>
                  <a:ea typeface="+mn-ea"/>
                  <a:cs typeface="+mn-cs"/>
                </a:rPr>
              </a:br>
              <a:r>
                <a:rPr lang="vi-VN" sz="1800" b="1" dirty="0">
                  <a:solidFill>
                    <a:schemeClr val="dk1"/>
                  </a:solidFill>
                  <a:latin typeface="+mn-lt"/>
                  <a:ea typeface="+mn-ea"/>
                  <a:cs typeface="+mn-cs"/>
                </a:rPr>
                <a:t>→ quét lại</a:t>
              </a:r>
              <a:endParaRPr lang="vi-VN" sz="1800" b="1" dirty="0">
                <a:solidFill>
                  <a:schemeClr val="dk1"/>
                </a:solidFill>
                <a:latin typeface="+mn-lt"/>
                <a:ea typeface="+mn-ea"/>
                <a:cs typeface="+mn-cs"/>
              </a:endParaRPr>
            </a:p>
          </p:txBody>
        </p:sp>
        <p:sp>
          <p:nvSpPr>
            <p:cNvPr id="59" name="TextBox 59"/>
            <p:cNvSpPr txBox="1"/>
            <p:nvPr/>
          </p:nvSpPr>
          <p:spPr>
            <a:xfrm>
              <a:off x="9813417" y="3302318"/>
              <a:ext cx="1164471" cy="492633"/>
            </a:xfrm>
            <a:prstGeom prst="rect">
              <a:avLst/>
            </a:prstGeom>
            <a:noFill/>
            <a:ln>
              <a:noFill/>
            </a:ln>
          </p:spPr>
          <p:txBody>
            <a:bodyPr wrap="none" lIns="0" tIns="0" rIns="0" bIns="0" anchor="t" anchorCtr="0">
              <a:spAutoFit/>
            </a:bodyPr>
            <a:lstStyle/>
            <a:p>
              <a:pPr algn="l">
                <a:lnSpc>
                  <a:spcPts val="1800"/>
                </a:lnSpc>
              </a:pPr>
              <a:r>
                <a:rPr lang="vi-VN" sz="1350" dirty="0">
                  <a:solidFill>
                    <a:schemeClr val="accent5"/>
                  </a:solidFill>
                  <a:latin typeface="+mn-lt"/>
                  <a:ea typeface="+mn-ea"/>
                  <a:cs typeface="+mn-cs"/>
                </a:rPr>
                <a:t>bật camera,</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quay về bước 2</a:t>
              </a:r>
              <a:endParaRPr lang="vi-VN" sz="1350" dirty="0">
                <a:solidFill>
                  <a:schemeClr val="accent5"/>
                </a:solidFill>
                <a:latin typeface="+mn-lt"/>
                <a:ea typeface="+mn-ea"/>
                <a:cs typeface="+mn-cs"/>
              </a:endParaRPr>
            </a:p>
          </p:txBody>
        </p:sp>
      </p:grpSp>
      <p:grpSp>
        <p:nvGrpSpPr>
          <p:cNvPr id="66" name="loop"/>
          <p:cNvGrpSpPr/>
          <p:nvPr/>
        </p:nvGrpSpPr>
        <p:grpSpPr>
          <a:xfrm>
            <a:off x="3381375" y="4114800"/>
            <a:ext cx="7105650" cy="714756"/>
            <a:chOff x="3381375" y="4114800"/>
            <a:chExt cx="7105650" cy="714756"/>
          </a:xfrm>
        </p:grpSpPr>
        <p:grpSp>
          <p:nvGrpSpPr>
            <p:cNvPr id="64" name="Group 64"/>
            <p:cNvGrpSpPr/>
            <p:nvPr/>
          </p:nvGrpSpPr>
          <p:grpSpPr>
            <a:xfrm>
              <a:off x="3381375" y="4114800"/>
              <a:ext cx="7105650" cy="371475"/>
              <a:chOff x="3381375" y="4114800"/>
              <a:chExt cx="7105650" cy="371475"/>
            </a:xfrm>
          </p:grpSpPr>
          <p:sp>
            <p:nvSpPr>
              <p:cNvPr id="61" name="Line 61"/>
              <p:cNvSpPr/>
              <p:nvPr/>
            </p:nvSpPr>
            <p:spPr>
              <a:xfrm>
                <a:off x="10477500" y="4114800"/>
                <a:ext cx="9525" cy="361950"/>
              </a:xfrm>
              <a:custGeom>
                <a:avLst/>
                <a:gdLst/>
                <a:ahLst/>
                <a:cxnLst/>
                <a:rect l="l" t="t" r="r" b="b"/>
                <a:pathLst>
                  <a:path w="9525" h="361950">
                    <a:moveTo>
                      <a:pt x="0" y="0"/>
                    </a:moveTo>
                    <a:lnTo>
                      <a:pt x="0" y="361950"/>
                    </a:lnTo>
                  </a:path>
                </a:pathLst>
              </a:custGeom>
              <a:noFill/>
              <a:ln w="19050">
                <a:solidFill>
                  <a:schemeClr val="accent1"/>
                </a:solidFill>
                <a:prstDash val="lgDash"/>
              </a:ln>
            </p:spPr>
          </p:sp>
          <p:sp>
            <p:nvSpPr>
              <p:cNvPr id="62" name="Line 62"/>
              <p:cNvSpPr/>
              <p:nvPr/>
            </p:nvSpPr>
            <p:spPr>
              <a:xfrm>
                <a:off x="3381375" y="4476750"/>
                <a:ext cx="7096125" cy="9525"/>
              </a:xfrm>
              <a:custGeom>
                <a:avLst/>
                <a:gdLst/>
                <a:ahLst/>
                <a:cxnLst/>
                <a:rect l="l" t="t" r="r" b="b"/>
                <a:pathLst>
                  <a:path w="7096125" h="9525">
                    <a:moveTo>
                      <a:pt x="7096125" y="0"/>
                    </a:moveTo>
                    <a:lnTo>
                      <a:pt x="0" y="0"/>
                    </a:lnTo>
                  </a:path>
                </a:pathLst>
              </a:custGeom>
              <a:noFill/>
              <a:ln w="19050">
                <a:solidFill>
                  <a:schemeClr val="accent1"/>
                </a:solidFill>
                <a:prstDash val="lgDash"/>
              </a:ln>
            </p:spPr>
          </p:sp>
          <p:sp>
            <p:nvSpPr>
              <p:cNvPr id="63" name="Line 63"/>
              <p:cNvSpPr/>
              <p:nvPr/>
            </p:nvSpPr>
            <p:spPr>
              <a:xfrm flipV="1">
                <a:off x="3381375" y="4133850"/>
                <a:ext cx="1" cy="342900"/>
              </a:xfrm>
              <a:prstGeom prst="line">
                <a:avLst/>
              </a:prstGeom>
              <a:noFill/>
              <a:ln w="19050">
                <a:solidFill>
                  <a:schemeClr val="accent1"/>
                </a:solidFill>
                <a:prstDash val="lgDash"/>
                <a:tailEnd type="triangle" w="lg" len="lg"/>
              </a:ln>
            </p:spPr>
          </p:sp>
        </p:grpSp>
        <p:sp>
          <p:nvSpPr>
            <p:cNvPr id="65" name="TextBox 65"/>
            <p:cNvSpPr txBox="1"/>
            <p:nvPr/>
          </p:nvSpPr>
          <p:spPr>
            <a:xfrm>
              <a:off x="5604281" y="4594860"/>
              <a:ext cx="2640787" cy="234696"/>
            </a:xfrm>
            <a:prstGeom prst="rect">
              <a:avLst/>
            </a:prstGeom>
            <a:noFill/>
            <a:ln>
              <a:noFill/>
            </a:ln>
          </p:spPr>
          <p:txBody>
            <a:bodyPr wrap="none" lIns="0" tIns="0" rIns="0" bIns="0" anchor="t" anchorCtr="0">
              <a:spAutoFit/>
            </a:bodyPr>
            <a:lstStyle/>
            <a:p>
              <a:pPr algn="ctr"/>
              <a:r>
                <a:rPr lang="vi-VN" sz="1200" dirty="0">
                  <a:solidFill>
                    <a:schemeClr val="accent1"/>
                  </a:solidFill>
                  <a:latin typeface="Consolas" panose="020B0609020204030204"/>
                  <a:ea typeface="Consolas" panose="020B0609020204030204"/>
                  <a:cs typeface="Consolas" panose="020B0609020204030204"/>
                </a:rPr>
                <a:t>VÒNG LẶP: HẾT BÀI → QUÉT LẠI</a:t>
              </a:r>
              <a:endParaRPr lang="vi-VN" sz="1200" dirty="0">
                <a:solidFill>
                  <a:schemeClr val="accent1"/>
                </a:solidFill>
                <a:latin typeface="Consolas" panose="020B0609020204030204"/>
                <a:ea typeface="Consolas" panose="020B0609020204030204"/>
                <a:cs typeface="Consolas" panose="020B0609020204030204"/>
              </a:endParaRPr>
            </a:p>
          </p:txBody>
        </p:sp>
      </p:grpSp>
      <p:grpSp>
        <p:nvGrpSpPr>
          <p:cNvPr id="74" name="takeaway"/>
          <p:cNvGrpSpPr/>
          <p:nvPr/>
        </p:nvGrpSpPr>
        <p:grpSpPr>
          <a:xfrm>
            <a:off x="609600" y="5143500"/>
            <a:ext cx="10972800" cy="933450"/>
            <a:chOff x="609600" y="5143500"/>
            <a:chExt cx="10972800" cy="933450"/>
          </a:xfrm>
        </p:grpSpPr>
        <p:sp>
          <p:nvSpPr>
            <p:cNvPr id="67" name="Rectangle 67"/>
            <p:cNvSpPr/>
            <p:nvPr/>
          </p:nvSpPr>
          <p:spPr>
            <a:xfrm>
              <a:off x="609600" y="5143500"/>
              <a:ext cx="10972800" cy="933450"/>
            </a:xfrm>
            <a:prstGeom prst="roundRect">
              <a:avLst>
                <a:gd name="adj" fmla="val 12245"/>
              </a:avLst>
            </a:prstGeom>
            <a:solidFill>
              <a:schemeClr val="accent1">
                <a:alpha val="8000"/>
              </a:schemeClr>
            </a:solidFill>
            <a:ln>
              <a:noFill/>
            </a:ln>
          </p:spPr>
        </p:sp>
        <p:sp>
          <p:nvSpPr>
            <p:cNvPr id="68" name="Rectangle 68"/>
            <p:cNvSpPr/>
            <p:nvPr/>
          </p:nvSpPr>
          <p:spPr>
            <a:xfrm>
              <a:off x="609600" y="5143500"/>
              <a:ext cx="38100" cy="933450"/>
            </a:xfrm>
            <a:prstGeom prst="rect">
              <a:avLst/>
            </a:prstGeom>
            <a:solidFill>
              <a:schemeClr val="accent1"/>
            </a:solidFill>
            <a:ln>
              <a:noFill/>
            </a:ln>
          </p:spPr>
        </p:sp>
        <p:grpSp>
          <p:nvGrpSpPr>
            <p:cNvPr id="71" name="Group 71"/>
            <p:cNvGrpSpPr/>
            <p:nvPr/>
          </p:nvGrpSpPr>
          <p:grpSpPr>
            <a:xfrm>
              <a:off x="962025" y="5446670"/>
              <a:ext cx="285750" cy="294114"/>
              <a:chOff x="962025" y="5446670"/>
              <a:chExt cx="285750" cy="294114"/>
            </a:xfrm>
          </p:grpSpPr>
          <p:sp>
            <p:nvSpPr>
              <p:cNvPr id="69" name="Freeform 69"/>
              <p:cNvSpPr/>
              <p:nvPr/>
            </p:nvSpPr>
            <p:spPr>
              <a:xfrm>
                <a:off x="973931" y="5469731"/>
                <a:ext cx="261938" cy="261938"/>
              </a:xfrm>
              <a:custGeom>
                <a:avLst/>
                <a:gdLst/>
                <a:ahLst/>
                <a:cxnLst/>
                <a:rect l="l" t="t" r="r" b="b"/>
                <a:pathLst>
                  <a:path w="261938" h="261938">
                    <a:moveTo>
                      <a:pt x="261938" y="130969"/>
                    </a:moveTo>
                    <a:cubicBezTo>
                      <a:pt x="261938" y="203301"/>
                      <a:pt x="203301" y="261938"/>
                      <a:pt x="130969" y="261938"/>
                    </a:cubicBezTo>
                    <a:cubicBezTo>
                      <a:pt x="58637" y="261938"/>
                      <a:pt x="0" y="203301"/>
                      <a:pt x="0" y="130969"/>
                    </a:cubicBezTo>
                    <a:cubicBezTo>
                      <a:pt x="0" y="58637"/>
                      <a:pt x="58637" y="0"/>
                      <a:pt x="130969" y="0"/>
                    </a:cubicBezTo>
                    <a:cubicBezTo>
                      <a:pt x="203301" y="0"/>
                      <a:pt x="261938" y="58637"/>
                      <a:pt x="261938" y="130969"/>
                    </a:cubicBezTo>
                    <a:close/>
                  </a:path>
                </a:pathLst>
              </a:custGeom>
              <a:solidFill>
                <a:schemeClr val="accent1">
                  <a:alpha val="20000"/>
                </a:schemeClr>
              </a:solidFill>
              <a:ln>
                <a:noFill/>
              </a:ln>
            </p:spPr>
          </p:sp>
          <p:sp>
            <p:nvSpPr>
              <p:cNvPr id="70" name="Freeform 70"/>
              <p:cNvSpPr/>
              <p:nvPr/>
            </p:nvSpPr>
            <p:spPr>
              <a:xfrm>
                <a:off x="962025" y="5446670"/>
                <a:ext cx="285750" cy="294114"/>
              </a:xfrm>
              <a:custGeom>
                <a:avLst/>
                <a:gdLst/>
                <a:ahLst/>
                <a:cxnLst/>
                <a:rect l="l" t="t" r="r" b="b"/>
                <a:pathLst>
                  <a:path w="285750" h="294114">
                    <a:moveTo>
                      <a:pt x="285750" y="34968"/>
                    </a:moveTo>
                    <a:lnTo>
                      <a:pt x="285750" y="106405"/>
                    </a:lnTo>
                    <a:cubicBezTo>
                      <a:pt x="285750" y="112981"/>
                      <a:pt x="280419" y="118312"/>
                      <a:pt x="273844" y="118312"/>
                    </a:cubicBezTo>
                    <a:lnTo>
                      <a:pt x="202406" y="118312"/>
                    </a:lnTo>
                    <a:cubicBezTo>
                      <a:pt x="195831" y="118312"/>
                      <a:pt x="190500" y="112981"/>
                      <a:pt x="190500" y="106405"/>
                    </a:cubicBezTo>
                    <a:cubicBezTo>
                      <a:pt x="190500" y="99830"/>
                      <a:pt x="195831" y="94499"/>
                      <a:pt x="202406" y="94499"/>
                    </a:cubicBezTo>
                    <a:lnTo>
                      <a:pt x="245105" y="94499"/>
                    </a:lnTo>
                    <a:lnTo>
                      <a:pt x="223331" y="72726"/>
                    </a:lnTo>
                    <a:cubicBezTo>
                      <a:pt x="201203" y="50497"/>
                      <a:pt x="171159" y="37956"/>
                      <a:pt x="139794" y="37855"/>
                    </a:cubicBezTo>
                    <a:lnTo>
                      <a:pt x="139125" y="37855"/>
                    </a:lnTo>
                    <a:cubicBezTo>
                      <a:pt x="108022" y="37782"/>
                      <a:pt x="78141" y="49956"/>
                      <a:pt x="55944" y="71743"/>
                    </a:cubicBezTo>
                    <a:cubicBezTo>
                      <a:pt x="51215" y="76158"/>
                      <a:pt x="43826" y="75989"/>
                      <a:pt x="39305" y="71362"/>
                    </a:cubicBezTo>
                    <a:cubicBezTo>
                      <a:pt x="34783" y="66735"/>
                      <a:pt x="34783" y="59344"/>
                      <a:pt x="39306" y="54717"/>
                    </a:cubicBezTo>
                    <a:cubicBezTo>
                      <a:pt x="95291" y="0"/>
                      <a:pt x="184883" y="524"/>
                      <a:pt x="240223" y="55893"/>
                    </a:cubicBezTo>
                    <a:lnTo>
                      <a:pt x="261938" y="77667"/>
                    </a:lnTo>
                    <a:lnTo>
                      <a:pt x="261938" y="34968"/>
                    </a:lnTo>
                    <a:cubicBezTo>
                      <a:pt x="261938" y="28392"/>
                      <a:pt x="267268" y="23062"/>
                      <a:pt x="273844" y="23062"/>
                    </a:cubicBezTo>
                    <a:cubicBezTo>
                      <a:pt x="280419" y="23062"/>
                      <a:pt x="285750" y="28392"/>
                      <a:pt x="285750" y="34968"/>
                    </a:cubicBezTo>
                    <a:close/>
                    <a:moveTo>
                      <a:pt x="229806" y="236318"/>
                    </a:moveTo>
                    <a:cubicBezTo>
                      <a:pt x="183156" y="281885"/>
                      <a:pt x="108530" y="281447"/>
                      <a:pt x="62419" y="235335"/>
                    </a:cubicBezTo>
                    <a:lnTo>
                      <a:pt x="40645" y="213562"/>
                    </a:lnTo>
                    <a:lnTo>
                      <a:pt x="83344" y="213562"/>
                    </a:lnTo>
                    <a:cubicBezTo>
                      <a:pt x="89919" y="213562"/>
                      <a:pt x="95250" y="208231"/>
                      <a:pt x="95250" y="201655"/>
                    </a:cubicBezTo>
                    <a:cubicBezTo>
                      <a:pt x="95250" y="195080"/>
                      <a:pt x="89919" y="189749"/>
                      <a:pt x="83344" y="189749"/>
                    </a:cubicBezTo>
                    <a:lnTo>
                      <a:pt x="11906" y="189749"/>
                    </a:lnTo>
                    <a:cubicBezTo>
                      <a:pt x="5331" y="189749"/>
                      <a:pt x="0" y="195080"/>
                      <a:pt x="0" y="201655"/>
                    </a:cubicBezTo>
                    <a:lnTo>
                      <a:pt x="0" y="273093"/>
                    </a:lnTo>
                    <a:cubicBezTo>
                      <a:pt x="0" y="279669"/>
                      <a:pt x="5331" y="284999"/>
                      <a:pt x="11906" y="284999"/>
                    </a:cubicBezTo>
                    <a:cubicBezTo>
                      <a:pt x="18482" y="284999"/>
                      <a:pt x="23812" y="279669"/>
                      <a:pt x="23812" y="273093"/>
                    </a:cubicBezTo>
                    <a:lnTo>
                      <a:pt x="23812" y="230394"/>
                    </a:lnTo>
                    <a:lnTo>
                      <a:pt x="45586" y="252168"/>
                    </a:lnTo>
                    <a:cubicBezTo>
                      <a:pt x="72140" y="278855"/>
                      <a:pt x="108204" y="293908"/>
                      <a:pt x="145852" y="294018"/>
                    </a:cubicBezTo>
                    <a:lnTo>
                      <a:pt x="146640" y="294018"/>
                    </a:lnTo>
                    <a:cubicBezTo>
                      <a:pt x="183968" y="294114"/>
                      <a:pt x="219830" y="279501"/>
                      <a:pt x="246459" y="253343"/>
                    </a:cubicBezTo>
                    <a:cubicBezTo>
                      <a:pt x="250982" y="248717"/>
                      <a:pt x="250982" y="241326"/>
                      <a:pt x="246460" y="236699"/>
                    </a:cubicBezTo>
                    <a:cubicBezTo>
                      <a:pt x="241939" y="232072"/>
                      <a:pt x="234550" y="231903"/>
                      <a:pt x="229820" y="236318"/>
                    </a:cubicBezTo>
                    <a:close/>
                  </a:path>
                </a:pathLst>
              </a:custGeom>
              <a:solidFill>
                <a:schemeClr val="accent1"/>
              </a:solidFill>
              <a:ln>
                <a:noFill/>
              </a:ln>
            </p:spPr>
          </p:sp>
        </p:grpSp>
        <p:sp>
          <p:nvSpPr>
            <p:cNvPr id="72" name="TextBox 72"/>
            <p:cNvSpPr txBox="1"/>
            <p:nvPr/>
          </p:nvSpPr>
          <p:spPr>
            <a:xfrm>
              <a:off x="1475232" y="5297805"/>
              <a:ext cx="256830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Tự động hoàn toàn</a:t>
              </a:r>
              <a:endParaRPr lang="vi-VN" sz="2100" b="1" dirty="0">
                <a:solidFill>
                  <a:schemeClr val="dk1"/>
                </a:solidFill>
                <a:latin typeface="+mn-lt"/>
                <a:ea typeface="+mn-ea"/>
                <a:cs typeface="+mn-cs"/>
              </a:endParaRPr>
            </a:p>
          </p:txBody>
        </p:sp>
        <p:sp>
          <p:nvSpPr>
            <p:cNvPr id="73" name="TextBox 73"/>
            <p:cNvSpPr txBox="1"/>
            <p:nvPr/>
          </p:nvSpPr>
          <p:spPr>
            <a:xfrm>
              <a:off x="1476756" y="5673090"/>
              <a:ext cx="8997487" cy="352044"/>
            </a:xfrm>
            <a:prstGeom prst="rect">
              <a:avLst/>
            </a:prstGeom>
            <a:noFill/>
            <a:ln>
              <a:noFill/>
            </a:ln>
          </p:spPr>
          <p:txBody>
            <a:bodyPr wrap="none" lIns="0" tIns="0" rIns="0" bIns="0" anchor="t" anchorCtr="0">
              <a:spAutoFit/>
            </a:bodyPr>
            <a:lstStyle/>
            <a:p>
              <a:pPr algn="l"/>
              <a:r>
                <a:rPr lang="vi-VN" sz="1800" dirty="0">
                  <a:solidFill>
                    <a:schemeClr val="accent5"/>
                  </a:solidFill>
                  <a:latin typeface="+mn-lt"/>
                  <a:ea typeface="+mn-ea"/>
                  <a:cs typeface="+mn-cs"/>
                </a:rPr>
                <a:t>Đang phát nhạc thì camera tắt → tiết kiệm tài nguyên, riêng tư, không ghi dữ liệu rác</a:t>
              </a:r>
              <a:endParaRPr lang="vi-VN" sz="1800" dirty="0">
                <a:solidFill>
                  <a:schemeClr val="accent5"/>
                </a:solidFill>
                <a:latin typeface="+mn-lt"/>
                <a:ea typeface="+mn-ea"/>
                <a:cs typeface="+mn-cs"/>
              </a:endParaRPr>
            </a:p>
          </p:txBody>
        </p:sp>
      </p:grpSp>
      <p:sp>
        <p:nvSpPr>
          <p:cNvPr id="75" name="TextBox 75"/>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04 / 13</a:t>
            </a:r>
            <a:endParaRPr lang="vi-VN" sz="1200" dirty="0">
              <a:solidFill>
                <a:schemeClr val="accent5"/>
              </a:solidFill>
              <a:latin typeface="Consolas" panose="020B0609020204030204"/>
              <a:ea typeface="Consolas" panose="020B0609020204030204"/>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2837688" cy="849630"/>
            <a:chOff x="594360" y="422910"/>
            <a:chExt cx="2837688" cy="849630"/>
          </a:xfrm>
        </p:grpSpPr>
        <p:sp>
          <p:nvSpPr>
            <p:cNvPr id="2" name="TextBox 2"/>
            <p:cNvSpPr txBox="1"/>
            <p:nvPr/>
          </p:nvSpPr>
          <p:spPr>
            <a:xfrm>
              <a:off x="603504" y="422910"/>
              <a:ext cx="282854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PHẦN 3 · ĐIỂM HAY CỦA HỆ THỐNG</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3" name="TextBox 3"/>
            <p:cNvSpPr txBox="1"/>
            <p:nvPr/>
          </p:nvSpPr>
          <p:spPr>
            <a:xfrm>
              <a:off x="594360" y="685800"/>
              <a:ext cx="2032100"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Gợi ý nhạc</a:t>
              </a:r>
              <a:endParaRPr lang="vi-VN" sz="3000" b="1" dirty="0">
                <a:solidFill>
                  <a:schemeClr val="dk1"/>
                </a:solidFill>
                <a:latin typeface="+mn-lt"/>
                <a:ea typeface="+mn-ea"/>
                <a:cs typeface="+mn-cs"/>
              </a:endParaRP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30" name="pipeline"/>
          <p:cNvGrpSpPr/>
          <p:nvPr/>
        </p:nvGrpSpPr>
        <p:grpSpPr>
          <a:xfrm>
            <a:off x="647700" y="1581150"/>
            <a:ext cx="4150518" cy="3110484"/>
            <a:chOff x="647700" y="1581150"/>
            <a:chExt cx="4150518" cy="3110484"/>
          </a:xfrm>
        </p:grpSpPr>
        <p:sp>
          <p:nvSpPr>
            <p:cNvPr id="11" name="Line 11"/>
            <p:cNvSpPr/>
            <p:nvPr/>
          </p:nvSpPr>
          <p:spPr>
            <a:xfrm>
              <a:off x="838200" y="1962150"/>
              <a:ext cx="9525" cy="2305050"/>
            </a:xfrm>
            <a:custGeom>
              <a:avLst/>
              <a:gdLst/>
              <a:ahLst/>
              <a:cxnLst/>
              <a:rect l="l" t="t" r="r" b="b"/>
              <a:pathLst>
                <a:path w="9525" h="2305050">
                  <a:moveTo>
                    <a:pt x="0" y="0"/>
                  </a:moveTo>
                  <a:lnTo>
                    <a:pt x="0" y="2305050"/>
                  </a:lnTo>
                </a:path>
              </a:pathLst>
            </a:custGeom>
            <a:noFill/>
            <a:ln w="19050">
              <a:solidFill>
                <a:schemeClr val="accent6"/>
              </a:solidFill>
            </a:ln>
          </p:spPr>
        </p:sp>
        <p:grpSp>
          <p:nvGrpSpPr>
            <p:cNvPr id="15" name="pipe-1"/>
            <p:cNvGrpSpPr/>
            <p:nvPr/>
          </p:nvGrpSpPr>
          <p:grpSpPr>
            <a:xfrm>
              <a:off x="647700" y="1581150"/>
              <a:ext cx="2979159" cy="424434"/>
              <a:chOff x="647700" y="1581150"/>
              <a:chExt cx="2979159" cy="424434"/>
            </a:xfrm>
          </p:grpSpPr>
          <p:sp>
            <p:nvSpPr>
              <p:cNvPr id="12" name="Ellipse 12"/>
              <p:cNvSpPr/>
              <p:nvPr/>
            </p:nvSpPr>
            <p:spPr>
              <a:xfrm>
                <a:off x="647700" y="1581150"/>
                <a:ext cx="381000" cy="381000"/>
              </a:xfrm>
              <a:prstGeom prst="ellipse">
                <a:avLst/>
              </a:prstGeom>
              <a:solidFill>
                <a:schemeClr val="lt2"/>
              </a:solidFill>
              <a:ln w="19050">
                <a:solidFill>
                  <a:schemeClr val="accent1"/>
                </a:solidFill>
              </a:ln>
            </p:spPr>
          </p:sp>
          <p:sp>
            <p:nvSpPr>
              <p:cNvPr id="13" name="TextBox 13"/>
              <p:cNvSpPr txBox="1"/>
              <p:nvPr/>
            </p:nvSpPr>
            <p:spPr>
              <a:xfrm>
                <a:off x="787679" y="1699260"/>
                <a:ext cx="101041" cy="234696"/>
              </a:xfrm>
              <a:prstGeom prst="rect">
                <a:avLst/>
              </a:prstGeom>
              <a:noFill/>
              <a:ln>
                <a:noFill/>
              </a:ln>
            </p:spPr>
            <p:txBody>
              <a:bodyPr wrap="none" lIns="0" tIns="0" rIns="0" bIns="0" anchor="t" anchorCtr="0">
                <a:spAutoFit/>
              </a:bodyPr>
              <a:lstStyle/>
              <a:p>
                <a:pPr algn="ctr"/>
                <a:r>
                  <a:rPr lang="vi-VN" sz="1200" dirty="0">
                    <a:solidFill>
                      <a:schemeClr val="accent1"/>
                    </a:solidFill>
                    <a:latin typeface="Consolas" panose="020B0609020204030204"/>
                    <a:ea typeface="Consolas" panose="020B0609020204030204"/>
                    <a:cs typeface="Consolas" panose="020B0609020204030204"/>
                  </a:rPr>
                  <a:t>1</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14" name="TextBox 14"/>
              <p:cNvSpPr txBox="1"/>
              <p:nvPr/>
            </p:nvSpPr>
            <p:spPr>
              <a:xfrm>
                <a:off x="1210056" y="1653540"/>
                <a:ext cx="2416803"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Lọc bài theo cảm xúc</a:t>
                </a:r>
                <a:endParaRPr lang="vi-VN" sz="1800" b="1" dirty="0">
                  <a:solidFill>
                    <a:schemeClr val="dk1"/>
                  </a:solidFill>
                  <a:latin typeface="+mn-lt"/>
                  <a:ea typeface="+mn-ea"/>
                  <a:cs typeface="+mn-cs"/>
                </a:endParaRPr>
              </a:p>
            </p:txBody>
          </p:sp>
        </p:grpSp>
        <p:grpSp>
          <p:nvGrpSpPr>
            <p:cNvPr id="20" name="pipe-2"/>
            <p:cNvGrpSpPr/>
            <p:nvPr/>
          </p:nvGrpSpPr>
          <p:grpSpPr>
            <a:xfrm>
              <a:off x="647700" y="2476500"/>
              <a:ext cx="4150518" cy="651701"/>
              <a:chOff x="647700" y="2476500"/>
              <a:chExt cx="4150518" cy="651701"/>
            </a:xfrm>
          </p:grpSpPr>
          <p:sp>
            <p:nvSpPr>
              <p:cNvPr id="16" name="Ellipse 16"/>
              <p:cNvSpPr/>
              <p:nvPr/>
            </p:nvSpPr>
            <p:spPr>
              <a:xfrm>
                <a:off x="647700" y="2476500"/>
                <a:ext cx="381000" cy="381000"/>
              </a:xfrm>
              <a:prstGeom prst="ellipse">
                <a:avLst/>
              </a:prstGeom>
              <a:solidFill>
                <a:schemeClr val="lt2"/>
              </a:solidFill>
              <a:ln w="19050">
                <a:solidFill>
                  <a:schemeClr val="accent1"/>
                </a:solidFill>
              </a:ln>
            </p:spPr>
          </p:sp>
          <p:sp>
            <p:nvSpPr>
              <p:cNvPr id="17" name="TextBox 17"/>
              <p:cNvSpPr txBox="1"/>
              <p:nvPr/>
            </p:nvSpPr>
            <p:spPr>
              <a:xfrm>
                <a:off x="787679" y="2594610"/>
                <a:ext cx="101041" cy="234696"/>
              </a:xfrm>
              <a:prstGeom prst="rect">
                <a:avLst/>
              </a:prstGeom>
              <a:noFill/>
              <a:ln>
                <a:noFill/>
              </a:ln>
            </p:spPr>
            <p:txBody>
              <a:bodyPr wrap="none" lIns="0" tIns="0" rIns="0" bIns="0" anchor="t" anchorCtr="0">
                <a:spAutoFit/>
              </a:bodyPr>
              <a:lstStyle/>
              <a:p>
                <a:pPr algn="ctr"/>
                <a:r>
                  <a:rPr lang="vi-VN" sz="1200" dirty="0">
                    <a:solidFill>
                      <a:schemeClr val="accent1"/>
                    </a:solidFill>
                    <a:latin typeface="Consolas" panose="020B0609020204030204"/>
                    <a:ea typeface="Consolas" panose="020B0609020204030204"/>
                    <a:cs typeface="Consolas" panose="020B0609020204030204"/>
                  </a:rPr>
                  <a:t>2</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18" name="TextBox 18"/>
              <p:cNvSpPr txBox="1"/>
              <p:nvPr/>
            </p:nvSpPr>
            <p:spPr>
              <a:xfrm>
                <a:off x="1210056" y="2548890"/>
                <a:ext cx="3588162"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Bỏ qua 3 bài vừa phát gần nhất</a:t>
                </a:r>
                <a:endParaRPr lang="vi-VN" sz="1800" b="1" dirty="0">
                  <a:solidFill>
                    <a:schemeClr val="dk1"/>
                  </a:solidFill>
                  <a:latin typeface="+mn-lt"/>
                  <a:ea typeface="+mn-ea"/>
                  <a:cs typeface="+mn-cs"/>
                </a:endParaRPr>
              </a:p>
            </p:txBody>
          </p:sp>
          <p:sp>
            <p:nvSpPr>
              <p:cNvPr id="19" name="TextBox 19"/>
              <p:cNvSpPr txBox="1"/>
              <p:nvPr/>
            </p:nvSpPr>
            <p:spPr>
              <a:xfrm>
                <a:off x="1212342" y="2864168"/>
                <a:ext cx="212942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không lặp lại bài vừa nghe</a:t>
                </a:r>
                <a:endParaRPr lang="vi-VN" sz="1350" dirty="0">
                  <a:solidFill>
                    <a:schemeClr val="accent5"/>
                  </a:solidFill>
                  <a:latin typeface="+mn-lt"/>
                  <a:ea typeface="+mn-ea"/>
                  <a:cs typeface="+mn-cs"/>
                </a:endParaRPr>
              </a:p>
            </p:txBody>
          </p:sp>
        </p:grpSp>
        <p:grpSp>
          <p:nvGrpSpPr>
            <p:cNvPr id="25" name="pipe-3"/>
            <p:cNvGrpSpPr/>
            <p:nvPr/>
          </p:nvGrpSpPr>
          <p:grpSpPr>
            <a:xfrm>
              <a:off x="647700" y="3371850"/>
              <a:ext cx="3875522" cy="651701"/>
              <a:chOff x="647700" y="3371850"/>
              <a:chExt cx="3875522" cy="651701"/>
            </a:xfrm>
          </p:grpSpPr>
          <p:sp>
            <p:nvSpPr>
              <p:cNvPr id="21" name="Ellipse 21"/>
              <p:cNvSpPr/>
              <p:nvPr/>
            </p:nvSpPr>
            <p:spPr>
              <a:xfrm>
                <a:off x="647700" y="3371850"/>
                <a:ext cx="381000" cy="381000"/>
              </a:xfrm>
              <a:prstGeom prst="ellipse">
                <a:avLst/>
              </a:prstGeom>
              <a:solidFill>
                <a:schemeClr val="lt2"/>
              </a:solidFill>
              <a:ln w="19050">
                <a:solidFill>
                  <a:schemeClr val="accent1"/>
                </a:solidFill>
              </a:ln>
            </p:spPr>
          </p:sp>
          <p:sp>
            <p:nvSpPr>
              <p:cNvPr id="22" name="TextBox 22"/>
              <p:cNvSpPr txBox="1"/>
              <p:nvPr/>
            </p:nvSpPr>
            <p:spPr>
              <a:xfrm>
                <a:off x="787679" y="3489960"/>
                <a:ext cx="101041" cy="234696"/>
              </a:xfrm>
              <a:prstGeom prst="rect">
                <a:avLst/>
              </a:prstGeom>
              <a:noFill/>
              <a:ln>
                <a:noFill/>
              </a:ln>
            </p:spPr>
            <p:txBody>
              <a:bodyPr wrap="none" lIns="0" tIns="0" rIns="0" bIns="0" anchor="t" anchorCtr="0">
                <a:spAutoFit/>
              </a:bodyPr>
              <a:lstStyle/>
              <a:p>
                <a:pPr algn="ctr"/>
                <a:r>
                  <a:rPr lang="vi-VN" sz="1200" dirty="0">
                    <a:solidFill>
                      <a:schemeClr val="accent1"/>
                    </a:solidFill>
                    <a:latin typeface="Consolas" panose="020B0609020204030204"/>
                    <a:ea typeface="Consolas" panose="020B0609020204030204"/>
                    <a:cs typeface="Consolas" panose="020B0609020204030204"/>
                  </a:rPr>
                  <a:t>3</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23" name="TextBox 23"/>
              <p:cNvSpPr txBox="1"/>
              <p:nvPr/>
            </p:nvSpPr>
            <p:spPr>
              <a:xfrm>
                <a:off x="1210056" y="3444240"/>
                <a:ext cx="3221105"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Xếp bài theo điểm yêu thích</a:t>
                </a:r>
                <a:endParaRPr lang="vi-VN" sz="1800" b="1" dirty="0">
                  <a:solidFill>
                    <a:schemeClr val="dk1"/>
                  </a:solidFill>
                  <a:latin typeface="+mn-lt"/>
                  <a:ea typeface="+mn-ea"/>
                  <a:cs typeface="+mn-cs"/>
                </a:endParaRPr>
              </a:p>
            </p:txBody>
          </p:sp>
          <p:sp>
            <p:nvSpPr>
              <p:cNvPr id="24" name="TextBox 24"/>
              <p:cNvSpPr txBox="1"/>
              <p:nvPr/>
            </p:nvSpPr>
            <p:spPr>
              <a:xfrm>
                <a:off x="1212342" y="3759518"/>
                <a:ext cx="3310880"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mỗi bài có điểm riêng theo từng cảm xúc</a:t>
                </a:r>
                <a:endParaRPr lang="vi-VN" sz="1350" dirty="0">
                  <a:solidFill>
                    <a:schemeClr val="accent5"/>
                  </a:solidFill>
                  <a:latin typeface="+mn-lt"/>
                  <a:ea typeface="+mn-ea"/>
                  <a:cs typeface="+mn-cs"/>
                </a:endParaRPr>
              </a:p>
            </p:txBody>
          </p:sp>
        </p:grpSp>
        <p:grpSp>
          <p:nvGrpSpPr>
            <p:cNvPr id="29" name="pipe-4"/>
            <p:cNvGrpSpPr/>
            <p:nvPr/>
          </p:nvGrpSpPr>
          <p:grpSpPr>
            <a:xfrm>
              <a:off x="647700" y="4267200"/>
              <a:ext cx="3548614" cy="424434"/>
              <a:chOff x="647700" y="4267200"/>
              <a:chExt cx="3548614" cy="424434"/>
            </a:xfrm>
          </p:grpSpPr>
          <p:sp>
            <p:nvSpPr>
              <p:cNvPr id="26" name="Ellipse 26"/>
              <p:cNvSpPr/>
              <p:nvPr/>
            </p:nvSpPr>
            <p:spPr>
              <a:xfrm>
                <a:off x="647700" y="4267200"/>
                <a:ext cx="381000" cy="381000"/>
              </a:xfrm>
              <a:prstGeom prst="ellipse">
                <a:avLst/>
              </a:prstGeom>
              <a:solidFill>
                <a:schemeClr val="accent2"/>
              </a:solidFill>
              <a:ln w="19050">
                <a:solidFill>
                  <a:schemeClr val="accent2"/>
                </a:solidFill>
              </a:ln>
            </p:spPr>
          </p:sp>
          <p:sp>
            <p:nvSpPr>
              <p:cNvPr id="27" name="TextBox 27"/>
              <p:cNvSpPr txBox="1"/>
              <p:nvPr/>
            </p:nvSpPr>
            <p:spPr>
              <a:xfrm>
                <a:off x="787679" y="4385310"/>
                <a:ext cx="101041" cy="234696"/>
              </a:xfrm>
              <a:prstGeom prst="rect">
                <a:avLst/>
              </a:prstGeom>
              <a:noFill/>
              <a:ln>
                <a:noFill/>
              </a:ln>
            </p:spPr>
            <p:txBody>
              <a:bodyPr wrap="none" lIns="0" tIns="0" rIns="0" bIns="0" anchor="t" anchorCtr="0">
                <a:spAutoFit/>
              </a:bodyPr>
              <a:lstStyle/>
              <a:p>
                <a:pPr algn="ctr"/>
                <a:r>
                  <a:rPr lang="vi-VN" sz="1200" dirty="0">
                    <a:solidFill>
                      <a:srgbClr val="0B1020"/>
                    </a:solidFill>
                    <a:latin typeface="Consolas" panose="020B0609020204030204"/>
                    <a:ea typeface="Consolas" panose="020B0609020204030204"/>
                    <a:cs typeface="Consolas" panose="020B0609020204030204"/>
                  </a:rPr>
                  <a:t>4</a:t>
                </a:r>
                <a:endParaRPr lang="vi-VN" sz="1200" dirty="0">
                  <a:solidFill>
                    <a:srgbClr val="0B1020"/>
                  </a:solidFill>
                  <a:latin typeface="Consolas" panose="020B0609020204030204"/>
                  <a:ea typeface="Consolas" panose="020B0609020204030204"/>
                  <a:cs typeface="Consolas" panose="020B0609020204030204"/>
                </a:endParaRPr>
              </a:p>
            </p:txBody>
          </p:sp>
          <p:sp>
            <p:nvSpPr>
              <p:cNvPr id="28" name="TextBox 28"/>
              <p:cNvSpPr txBox="1"/>
              <p:nvPr/>
            </p:nvSpPr>
            <p:spPr>
              <a:xfrm>
                <a:off x="1210056" y="4339590"/>
                <a:ext cx="2986258" cy="352044"/>
              </a:xfrm>
              <a:prstGeom prst="rect">
                <a:avLst/>
              </a:prstGeom>
              <a:noFill/>
              <a:ln>
                <a:noFill/>
              </a:ln>
            </p:spPr>
            <p:txBody>
              <a:bodyPr wrap="none" lIns="0" tIns="0" rIns="0" bIns="0" anchor="t" anchorCtr="0">
                <a:spAutoFit/>
              </a:bodyPr>
              <a:lstStyle/>
              <a:p>
                <a:pPr algn="l"/>
                <a:r>
                  <a:rPr lang="vi-VN" sz="1800" b="1" dirty="0">
                    <a:solidFill>
                      <a:schemeClr val="accent2"/>
                    </a:solidFill>
                    <a:latin typeface="+mn-lt"/>
                    <a:ea typeface="+mn-ea"/>
                    <a:cs typeface="+mn-cs"/>
                  </a:rPr>
                  <a:t>Chọn bài theo tỉ lệ 65 / 35</a:t>
                </a:r>
                <a:endParaRPr lang="vi-VN" sz="1800" b="1" dirty="0">
                  <a:solidFill>
                    <a:schemeClr val="accent2"/>
                  </a:solidFill>
                  <a:latin typeface="+mn-lt"/>
                  <a:ea typeface="+mn-ea"/>
                  <a:cs typeface="+mn-cs"/>
                </a:endParaRPr>
              </a:p>
            </p:txBody>
          </p:sp>
        </p:grpSp>
      </p:grpSp>
      <p:grpSp>
        <p:nvGrpSpPr>
          <p:cNvPr id="35" name="library"/>
          <p:cNvGrpSpPr/>
          <p:nvPr/>
        </p:nvGrpSpPr>
        <p:grpSpPr>
          <a:xfrm>
            <a:off x="664398" y="5316852"/>
            <a:ext cx="5214795" cy="384432"/>
            <a:chOff x="664398" y="5316852"/>
            <a:chExt cx="5214795" cy="384432"/>
          </a:xfrm>
        </p:grpSpPr>
        <p:grpSp>
          <p:nvGrpSpPr>
            <p:cNvPr id="33" name="Group 33"/>
            <p:cNvGrpSpPr/>
            <p:nvPr/>
          </p:nvGrpSpPr>
          <p:grpSpPr>
            <a:xfrm>
              <a:off x="664398" y="5316852"/>
              <a:ext cx="272632" cy="293751"/>
              <a:chOff x="664398" y="5316852"/>
              <a:chExt cx="272632" cy="293751"/>
            </a:xfrm>
          </p:grpSpPr>
          <p:sp>
            <p:nvSpPr>
              <p:cNvPr id="31" name="Freeform 31"/>
              <p:cNvSpPr/>
              <p:nvPr/>
            </p:nvSpPr>
            <p:spPr>
              <a:xfrm>
                <a:off x="679847" y="5478066"/>
                <a:ext cx="246459" cy="117872"/>
              </a:xfrm>
              <a:custGeom>
                <a:avLst/>
                <a:gdLst/>
                <a:ahLst/>
                <a:cxnLst/>
                <a:rect l="l" t="t" r="r" b="b"/>
                <a:pathLst>
                  <a:path w="246459" h="117872">
                    <a:moveTo>
                      <a:pt x="246459" y="37505"/>
                    </a:moveTo>
                    <a:cubicBezTo>
                      <a:pt x="246459" y="58218"/>
                      <a:pt x="229668" y="75009"/>
                      <a:pt x="208955" y="75009"/>
                    </a:cubicBezTo>
                    <a:cubicBezTo>
                      <a:pt x="188241" y="75009"/>
                      <a:pt x="171450" y="58218"/>
                      <a:pt x="171450" y="37505"/>
                    </a:cubicBezTo>
                    <a:cubicBezTo>
                      <a:pt x="171450" y="16791"/>
                      <a:pt x="188241" y="0"/>
                      <a:pt x="208955" y="0"/>
                    </a:cubicBezTo>
                    <a:cubicBezTo>
                      <a:pt x="229668" y="0"/>
                      <a:pt x="246459" y="16791"/>
                      <a:pt x="246459" y="37505"/>
                    </a:cubicBezTo>
                    <a:close/>
                    <a:moveTo>
                      <a:pt x="37505" y="42862"/>
                    </a:moveTo>
                    <a:cubicBezTo>
                      <a:pt x="16791" y="42862"/>
                      <a:pt x="0" y="59654"/>
                      <a:pt x="0" y="80367"/>
                    </a:cubicBezTo>
                    <a:cubicBezTo>
                      <a:pt x="0" y="101080"/>
                      <a:pt x="16791" y="117872"/>
                      <a:pt x="37505" y="117872"/>
                    </a:cubicBezTo>
                    <a:cubicBezTo>
                      <a:pt x="58218" y="117872"/>
                      <a:pt x="75009" y="101080"/>
                      <a:pt x="75009" y="80367"/>
                    </a:cubicBezTo>
                    <a:cubicBezTo>
                      <a:pt x="75009" y="59654"/>
                      <a:pt x="58218" y="42862"/>
                      <a:pt x="37505" y="42862"/>
                    </a:cubicBezTo>
                    <a:close/>
                  </a:path>
                </a:pathLst>
              </a:custGeom>
              <a:solidFill>
                <a:schemeClr val="accent1">
                  <a:alpha val="20000"/>
                </a:schemeClr>
              </a:solidFill>
              <a:ln>
                <a:noFill/>
              </a:ln>
            </p:spPr>
          </p:sp>
          <p:sp>
            <p:nvSpPr>
              <p:cNvPr id="32" name="Freeform 32"/>
              <p:cNvSpPr/>
              <p:nvPr/>
            </p:nvSpPr>
            <p:spPr>
              <a:xfrm>
                <a:off x="664398" y="5316852"/>
                <a:ext cx="272632" cy="293751"/>
              </a:xfrm>
              <a:custGeom>
                <a:avLst/>
                <a:gdLst/>
                <a:ahLst/>
                <a:cxnLst/>
                <a:rect l="l" t="t" r="r" b="b"/>
                <a:pathLst>
                  <a:path w="272632" h="293751">
                    <a:moveTo>
                      <a:pt x="268498" y="2743"/>
                    </a:moveTo>
                    <a:cubicBezTo>
                      <a:pt x="265897" y="716"/>
                      <a:pt x="262508" y="0"/>
                      <a:pt x="259309" y="801"/>
                    </a:cubicBezTo>
                    <a:lnTo>
                      <a:pt x="87859" y="43663"/>
                    </a:lnTo>
                    <a:cubicBezTo>
                      <a:pt x="83090" y="44856"/>
                      <a:pt x="79743" y="49141"/>
                      <a:pt x="79742" y="54057"/>
                    </a:cubicBezTo>
                    <a:lnTo>
                      <a:pt x="79742" y="201504"/>
                    </a:lnTo>
                    <a:cubicBezTo>
                      <a:pt x="61350" y="189216"/>
                      <a:pt x="36955" y="191017"/>
                      <a:pt x="20567" y="205873"/>
                    </a:cubicBezTo>
                    <a:cubicBezTo>
                      <a:pt x="4178" y="220730"/>
                      <a:pt x="0" y="244832"/>
                      <a:pt x="10431" y="264338"/>
                    </a:cubicBezTo>
                    <a:cubicBezTo>
                      <a:pt x="20862" y="283844"/>
                      <a:pt x="43227" y="293751"/>
                      <a:pt x="64683" y="288371"/>
                    </a:cubicBezTo>
                    <a:cubicBezTo>
                      <a:pt x="86139" y="282990"/>
                      <a:pt x="101182" y="263701"/>
                      <a:pt x="101174" y="241581"/>
                    </a:cubicBezTo>
                    <a:lnTo>
                      <a:pt x="101174" y="126723"/>
                    </a:lnTo>
                    <a:lnTo>
                      <a:pt x="251192" y="89218"/>
                    </a:lnTo>
                    <a:lnTo>
                      <a:pt x="251192" y="158642"/>
                    </a:lnTo>
                    <a:cubicBezTo>
                      <a:pt x="232800" y="146353"/>
                      <a:pt x="208405" y="148154"/>
                      <a:pt x="192017" y="163011"/>
                    </a:cubicBezTo>
                    <a:cubicBezTo>
                      <a:pt x="175628" y="177867"/>
                      <a:pt x="171450" y="201969"/>
                      <a:pt x="181881" y="221475"/>
                    </a:cubicBezTo>
                    <a:cubicBezTo>
                      <a:pt x="192312" y="240981"/>
                      <a:pt x="214677" y="250889"/>
                      <a:pt x="236133" y="245508"/>
                    </a:cubicBezTo>
                    <a:cubicBezTo>
                      <a:pt x="257589" y="240127"/>
                      <a:pt x="272632" y="220838"/>
                      <a:pt x="272624" y="198718"/>
                    </a:cubicBezTo>
                    <a:lnTo>
                      <a:pt x="272624" y="11195"/>
                    </a:lnTo>
                    <a:cubicBezTo>
                      <a:pt x="272624" y="7892"/>
                      <a:pt x="271102" y="4774"/>
                      <a:pt x="268498" y="2743"/>
                    </a:cubicBezTo>
                    <a:close/>
                    <a:moveTo>
                      <a:pt x="52953" y="268370"/>
                    </a:moveTo>
                    <a:cubicBezTo>
                      <a:pt x="38158" y="268370"/>
                      <a:pt x="26164" y="256376"/>
                      <a:pt x="26164" y="241581"/>
                    </a:cubicBezTo>
                    <a:cubicBezTo>
                      <a:pt x="26164" y="226786"/>
                      <a:pt x="38158" y="214792"/>
                      <a:pt x="52953" y="214792"/>
                    </a:cubicBezTo>
                    <a:cubicBezTo>
                      <a:pt x="67748" y="214792"/>
                      <a:pt x="79742" y="226786"/>
                      <a:pt x="79742" y="241581"/>
                    </a:cubicBezTo>
                    <a:cubicBezTo>
                      <a:pt x="79742" y="256376"/>
                      <a:pt x="67748" y="268370"/>
                      <a:pt x="52953" y="268370"/>
                    </a:cubicBezTo>
                    <a:close/>
                    <a:moveTo>
                      <a:pt x="101174" y="104622"/>
                    </a:moveTo>
                    <a:lnTo>
                      <a:pt x="101174" y="62429"/>
                    </a:lnTo>
                    <a:lnTo>
                      <a:pt x="251192" y="24924"/>
                    </a:lnTo>
                    <a:lnTo>
                      <a:pt x="251192" y="67117"/>
                    </a:lnTo>
                    <a:close/>
                    <a:moveTo>
                      <a:pt x="224403" y="225507"/>
                    </a:moveTo>
                    <a:cubicBezTo>
                      <a:pt x="209608" y="225507"/>
                      <a:pt x="197614" y="213514"/>
                      <a:pt x="197614" y="198718"/>
                    </a:cubicBezTo>
                    <a:cubicBezTo>
                      <a:pt x="197614" y="183923"/>
                      <a:pt x="209608" y="171929"/>
                      <a:pt x="224403" y="171929"/>
                    </a:cubicBezTo>
                    <a:cubicBezTo>
                      <a:pt x="239198" y="171929"/>
                      <a:pt x="251192" y="183923"/>
                      <a:pt x="251192" y="198718"/>
                    </a:cubicBezTo>
                    <a:cubicBezTo>
                      <a:pt x="251192" y="213514"/>
                      <a:pt x="239198" y="225507"/>
                      <a:pt x="224403" y="225507"/>
                    </a:cubicBezTo>
                    <a:close/>
                  </a:path>
                </a:pathLst>
              </a:custGeom>
              <a:solidFill>
                <a:schemeClr val="accent1"/>
              </a:solidFill>
              <a:ln>
                <a:noFill/>
              </a:ln>
            </p:spPr>
          </p:sp>
        </p:grpSp>
        <p:sp>
          <p:nvSpPr>
            <p:cNvPr id="34" name="TextBox 34"/>
            <p:cNvSpPr txBox="1"/>
            <p:nvPr/>
          </p:nvSpPr>
          <p:spPr>
            <a:xfrm>
              <a:off x="1133856" y="5349240"/>
              <a:ext cx="4745337"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Kho nhạc hiện tại: </a:t>
              </a:r>
              <a:r>
                <a:rPr lang="vi-VN" sz="1800" b="1" dirty="0">
                  <a:solidFill>
                    <a:schemeClr val="dk1"/>
                  </a:solidFill>
                  <a:latin typeface="+mn-lt"/>
                  <a:ea typeface="+mn-ea"/>
                  <a:cs typeface="+mn-cs"/>
                </a:rPr>
                <a:t>10 bài</a:t>
              </a:r>
              <a:r>
                <a:rPr lang="vi-VN" sz="1800" dirty="0">
                  <a:solidFill>
                    <a:schemeClr val="dk1"/>
                  </a:solidFill>
                  <a:latin typeface="+mn-lt"/>
                  <a:ea typeface="+mn-ea"/>
                  <a:cs typeface="+mn-cs"/>
                </a:rPr>
                <a:t>, mỗi cảm xúc 2 bài</a:t>
              </a:r>
              <a:endParaRPr lang="vi-VN" sz="1800" dirty="0">
                <a:solidFill>
                  <a:schemeClr val="dk1"/>
                </a:solidFill>
                <a:latin typeface="+mn-lt"/>
                <a:ea typeface="+mn-ea"/>
                <a:cs typeface="+mn-cs"/>
              </a:endParaRPr>
            </a:p>
          </p:txBody>
        </p:sp>
      </p:grpSp>
      <p:grpSp>
        <p:nvGrpSpPr>
          <p:cNvPr id="59" name="example"/>
          <p:cNvGrpSpPr/>
          <p:nvPr/>
        </p:nvGrpSpPr>
        <p:grpSpPr>
          <a:xfrm>
            <a:off x="6280404" y="1451610"/>
            <a:ext cx="5301996" cy="2393251"/>
            <a:chOff x="6280404" y="1451610"/>
            <a:chExt cx="5301996" cy="2393251"/>
          </a:xfrm>
        </p:grpSpPr>
        <p:sp>
          <p:nvSpPr>
            <p:cNvPr id="36" name="TextBox 36"/>
            <p:cNvSpPr txBox="1"/>
            <p:nvPr/>
          </p:nvSpPr>
          <p:spPr>
            <a:xfrm>
              <a:off x="6280404" y="1451610"/>
              <a:ext cx="2640787"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VÍ DỤ MINH HỌA · CẢM XÚC VUI</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37" name="Rectangle 37"/>
            <p:cNvSpPr/>
            <p:nvPr/>
          </p:nvSpPr>
          <p:spPr>
            <a:xfrm>
              <a:off x="6286500" y="1733550"/>
              <a:ext cx="5295900" cy="1752600"/>
            </a:xfrm>
            <a:prstGeom prst="roundRect">
              <a:avLst>
                <a:gd name="adj" fmla="val 6522"/>
              </a:avLst>
            </a:prstGeom>
            <a:solidFill>
              <a:schemeClr val="lt2"/>
            </a:solidFill>
            <a:ln w="14288">
              <a:solidFill>
                <a:schemeClr val="accent6"/>
              </a:solidFill>
            </a:ln>
          </p:spPr>
        </p:sp>
        <p:grpSp>
          <p:nvGrpSpPr>
            <p:cNvPr id="41" name="example-head"/>
            <p:cNvGrpSpPr/>
            <p:nvPr/>
          </p:nvGrpSpPr>
          <p:grpSpPr>
            <a:xfrm>
              <a:off x="6509004" y="1851660"/>
              <a:ext cx="3637026" cy="234696"/>
              <a:chOff x="6509004" y="1851660"/>
              <a:chExt cx="3637026" cy="234696"/>
            </a:xfrm>
          </p:grpSpPr>
          <p:sp>
            <p:nvSpPr>
              <p:cNvPr id="38" name="TextBox 38"/>
              <p:cNvSpPr txBox="1"/>
              <p:nvPr/>
            </p:nvSpPr>
            <p:spPr>
              <a:xfrm>
                <a:off x="6509004" y="1851660"/>
                <a:ext cx="293827"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BÀI</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39" name="TextBox 39"/>
              <p:cNvSpPr txBox="1"/>
              <p:nvPr/>
            </p:nvSpPr>
            <p:spPr>
              <a:xfrm>
                <a:off x="8476640" y="1851660"/>
                <a:ext cx="38770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ĐIỂM</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40" name="TextBox 40"/>
              <p:cNvSpPr txBox="1"/>
              <p:nvPr/>
            </p:nvSpPr>
            <p:spPr>
              <a:xfrm>
                <a:off x="9195054" y="1851660"/>
                <a:ext cx="95097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TRẠNG THÁI</a:t>
                </a:r>
                <a:endParaRPr lang="vi-VN" sz="1200" dirty="0">
                  <a:solidFill>
                    <a:schemeClr val="accent5"/>
                  </a:solidFill>
                  <a:latin typeface="Consolas" panose="020B0609020204030204"/>
                  <a:ea typeface="Consolas" panose="020B0609020204030204"/>
                  <a:cs typeface="Consolas" panose="020B0609020204030204"/>
                </a:endParaRPr>
              </a:p>
            </p:txBody>
          </p:sp>
        </p:grpSp>
        <p:sp>
          <p:nvSpPr>
            <p:cNvPr id="42" name="Line 42"/>
            <p:cNvSpPr/>
            <p:nvPr/>
          </p:nvSpPr>
          <p:spPr>
            <a:xfrm>
              <a:off x="6286500" y="2114550"/>
              <a:ext cx="5295900" cy="9525"/>
            </a:xfrm>
            <a:custGeom>
              <a:avLst/>
              <a:gdLst/>
              <a:ahLst/>
              <a:cxnLst/>
              <a:rect l="l" t="t" r="r" b="b"/>
              <a:pathLst>
                <a:path w="5295900" h="9525">
                  <a:moveTo>
                    <a:pt x="0" y="0"/>
                  </a:moveTo>
                  <a:lnTo>
                    <a:pt x="5295900" y="0"/>
                  </a:lnTo>
                </a:path>
              </a:pathLst>
            </a:custGeom>
            <a:noFill/>
            <a:ln w="9525">
              <a:solidFill>
                <a:schemeClr val="accent6"/>
              </a:solidFill>
            </a:ln>
          </p:spPr>
        </p:sp>
        <p:sp>
          <p:nvSpPr>
            <p:cNvPr id="43" name="Rectangle 43"/>
            <p:cNvSpPr/>
            <p:nvPr/>
          </p:nvSpPr>
          <p:spPr>
            <a:xfrm>
              <a:off x="6296025" y="2124075"/>
              <a:ext cx="5276850" cy="447675"/>
            </a:xfrm>
            <a:prstGeom prst="rect">
              <a:avLst/>
            </a:prstGeom>
            <a:solidFill>
              <a:schemeClr val="accent2">
                <a:alpha val="10000"/>
              </a:schemeClr>
            </a:solidFill>
            <a:ln>
              <a:noFill/>
            </a:ln>
          </p:spPr>
        </p:sp>
        <p:grpSp>
          <p:nvGrpSpPr>
            <p:cNvPr id="47" name="example-row-a"/>
            <p:cNvGrpSpPr/>
            <p:nvPr/>
          </p:nvGrpSpPr>
          <p:grpSpPr>
            <a:xfrm>
              <a:off x="6505956" y="2225040"/>
              <a:ext cx="4210453" cy="352044"/>
              <a:chOff x="6505956" y="2225040"/>
              <a:chExt cx="4210453" cy="352044"/>
            </a:xfrm>
          </p:grpSpPr>
          <p:sp>
            <p:nvSpPr>
              <p:cNvPr id="44" name="TextBox 44"/>
              <p:cNvSpPr txBox="1"/>
              <p:nvPr/>
            </p:nvSpPr>
            <p:spPr>
              <a:xfrm>
                <a:off x="6505956" y="2225040"/>
                <a:ext cx="626871"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Bài A</a:t>
                </a:r>
                <a:endParaRPr lang="vi-VN" sz="1800" b="1" dirty="0">
                  <a:solidFill>
                    <a:schemeClr val="dk1"/>
                  </a:solidFill>
                  <a:latin typeface="+mn-lt"/>
                  <a:ea typeface="+mn-ea"/>
                  <a:cs typeface="+mn-cs"/>
                </a:endParaRPr>
              </a:p>
            </p:txBody>
          </p:sp>
          <p:sp>
            <p:nvSpPr>
              <p:cNvPr id="45" name="TextBox 45"/>
              <p:cNvSpPr txBox="1"/>
              <p:nvPr/>
            </p:nvSpPr>
            <p:spPr>
              <a:xfrm>
                <a:off x="8316011" y="2225040"/>
                <a:ext cx="551383" cy="352044"/>
              </a:xfrm>
              <a:prstGeom prst="rect">
                <a:avLst/>
              </a:prstGeom>
              <a:noFill/>
              <a:ln>
                <a:noFill/>
              </a:ln>
            </p:spPr>
            <p:txBody>
              <a:bodyPr wrap="none" lIns="0" tIns="0" rIns="0" bIns="0" anchor="t" anchorCtr="0">
                <a:spAutoFit/>
              </a:bodyPr>
              <a:lstStyle/>
              <a:p>
                <a:pPr algn="r"/>
                <a:r>
                  <a:rPr lang="vi-VN" sz="1800" dirty="0">
                    <a:solidFill>
                      <a:schemeClr val="accent2"/>
                    </a:solidFill>
                    <a:latin typeface="Consolas" panose="020B0609020204030204"/>
                    <a:ea typeface="Consolas" panose="020B0609020204030204"/>
                    <a:cs typeface="Consolas" panose="020B0609020204030204"/>
                  </a:rPr>
                  <a:t>+2.3</a:t>
                </a:r>
                <a:endParaRPr lang="vi-VN" sz="1800" dirty="0">
                  <a:solidFill>
                    <a:schemeClr val="accent2"/>
                  </a:solidFill>
                  <a:latin typeface="Consolas" panose="020B0609020204030204"/>
                  <a:ea typeface="Consolas" panose="020B0609020204030204"/>
                  <a:cs typeface="Consolas" panose="020B0609020204030204"/>
                </a:endParaRPr>
              </a:p>
            </p:txBody>
          </p:sp>
          <p:sp>
            <p:nvSpPr>
              <p:cNvPr id="46" name="TextBox 46"/>
              <p:cNvSpPr txBox="1"/>
              <p:nvPr/>
            </p:nvSpPr>
            <p:spPr>
              <a:xfrm>
                <a:off x="9192006" y="2225040"/>
                <a:ext cx="1524403" cy="352044"/>
              </a:xfrm>
              <a:prstGeom prst="rect">
                <a:avLst/>
              </a:prstGeom>
              <a:noFill/>
              <a:ln>
                <a:noFill/>
              </a:ln>
            </p:spPr>
            <p:txBody>
              <a:bodyPr wrap="none" lIns="0" tIns="0" rIns="0" bIns="0" anchor="t" anchorCtr="0">
                <a:spAutoFit/>
              </a:bodyPr>
              <a:lstStyle/>
              <a:p>
                <a:pPr algn="l"/>
                <a:r>
                  <a:rPr lang="vi-VN" sz="1800" b="1" dirty="0">
                    <a:solidFill>
                      <a:schemeClr val="accent2"/>
                    </a:solidFill>
                    <a:latin typeface="+mn-lt"/>
                    <a:ea typeface="+mn-ea"/>
                    <a:cs typeface="+mn-cs"/>
                  </a:rPr>
                  <a:t>✓ được chọn</a:t>
                </a:r>
                <a:endParaRPr lang="vi-VN" sz="1800" b="1" dirty="0">
                  <a:solidFill>
                    <a:schemeClr val="accent2"/>
                  </a:solidFill>
                  <a:latin typeface="+mn-lt"/>
                  <a:ea typeface="+mn-ea"/>
                  <a:cs typeface="+mn-cs"/>
                </a:endParaRPr>
              </a:p>
            </p:txBody>
          </p:sp>
        </p:grpSp>
        <p:sp>
          <p:nvSpPr>
            <p:cNvPr id="48" name="Line 48"/>
            <p:cNvSpPr/>
            <p:nvPr/>
          </p:nvSpPr>
          <p:spPr>
            <a:xfrm>
              <a:off x="6286500" y="2571750"/>
              <a:ext cx="5295900" cy="9525"/>
            </a:xfrm>
            <a:custGeom>
              <a:avLst/>
              <a:gdLst/>
              <a:ahLst/>
              <a:cxnLst/>
              <a:rect l="l" t="t" r="r" b="b"/>
              <a:pathLst>
                <a:path w="5295900" h="9525">
                  <a:moveTo>
                    <a:pt x="0" y="0"/>
                  </a:moveTo>
                  <a:lnTo>
                    <a:pt x="5295900" y="0"/>
                  </a:lnTo>
                </a:path>
              </a:pathLst>
            </a:custGeom>
            <a:noFill/>
            <a:ln w="9525">
              <a:solidFill>
                <a:schemeClr val="accent6"/>
              </a:solidFill>
            </a:ln>
          </p:spPr>
        </p:sp>
        <p:grpSp>
          <p:nvGrpSpPr>
            <p:cNvPr id="52" name="example-row-b"/>
            <p:cNvGrpSpPr/>
            <p:nvPr/>
          </p:nvGrpSpPr>
          <p:grpSpPr>
            <a:xfrm>
              <a:off x="6505956" y="2682240"/>
              <a:ext cx="3514352" cy="352044"/>
              <a:chOff x="6505956" y="2682240"/>
              <a:chExt cx="3514352" cy="352044"/>
            </a:xfrm>
          </p:grpSpPr>
          <p:sp>
            <p:nvSpPr>
              <p:cNvPr id="49" name="TextBox 49"/>
              <p:cNvSpPr txBox="1"/>
              <p:nvPr/>
            </p:nvSpPr>
            <p:spPr>
              <a:xfrm>
                <a:off x="6505956" y="2682240"/>
                <a:ext cx="559369"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Bài B</a:t>
                </a:r>
                <a:endParaRPr lang="vi-VN" sz="1800" dirty="0">
                  <a:solidFill>
                    <a:schemeClr val="dk1"/>
                  </a:solidFill>
                  <a:latin typeface="+mn-lt"/>
                  <a:ea typeface="+mn-ea"/>
                  <a:cs typeface="+mn-cs"/>
                </a:endParaRPr>
              </a:p>
            </p:txBody>
          </p:sp>
          <p:sp>
            <p:nvSpPr>
              <p:cNvPr id="50" name="TextBox 50"/>
              <p:cNvSpPr txBox="1"/>
              <p:nvPr/>
            </p:nvSpPr>
            <p:spPr>
              <a:xfrm>
                <a:off x="8316011" y="2682240"/>
                <a:ext cx="551383" cy="352044"/>
              </a:xfrm>
              <a:prstGeom prst="rect">
                <a:avLst/>
              </a:prstGeom>
              <a:noFill/>
              <a:ln>
                <a:noFill/>
              </a:ln>
            </p:spPr>
            <p:txBody>
              <a:bodyPr wrap="none" lIns="0" tIns="0" rIns="0" bIns="0" anchor="t" anchorCtr="0">
                <a:spAutoFit/>
              </a:bodyPr>
              <a:lstStyle/>
              <a:p>
                <a:pPr algn="r"/>
                <a:r>
                  <a:rPr lang="vi-VN" sz="1800" dirty="0">
                    <a:solidFill>
                      <a:schemeClr val="dk1"/>
                    </a:solidFill>
                    <a:latin typeface="Consolas" panose="020B0609020204030204"/>
                    <a:ea typeface="Consolas" panose="020B0609020204030204"/>
                    <a:cs typeface="Consolas" panose="020B0609020204030204"/>
                  </a:rPr>
                  <a:t>+1.0</a:t>
                </a:r>
                <a:endParaRPr lang="vi-VN" sz="1800" dirty="0">
                  <a:solidFill>
                    <a:schemeClr val="dk1"/>
                  </a:solidFill>
                  <a:latin typeface="Consolas" panose="020B0609020204030204"/>
                  <a:ea typeface="Consolas" panose="020B0609020204030204"/>
                  <a:cs typeface="Consolas" panose="020B0609020204030204"/>
                </a:endParaRPr>
              </a:p>
            </p:txBody>
          </p:sp>
          <p:sp>
            <p:nvSpPr>
              <p:cNvPr id="51" name="TextBox 51"/>
              <p:cNvSpPr txBox="1"/>
              <p:nvPr/>
            </p:nvSpPr>
            <p:spPr>
              <a:xfrm>
                <a:off x="9192006" y="2682240"/>
                <a:ext cx="828302" cy="352044"/>
              </a:xfrm>
              <a:prstGeom prst="rect">
                <a:avLst/>
              </a:prstGeom>
              <a:noFill/>
              <a:ln>
                <a:noFill/>
              </a:ln>
            </p:spPr>
            <p:txBody>
              <a:bodyPr wrap="none" lIns="0" tIns="0" rIns="0" bIns="0" anchor="t" anchorCtr="0">
                <a:spAutoFit/>
              </a:bodyPr>
              <a:lstStyle/>
              <a:p>
                <a:pPr algn="l"/>
                <a:r>
                  <a:rPr lang="vi-VN" sz="1800" dirty="0">
                    <a:solidFill>
                      <a:schemeClr val="accent5"/>
                    </a:solidFill>
                    <a:latin typeface="+mn-lt"/>
                    <a:ea typeface="+mn-ea"/>
                    <a:cs typeface="+mn-cs"/>
                  </a:rPr>
                  <a:t>xếp sau</a:t>
                </a:r>
                <a:endParaRPr lang="vi-VN" sz="1800" dirty="0">
                  <a:solidFill>
                    <a:schemeClr val="accent5"/>
                  </a:solidFill>
                  <a:latin typeface="+mn-lt"/>
                  <a:ea typeface="+mn-ea"/>
                  <a:cs typeface="+mn-cs"/>
                </a:endParaRPr>
              </a:p>
            </p:txBody>
          </p:sp>
        </p:grpSp>
        <p:sp>
          <p:nvSpPr>
            <p:cNvPr id="53" name="Line 53"/>
            <p:cNvSpPr/>
            <p:nvPr/>
          </p:nvSpPr>
          <p:spPr>
            <a:xfrm>
              <a:off x="6286500" y="3028950"/>
              <a:ext cx="5295900" cy="9525"/>
            </a:xfrm>
            <a:custGeom>
              <a:avLst/>
              <a:gdLst/>
              <a:ahLst/>
              <a:cxnLst/>
              <a:rect l="l" t="t" r="r" b="b"/>
              <a:pathLst>
                <a:path w="5295900" h="9525">
                  <a:moveTo>
                    <a:pt x="0" y="0"/>
                  </a:moveTo>
                  <a:lnTo>
                    <a:pt x="5295900" y="0"/>
                  </a:lnTo>
                </a:path>
              </a:pathLst>
            </a:custGeom>
            <a:noFill/>
            <a:ln w="9525">
              <a:solidFill>
                <a:schemeClr val="accent6"/>
              </a:solidFill>
            </a:ln>
          </p:spPr>
        </p:sp>
        <p:grpSp>
          <p:nvGrpSpPr>
            <p:cNvPr id="57" name="example-row-c"/>
            <p:cNvGrpSpPr/>
            <p:nvPr/>
          </p:nvGrpSpPr>
          <p:grpSpPr>
            <a:xfrm>
              <a:off x="6505956" y="3139440"/>
              <a:ext cx="4652122" cy="352044"/>
              <a:chOff x="6505956" y="3139440"/>
              <a:chExt cx="4652122" cy="352044"/>
            </a:xfrm>
          </p:grpSpPr>
          <p:sp>
            <p:nvSpPr>
              <p:cNvPr id="54" name="TextBox 54"/>
              <p:cNvSpPr txBox="1"/>
              <p:nvPr/>
            </p:nvSpPr>
            <p:spPr>
              <a:xfrm>
                <a:off x="6505956" y="3139440"/>
                <a:ext cx="570782" cy="352044"/>
              </a:xfrm>
              <a:prstGeom prst="rect">
                <a:avLst/>
              </a:prstGeom>
              <a:noFill/>
              <a:ln>
                <a:noFill/>
              </a:ln>
            </p:spPr>
            <p:txBody>
              <a:bodyPr wrap="none" lIns="0" tIns="0" rIns="0" bIns="0" anchor="t" anchorCtr="0">
                <a:spAutoFit/>
              </a:bodyPr>
              <a:lstStyle/>
              <a:p>
                <a:pPr algn="l"/>
                <a:r>
                  <a:rPr lang="vi-VN" sz="1800" dirty="0">
                    <a:solidFill>
                      <a:schemeClr val="accent5"/>
                    </a:solidFill>
                    <a:latin typeface="+mn-lt"/>
                    <a:ea typeface="+mn-ea"/>
                    <a:cs typeface="+mn-cs"/>
                  </a:rPr>
                  <a:t>Bài C</a:t>
                </a:r>
                <a:endParaRPr lang="vi-VN" sz="1800" dirty="0">
                  <a:solidFill>
                    <a:schemeClr val="accent5"/>
                  </a:solidFill>
                  <a:latin typeface="+mn-lt"/>
                  <a:ea typeface="+mn-ea"/>
                  <a:cs typeface="+mn-cs"/>
                </a:endParaRPr>
              </a:p>
            </p:txBody>
          </p:sp>
          <p:sp>
            <p:nvSpPr>
              <p:cNvPr id="55" name="TextBox 55"/>
              <p:cNvSpPr txBox="1"/>
              <p:nvPr/>
            </p:nvSpPr>
            <p:spPr>
              <a:xfrm>
                <a:off x="8715832" y="3139440"/>
                <a:ext cx="151562" cy="352044"/>
              </a:xfrm>
              <a:prstGeom prst="rect">
                <a:avLst/>
              </a:prstGeom>
              <a:noFill/>
              <a:ln>
                <a:noFill/>
              </a:ln>
            </p:spPr>
            <p:txBody>
              <a:bodyPr wrap="none" lIns="0" tIns="0" rIns="0" bIns="0" anchor="t" anchorCtr="0">
                <a:spAutoFit/>
              </a:bodyPr>
              <a:lstStyle/>
              <a:p>
                <a:pPr algn="r"/>
                <a:r>
                  <a:rPr lang="vi-VN" sz="1800" dirty="0">
                    <a:solidFill>
                      <a:schemeClr val="accent5"/>
                    </a:solidFill>
                    <a:latin typeface="Consolas" panose="020B0609020204030204"/>
                    <a:ea typeface="Consolas" panose="020B0609020204030204"/>
                    <a:cs typeface="Consolas" panose="020B0609020204030204"/>
                  </a:rPr>
                  <a:t>—</a:t>
                </a:r>
                <a:endParaRPr lang="vi-VN" sz="1800" dirty="0">
                  <a:solidFill>
                    <a:schemeClr val="accent5"/>
                  </a:solidFill>
                  <a:latin typeface="Consolas" panose="020B0609020204030204"/>
                  <a:ea typeface="Consolas" panose="020B0609020204030204"/>
                  <a:cs typeface="Consolas" panose="020B0609020204030204"/>
                </a:endParaRPr>
              </a:p>
            </p:txBody>
          </p:sp>
          <p:sp>
            <p:nvSpPr>
              <p:cNvPr id="56" name="TextBox 56"/>
              <p:cNvSpPr txBox="1"/>
              <p:nvPr/>
            </p:nvSpPr>
            <p:spPr>
              <a:xfrm>
                <a:off x="9192006" y="3139440"/>
                <a:ext cx="1966072" cy="352044"/>
              </a:xfrm>
              <a:prstGeom prst="rect">
                <a:avLst/>
              </a:prstGeom>
              <a:noFill/>
              <a:ln>
                <a:noFill/>
              </a:ln>
            </p:spPr>
            <p:txBody>
              <a:bodyPr wrap="none" lIns="0" tIns="0" rIns="0" bIns="0" anchor="t" anchorCtr="0">
                <a:spAutoFit/>
              </a:bodyPr>
              <a:lstStyle/>
              <a:p>
                <a:pPr algn="l"/>
                <a:r>
                  <a:rPr lang="vi-VN" sz="1800" dirty="0">
                    <a:solidFill>
                      <a:schemeClr val="accent5"/>
                    </a:solidFill>
                    <a:latin typeface="+mn-lt"/>
                    <a:ea typeface="+mn-ea"/>
                    <a:cs typeface="+mn-cs"/>
                  </a:rPr>
                  <a:t>vừa phát → bỏ qua</a:t>
                </a:r>
                <a:endParaRPr lang="vi-VN" sz="1800" dirty="0">
                  <a:solidFill>
                    <a:schemeClr val="accent5"/>
                  </a:solidFill>
                  <a:latin typeface="+mn-lt"/>
                  <a:ea typeface="+mn-ea"/>
                  <a:cs typeface="+mn-cs"/>
                </a:endParaRPr>
              </a:p>
            </p:txBody>
          </p:sp>
        </p:grpSp>
        <p:sp>
          <p:nvSpPr>
            <p:cNvPr id="58" name="TextBox 58"/>
            <p:cNvSpPr txBox="1"/>
            <p:nvPr/>
          </p:nvSpPr>
          <p:spPr>
            <a:xfrm>
              <a:off x="6281166" y="3639502"/>
              <a:ext cx="1083651" cy="205359"/>
            </a:xfrm>
            <a:prstGeom prst="rect">
              <a:avLst/>
            </a:prstGeom>
            <a:noFill/>
            <a:ln>
              <a:noFill/>
            </a:ln>
          </p:spPr>
          <p:txBody>
            <a:bodyPr wrap="none" lIns="0" tIns="0" rIns="0" bIns="0" anchor="t" anchorCtr="0">
              <a:spAutoFit/>
            </a:bodyPr>
            <a:lstStyle/>
            <a:p>
              <a:pPr algn="l"/>
              <a:r>
                <a:rPr lang="vi-VN" sz="1050" dirty="0">
                  <a:solidFill>
                    <a:schemeClr val="accent5"/>
                  </a:solidFill>
                  <a:latin typeface="+mn-lt"/>
                  <a:ea typeface="+mn-ea"/>
                  <a:cs typeface="+mn-cs"/>
                </a:rPr>
                <a:t>Dữ liệu minh họa</a:t>
              </a:r>
              <a:endParaRPr lang="vi-VN" sz="1050" dirty="0">
                <a:solidFill>
                  <a:schemeClr val="accent5"/>
                </a:solidFill>
                <a:latin typeface="+mn-lt"/>
                <a:ea typeface="+mn-ea"/>
                <a:cs typeface="+mn-cs"/>
              </a:endParaRPr>
            </a:p>
          </p:txBody>
        </p:sp>
      </p:grpSp>
      <p:grpSp>
        <p:nvGrpSpPr>
          <p:cNvPr id="67" name="split"/>
          <p:cNvGrpSpPr/>
          <p:nvPr/>
        </p:nvGrpSpPr>
        <p:grpSpPr>
          <a:xfrm>
            <a:off x="6279642" y="3985260"/>
            <a:ext cx="5309616" cy="1124141"/>
            <a:chOff x="6279642" y="3985260"/>
            <a:chExt cx="5309616" cy="1124141"/>
          </a:xfrm>
        </p:grpSpPr>
        <p:sp>
          <p:nvSpPr>
            <p:cNvPr id="60" name="TextBox 60"/>
            <p:cNvSpPr txBox="1"/>
            <p:nvPr/>
          </p:nvSpPr>
          <p:spPr>
            <a:xfrm>
              <a:off x="6280404" y="3985260"/>
              <a:ext cx="3767328"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CÁCH CHỌN BÀI · BẢN NÂNG CẤP (ĐANG CODE)</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61" name="Rectangle 61"/>
            <p:cNvSpPr/>
            <p:nvPr/>
          </p:nvSpPr>
          <p:spPr>
            <a:xfrm>
              <a:off x="6286500" y="4248150"/>
              <a:ext cx="3442335" cy="457200"/>
            </a:xfrm>
            <a:prstGeom prst="roundRect">
              <a:avLst>
                <a:gd name="adj" fmla="val 12500"/>
              </a:avLst>
            </a:prstGeom>
            <a:solidFill>
              <a:schemeClr val="accent2"/>
            </a:solidFill>
            <a:ln>
              <a:noFill/>
            </a:ln>
          </p:spPr>
        </p:sp>
        <p:sp>
          <p:nvSpPr>
            <p:cNvPr id="62" name="Rectangle 62"/>
            <p:cNvSpPr/>
            <p:nvPr/>
          </p:nvSpPr>
          <p:spPr>
            <a:xfrm>
              <a:off x="9728835" y="4248150"/>
              <a:ext cx="1853565" cy="457200"/>
            </a:xfrm>
            <a:prstGeom prst="roundRect">
              <a:avLst>
                <a:gd name="adj" fmla="val 12500"/>
              </a:avLst>
            </a:prstGeom>
            <a:solidFill>
              <a:schemeClr val="accent3"/>
            </a:solidFill>
            <a:ln>
              <a:noFill/>
            </a:ln>
          </p:spPr>
        </p:sp>
        <p:sp>
          <p:nvSpPr>
            <p:cNvPr id="63" name="TextBox 63"/>
            <p:cNvSpPr txBox="1"/>
            <p:nvPr/>
          </p:nvSpPr>
          <p:spPr>
            <a:xfrm>
              <a:off x="6505956" y="4358640"/>
              <a:ext cx="507185" cy="352044"/>
            </a:xfrm>
            <a:prstGeom prst="rect">
              <a:avLst/>
            </a:prstGeom>
            <a:noFill/>
            <a:ln>
              <a:noFill/>
            </a:ln>
          </p:spPr>
          <p:txBody>
            <a:bodyPr wrap="none" lIns="0" tIns="0" rIns="0" bIns="0" anchor="t" anchorCtr="0">
              <a:spAutoFit/>
            </a:bodyPr>
            <a:lstStyle/>
            <a:p>
              <a:pPr algn="l"/>
              <a:r>
                <a:rPr lang="vi-VN" sz="1800" b="1" dirty="0">
                  <a:solidFill>
                    <a:srgbClr val="0B1020"/>
                  </a:solidFill>
                  <a:latin typeface="+mn-lt"/>
                  <a:ea typeface="+mn-ea"/>
                  <a:cs typeface="+mn-cs"/>
                </a:rPr>
                <a:t>65%</a:t>
              </a:r>
              <a:endParaRPr lang="vi-VN" sz="1800" b="1" dirty="0">
                <a:solidFill>
                  <a:srgbClr val="0B1020"/>
                </a:solidFill>
                <a:latin typeface="+mn-lt"/>
                <a:ea typeface="+mn-ea"/>
                <a:cs typeface="+mn-cs"/>
              </a:endParaRPr>
            </a:p>
          </p:txBody>
        </p:sp>
        <p:sp>
          <p:nvSpPr>
            <p:cNvPr id="64" name="TextBox 64"/>
            <p:cNvSpPr txBox="1"/>
            <p:nvPr/>
          </p:nvSpPr>
          <p:spPr>
            <a:xfrm>
              <a:off x="9868281" y="4358640"/>
              <a:ext cx="507185" cy="352044"/>
            </a:xfrm>
            <a:prstGeom prst="rect">
              <a:avLst/>
            </a:prstGeom>
            <a:noFill/>
            <a:ln>
              <a:noFill/>
            </a:ln>
          </p:spPr>
          <p:txBody>
            <a:bodyPr wrap="none" lIns="0" tIns="0" rIns="0" bIns="0" anchor="t" anchorCtr="0">
              <a:spAutoFit/>
            </a:bodyPr>
            <a:lstStyle/>
            <a:p>
              <a:pPr algn="l"/>
              <a:r>
                <a:rPr lang="vi-VN" sz="1800" b="1" dirty="0">
                  <a:solidFill>
                    <a:srgbClr val="0B1020"/>
                  </a:solidFill>
                  <a:latin typeface="+mn-lt"/>
                  <a:ea typeface="+mn-ea"/>
                  <a:cs typeface="+mn-cs"/>
                </a:rPr>
                <a:t>35%</a:t>
              </a:r>
              <a:endParaRPr lang="vi-VN" sz="1800" b="1" dirty="0">
                <a:solidFill>
                  <a:srgbClr val="0B1020"/>
                </a:solidFill>
                <a:latin typeface="+mn-lt"/>
                <a:ea typeface="+mn-ea"/>
                <a:cs typeface="+mn-cs"/>
              </a:endParaRPr>
            </a:p>
          </p:txBody>
        </p:sp>
        <p:sp>
          <p:nvSpPr>
            <p:cNvPr id="65" name="TextBox 65"/>
            <p:cNvSpPr txBox="1"/>
            <p:nvPr/>
          </p:nvSpPr>
          <p:spPr>
            <a:xfrm>
              <a:off x="6279642" y="4845368"/>
              <a:ext cx="2282017"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mn-lt"/>
                  <a:ea typeface="+mn-ea"/>
                  <a:cs typeface="+mn-cs"/>
                </a:rPr>
                <a:t>Khai thác: bài điểm cao nhất</a:t>
              </a:r>
              <a:endParaRPr lang="vi-VN" sz="1350" dirty="0">
                <a:solidFill>
                  <a:schemeClr val="accent2"/>
                </a:solidFill>
                <a:latin typeface="+mn-lt"/>
                <a:ea typeface="+mn-ea"/>
                <a:cs typeface="+mn-cs"/>
              </a:endParaRPr>
            </a:p>
          </p:txBody>
        </p:sp>
        <p:sp>
          <p:nvSpPr>
            <p:cNvPr id="66" name="TextBox 66"/>
            <p:cNvSpPr txBox="1"/>
            <p:nvPr/>
          </p:nvSpPr>
          <p:spPr>
            <a:xfrm>
              <a:off x="9615474" y="4845368"/>
              <a:ext cx="1973784" cy="264033"/>
            </a:xfrm>
            <a:prstGeom prst="rect">
              <a:avLst/>
            </a:prstGeom>
            <a:noFill/>
            <a:ln>
              <a:noFill/>
            </a:ln>
          </p:spPr>
          <p:txBody>
            <a:bodyPr wrap="none" lIns="0" tIns="0" rIns="0" bIns="0" anchor="t" anchorCtr="0">
              <a:spAutoFit/>
            </a:bodyPr>
            <a:lstStyle/>
            <a:p>
              <a:pPr algn="r"/>
              <a:r>
                <a:rPr lang="vi-VN" sz="1350" dirty="0">
                  <a:solidFill>
                    <a:schemeClr val="accent3"/>
                  </a:solidFill>
                  <a:latin typeface="+mn-lt"/>
                  <a:ea typeface="+mn-ea"/>
                  <a:cs typeface="+mn-cs"/>
                </a:rPr>
                <a:t>Khám phá: bài lạ hợp gu</a:t>
              </a:r>
              <a:endParaRPr lang="vi-VN" sz="1350" dirty="0">
                <a:solidFill>
                  <a:schemeClr val="accent3"/>
                </a:solidFill>
                <a:latin typeface="+mn-lt"/>
                <a:ea typeface="+mn-ea"/>
                <a:cs typeface="+mn-cs"/>
              </a:endParaRPr>
            </a:p>
          </p:txBody>
        </p:sp>
      </p:grpSp>
      <p:grpSp>
        <p:nvGrpSpPr>
          <p:cNvPr id="70" name="takeaway"/>
          <p:cNvGrpSpPr/>
          <p:nvPr/>
        </p:nvGrpSpPr>
        <p:grpSpPr>
          <a:xfrm>
            <a:off x="6286500" y="5334000"/>
            <a:ext cx="3394900" cy="748284"/>
            <a:chOff x="6286500" y="5334000"/>
            <a:chExt cx="3394900" cy="748284"/>
          </a:xfrm>
        </p:grpSpPr>
        <p:sp>
          <p:nvSpPr>
            <p:cNvPr id="68" name="Rectangle 68"/>
            <p:cNvSpPr/>
            <p:nvPr/>
          </p:nvSpPr>
          <p:spPr>
            <a:xfrm>
              <a:off x="6286500" y="5334000"/>
              <a:ext cx="38100" cy="723900"/>
            </a:xfrm>
            <a:prstGeom prst="rect">
              <a:avLst/>
            </a:prstGeom>
            <a:solidFill>
              <a:schemeClr val="accent2"/>
            </a:solidFill>
            <a:ln>
              <a:noFill/>
            </a:ln>
          </p:spPr>
        </p:sp>
        <p:sp>
          <p:nvSpPr>
            <p:cNvPr id="69" name="TextBox 69"/>
            <p:cNvSpPr txBox="1"/>
            <p:nvPr/>
          </p:nvSpPr>
          <p:spPr>
            <a:xfrm>
              <a:off x="6467856" y="5406390"/>
              <a:ext cx="3213544" cy="675894"/>
            </a:xfrm>
            <a:prstGeom prst="rect">
              <a:avLst/>
            </a:prstGeom>
            <a:noFill/>
            <a:ln>
              <a:noFill/>
            </a:ln>
          </p:spPr>
          <p:txBody>
            <a:bodyPr wrap="none" lIns="0" tIns="0" rIns="0" bIns="0" anchor="t" anchorCtr="0">
              <a:spAutoFit/>
            </a:bodyPr>
            <a:lstStyle/>
            <a:p>
              <a:pPr algn="l">
                <a:lnSpc>
                  <a:spcPts val="2550"/>
                </a:lnSpc>
              </a:pPr>
              <a:r>
                <a:rPr lang="vi-VN" sz="1800" b="1" dirty="0">
                  <a:solidFill>
                    <a:schemeClr val="accent2"/>
                  </a:solidFill>
                  <a:latin typeface="+mn-lt"/>
                  <a:ea typeface="+mn-ea"/>
                  <a:cs typeface="+mn-cs"/>
                </a:rPr>
                <a:t>65%</a:t>
              </a:r>
              <a:r>
                <a:rPr lang="vi-VN" sz="1800" dirty="0">
                  <a:solidFill>
                    <a:schemeClr val="dk1"/>
                  </a:solidFill>
                  <a:latin typeface="+mn-lt"/>
                  <a:ea typeface="+mn-ea"/>
                  <a:cs typeface="+mn-cs"/>
                </a:rPr>
                <a:t> phát bài người dùng thích,</a:t>
              </a:r>
              <a:br>
                <a:rPr lang="vi-VN" sz="1800" dirty="0">
                  <a:solidFill>
                    <a:schemeClr val="dk1"/>
                  </a:solidFill>
                  <a:latin typeface="+mn-lt"/>
                  <a:ea typeface="+mn-ea"/>
                  <a:cs typeface="+mn-cs"/>
                </a:rPr>
              </a:br>
              <a:r>
                <a:rPr lang="vi-VN" sz="1800" b="1" dirty="0">
                  <a:solidFill>
                    <a:schemeClr val="accent3"/>
                  </a:solidFill>
                  <a:latin typeface="+mn-lt"/>
                  <a:ea typeface="+mn-ea"/>
                  <a:cs typeface="+mn-cs"/>
                </a:rPr>
                <a:t>35%</a:t>
              </a:r>
              <a:r>
                <a:rPr lang="vi-VN" sz="1800" dirty="0">
                  <a:solidFill>
                    <a:schemeClr val="dk1"/>
                  </a:solidFill>
                  <a:latin typeface="+mn-lt"/>
                  <a:ea typeface="+mn-ea"/>
                  <a:cs typeface="+mn-cs"/>
                </a:rPr>
                <a:t> khám phá bài lạ hợp gu</a:t>
              </a:r>
              <a:endParaRPr lang="vi-VN" sz="1800" dirty="0">
                <a:solidFill>
                  <a:schemeClr val="dk1"/>
                </a:solidFill>
                <a:latin typeface="+mn-lt"/>
                <a:ea typeface="+mn-ea"/>
                <a:cs typeface="+mn-cs"/>
              </a:endParaRPr>
            </a:p>
          </p:txBody>
        </p:sp>
      </p:grpSp>
      <p:sp>
        <p:nvSpPr>
          <p:cNvPr id="71" name="TextBox 71"/>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07 / 13</a:t>
            </a:r>
            <a:endParaRPr lang="vi-VN" sz="1200" dirty="0">
              <a:solidFill>
                <a:schemeClr val="accent5"/>
              </a:solidFill>
              <a:latin typeface="Consolas" panose="020B0609020204030204"/>
              <a:ea typeface="Consolas" panose="020B0609020204030204"/>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594360" y="422910"/>
            <a:ext cx="6358890" cy="849630"/>
            <a:chOff x="594360" y="422910"/>
            <a:chExt cx="6358890" cy="849630"/>
          </a:xfrm>
        </p:grpSpPr>
        <p:sp>
          <p:nvSpPr>
            <p:cNvPr id="2" name="TextBox 2"/>
            <p:cNvSpPr txBox="1"/>
            <p:nvPr/>
          </p:nvSpPr>
          <p:spPr>
            <a:xfrm>
              <a:off x="603504" y="422910"/>
              <a:ext cx="282854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PHẦN 3 · ĐIỂM HAY CỦA HỆ THỐNG</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3" name="TextBox 3"/>
            <p:cNvSpPr txBox="1"/>
            <p:nvPr/>
          </p:nvSpPr>
          <p:spPr>
            <a:xfrm>
              <a:off x="594360" y="685800"/>
              <a:ext cx="2605364"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Gợi ý theo gu</a:t>
              </a:r>
              <a:endParaRPr lang="vi-VN" sz="3000" b="1" dirty="0">
                <a:solidFill>
                  <a:schemeClr val="dk1"/>
                </a:solidFill>
                <a:latin typeface="+mn-lt"/>
                <a:ea typeface="+mn-ea"/>
                <a:cs typeface="+mn-cs"/>
              </a:endParaRPr>
            </a:p>
          </p:txBody>
        </p:sp>
        <p:sp>
          <p:nvSpPr>
            <p:cNvPr id="4" name="Rectangle 4"/>
            <p:cNvSpPr/>
            <p:nvPr/>
          </p:nvSpPr>
          <p:spPr>
            <a:xfrm>
              <a:off x="3429000" y="762000"/>
              <a:ext cx="3524250" cy="342900"/>
            </a:xfrm>
            <a:prstGeom prst="roundRect">
              <a:avLst>
                <a:gd name="adj" fmla="val 50000"/>
              </a:avLst>
            </a:prstGeom>
            <a:solidFill>
              <a:schemeClr val="accent2">
                <a:alpha val="12000"/>
              </a:schemeClr>
            </a:solidFill>
            <a:ln w="14288">
              <a:solidFill>
                <a:schemeClr val="accent2"/>
              </a:solidFill>
            </a:ln>
          </p:spPr>
        </p:sp>
        <p:sp>
          <p:nvSpPr>
            <p:cNvPr id="5" name="TextBox 5"/>
            <p:cNvSpPr txBox="1"/>
            <p:nvPr/>
          </p:nvSpPr>
          <p:spPr>
            <a:xfrm>
              <a:off x="3672706" y="844868"/>
              <a:ext cx="3036838" cy="264033"/>
            </a:xfrm>
            <a:prstGeom prst="rect">
              <a:avLst/>
            </a:prstGeom>
            <a:noFill/>
            <a:ln>
              <a:noFill/>
            </a:ln>
          </p:spPr>
          <p:txBody>
            <a:bodyPr wrap="none" lIns="0" tIns="0" rIns="0" bIns="0" anchor="t" anchorCtr="0">
              <a:spAutoFit/>
            </a:bodyPr>
            <a:lstStyle/>
            <a:p>
              <a:pPr algn="ctr"/>
              <a:r>
                <a:rPr lang="vi-VN" sz="1350" dirty="0">
                  <a:solidFill>
                    <a:schemeClr val="accent2"/>
                  </a:solidFill>
                  <a:latin typeface="+mn-lt"/>
                  <a:ea typeface="+mn-ea"/>
                  <a:cs typeface="+mn-cs"/>
                </a:rPr>
                <a:t>Bản nâng cấp · đã thiết kế, đang code</a:t>
              </a:r>
              <a:endParaRPr lang="vi-VN" sz="1350" dirty="0">
                <a:solidFill>
                  <a:schemeClr val="accent2"/>
                </a:solidFill>
                <a:latin typeface="+mn-lt"/>
                <a:ea typeface="+mn-ea"/>
                <a:cs typeface="+mn-cs"/>
              </a:endParaRPr>
            </a:p>
          </p:txBody>
        </p:sp>
      </p:grpSp>
      <p:grpSp>
        <p:nvGrpSpPr>
          <p:cNvPr id="12" name="led-motif"/>
          <p:cNvGrpSpPr/>
          <p:nvPr/>
        </p:nvGrpSpPr>
        <p:grpSpPr>
          <a:xfrm>
            <a:off x="10534650" y="533400"/>
            <a:ext cx="1028700" cy="114300"/>
            <a:chOff x="10534650" y="533400"/>
            <a:chExt cx="1028700" cy="114300"/>
          </a:xfrm>
        </p:grpSpPr>
        <p:sp>
          <p:nvSpPr>
            <p:cNvPr id="7" name="Ellipse 7"/>
            <p:cNvSpPr/>
            <p:nvPr/>
          </p:nvSpPr>
          <p:spPr>
            <a:xfrm>
              <a:off x="10534650" y="533400"/>
              <a:ext cx="114300" cy="114300"/>
            </a:xfrm>
            <a:prstGeom prst="ellipse">
              <a:avLst/>
            </a:prstGeom>
            <a:solidFill>
              <a:schemeClr val="accent2"/>
            </a:solidFill>
            <a:ln>
              <a:noFill/>
            </a:ln>
          </p:spPr>
        </p:sp>
        <p:sp>
          <p:nvSpPr>
            <p:cNvPr id="8" name="Ellipse 8"/>
            <p:cNvSpPr/>
            <p:nvPr/>
          </p:nvSpPr>
          <p:spPr>
            <a:xfrm>
              <a:off x="10763250" y="533400"/>
              <a:ext cx="114300" cy="114300"/>
            </a:xfrm>
            <a:prstGeom prst="ellipse">
              <a:avLst/>
            </a:prstGeom>
            <a:solidFill>
              <a:srgbClr val="4F8CFF"/>
            </a:solidFill>
            <a:ln>
              <a:noFill/>
            </a:ln>
          </p:spPr>
        </p:sp>
        <p:sp>
          <p:nvSpPr>
            <p:cNvPr id="9" name="Ellipse 9"/>
            <p:cNvSpPr/>
            <p:nvPr/>
          </p:nvSpPr>
          <p:spPr>
            <a:xfrm>
              <a:off x="10991850" y="533400"/>
              <a:ext cx="114300" cy="114300"/>
            </a:xfrm>
            <a:prstGeom prst="ellipse">
              <a:avLst/>
            </a:prstGeom>
            <a:solidFill>
              <a:srgbClr val="FF5A5F"/>
            </a:solidFill>
            <a:ln>
              <a:noFill/>
            </a:ln>
          </p:spPr>
        </p:sp>
        <p:sp>
          <p:nvSpPr>
            <p:cNvPr id="10" name="Ellipse 10"/>
            <p:cNvSpPr/>
            <p:nvPr/>
          </p:nvSpPr>
          <p:spPr>
            <a:xfrm>
              <a:off x="11220450" y="533400"/>
              <a:ext cx="114300" cy="114300"/>
            </a:xfrm>
            <a:prstGeom prst="ellipse">
              <a:avLst/>
            </a:prstGeom>
            <a:solidFill>
              <a:schemeClr val="accent3"/>
            </a:solidFill>
            <a:ln>
              <a:noFill/>
            </a:ln>
          </p:spPr>
        </p:sp>
        <p:sp>
          <p:nvSpPr>
            <p:cNvPr id="11" name="Ellipse 11"/>
            <p:cNvSpPr/>
            <p:nvPr/>
          </p:nvSpPr>
          <p:spPr>
            <a:xfrm>
              <a:off x="11449050" y="533400"/>
              <a:ext cx="114300" cy="114300"/>
            </a:xfrm>
            <a:prstGeom prst="ellipse">
              <a:avLst/>
            </a:prstGeom>
            <a:solidFill>
              <a:schemeClr val="dk1"/>
            </a:solidFill>
            <a:ln>
              <a:noFill/>
            </a:ln>
          </p:spPr>
        </p:sp>
      </p:grpSp>
      <p:grpSp>
        <p:nvGrpSpPr>
          <p:cNvPr id="14" name="problem"/>
          <p:cNvGrpSpPr/>
          <p:nvPr/>
        </p:nvGrpSpPr>
        <p:grpSpPr>
          <a:xfrm>
            <a:off x="600456" y="1405890"/>
            <a:ext cx="9769812" cy="352044"/>
            <a:chOff x="600456" y="1405890"/>
            <a:chExt cx="9769812" cy="352044"/>
          </a:xfrm>
        </p:grpSpPr>
        <p:sp>
          <p:nvSpPr>
            <p:cNvPr id="13" name="TextBox 13"/>
            <p:cNvSpPr txBox="1"/>
            <p:nvPr/>
          </p:nvSpPr>
          <p:spPr>
            <a:xfrm>
              <a:off x="600456" y="1405890"/>
              <a:ext cx="9769812" cy="352044"/>
            </a:xfrm>
            <a:prstGeom prst="rect">
              <a:avLst/>
            </a:prstGeom>
            <a:noFill/>
            <a:ln>
              <a:noFill/>
            </a:ln>
          </p:spPr>
          <p:txBody>
            <a:bodyPr wrap="none" lIns="0" tIns="0" rIns="0" bIns="0" anchor="t" anchorCtr="0">
              <a:spAutoFit/>
            </a:bodyPr>
            <a:lstStyle/>
            <a:p>
              <a:pPr algn="l"/>
              <a:r>
                <a:rPr lang="vi-VN" sz="1800" dirty="0">
                  <a:solidFill>
                    <a:schemeClr val="accent5"/>
                  </a:solidFill>
                  <a:latin typeface="+mn-lt"/>
                  <a:ea typeface="+mn-ea"/>
                  <a:cs typeface="+mn-cs"/>
                </a:rPr>
                <a:t>Hiện điểm chỉ lưu cho </a:t>
              </a:r>
              <a:r>
                <a:rPr lang="vi-VN" sz="1800" b="1" dirty="0">
                  <a:solidFill>
                    <a:schemeClr val="dk1"/>
                  </a:solidFill>
                  <a:latin typeface="+mn-lt"/>
                  <a:ea typeface="+mn-ea"/>
                  <a:cs typeface="+mn-cs"/>
                </a:rPr>
                <a:t>từng bài</a:t>
              </a:r>
              <a:r>
                <a:rPr lang="vi-VN" sz="1800" dirty="0">
                  <a:solidFill>
                    <a:schemeClr val="accent5"/>
                  </a:solidFill>
                  <a:latin typeface="+mn-lt"/>
                  <a:ea typeface="+mn-ea"/>
                  <a:cs typeface="+mn-cs"/>
                </a:rPr>
                <a:t> → nghe hết ballad A không giúp gì cho ballad B cùng dòng.</a:t>
              </a:r>
              <a:endParaRPr lang="vi-VN" sz="1800" dirty="0">
                <a:solidFill>
                  <a:schemeClr val="accent5"/>
                </a:solidFill>
                <a:latin typeface="+mn-lt"/>
                <a:ea typeface="+mn-ea"/>
                <a:cs typeface="+mn-cs"/>
              </a:endParaRPr>
            </a:p>
          </p:txBody>
        </p:sp>
      </p:grpSp>
      <p:grpSp>
        <p:nvGrpSpPr>
          <p:cNvPr id="40" name="sources"/>
          <p:cNvGrpSpPr/>
          <p:nvPr/>
        </p:nvGrpSpPr>
        <p:grpSpPr>
          <a:xfrm>
            <a:off x="603504" y="1889760"/>
            <a:ext cx="5111496" cy="3276791"/>
            <a:chOff x="603504" y="1889760"/>
            <a:chExt cx="5111496" cy="3276791"/>
          </a:xfrm>
        </p:grpSpPr>
        <p:sp>
          <p:nvSpPr>
            <p:cNvPr id="15" name="TextBox 15"/>
            <p:cNvSpPr txBox="1"/>
            <p:nvPr/>
          </p:nvSpPr>
          <p:spPr>
            <a:xfrm>
              <a:off x="603504" y="1889760"/>
              <a:ext cx="188976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3 NGUỒN HIỂU BÀI HÁT</a:t>
              </a:r>
              <a:endParaRPr lang="vi-VN" sz="1200" dirty="0">
                <a:solidFill>
                  <a:schemeClr val="accent1"/>
                </a:solidFill>
                <a:latin typeface="Consolas" panose="020B0609020204030204"/>
                <a:ea typeface="Consolas" panose="020B0609020204030204"/>
                <a:cs typeface="Consolas" panose="020B0609020204030204"/>
              </a:endParaRPr>
            </a:p>
          </p:txBody>
        </p:sp>
        <p:grpSp>
          <p:nvGrpSpPr>
            <p:cNvPr id="23" name="source-audio"/>
            <p:cNvGrpSpPr/>
            <p:nvPr/>
          </p:nvGrpSpPr>
          <p:grpSpPr>
            <a:xfrm>
              <a:off x="609600" y="2152650"/>
              <a:ext cx="5105400" cy="956501"/>
              <a:chOff x="609600" y="2152650"/>
              <a:chExt cx="5105400" cy="956501"/>
            </a:xfrm>
          </p:grpSpPr>
          <p:sp>
            <p:nvSpPr>
              <p:cNvPr id="16" name="Rectangle 16"/>
              <p:cNvSpPr/>
              <p:nvPr/>
            </p:nvSpPr>
            <p:spPr>
              <a:xfrm>
                <a:off x="609600" y="2152650"/>
                <a:ext cx="5105400" cy="914400"/>
              </a:xfrm>
              <a:prstGeom prst="roundRect">
                <a:avLst>
                  <a:gd name="adj" fmla="val 12500"/>
                </a:avLst>
              </a:prstGeom>
              <a:solidFill>
                <a:schemeClr val="lt2"/>
              </a:solidFill>
              <a:ln w="14288">
                <a:solidFill>
                  <a:schemeClr val="accent1"/>
                </a:solidFill>
              </a:ln>
            </p:spPr>
          </p:sp>
          <p:grpSp>
            <p:nvGrpSpPr>
              <p:cNvPr id="19" name="Group 19"/>
              <p:cNvGrpSpPr/>
              <p:nvPr/>
            </p:nvGrpSpPr>
            <p:grpSpPr>
              <a:xfrm>
                <a:off x="819150" y="2352047"/>
                <a:ext cx="276244" cy="248900"/>
                <a:chOff x="819150" y="2352047"/>
                <a:chExt cx="276244" cy="248900"/>
              </a:xfrm>
            </p:grpSpPr>
            <p:sp>
              <p:nvSpPr>
                <p:cNvPr id="17" name="Freeform 17"/>
                <p:cNvSpPr/>
                <p:nvPr/>
              </p:nvSpPr>
              <p:spPr>
                <a:xfrm>
                  <a:off x="828675" y="2428875"/>
                  <a:ext cx="66675" cy="95250"/>
                </a:xfrm>
                <a:custGeom>
                  <a:avLst/>
                  <a:gdLst/>
                  <a:ahLst/>
                  <a:cxnLst/>
                  <a:rect l="l" t="t" r="r" b="b"/>
                  <a:pathLst>
                    <a:path w="66675" h="95250">
                      <a:moveTo>
                        <a:pt x="66675" y="0"/>
                      </a:moveTo>
                      <a:lnTo>
                        <a:pt x="66675" y="95250"/>
                      </a:lnTo>
                      <a:lnTo>
                        <a:pt x="9525" y="95250"/>
                      </a:lnTo>
                      <a:cubicBezTo>
                        <a:pt x="4264" y="95250"/>
                        <a:pt x="0" y="90986"/>
                        <a:pt x="0" y="85725"/>
                      </a:cubicBezTo>
                      <a:lnTo>
                        <a:pt x="0" y="9525"/>
                      </a:lnTo>
                      <a:cubicBezTo>
                        <a:pt x="0" y="4264"/>
                        <a:pt x="4264" y="0"/>
                        <a:pt x="9525" y="0"/>
                      </a:cubicBezTo>
                      <a:close/>
                    </a:path>
                  </a:pathLst>
                </a:custGeom>
                <a:solidFill>
                  <a:schemeClr val="accent1">
                    <a:alpha val="20000"/>
                  </a:schemeClr>
                </a:solidFill>
                <a:ln>
                  <a:noFill/>
                </a:ln>
              </p:spPr>
            </p:sp>
            <p:sp>
              <p:nvSpPr>
                <p:cNvPr id="18" name="Freeform 18"/>
                <p:cNvSpPr/>
                <p:nvPr/>
              </p:nvSpPr>
              <p:spPr>
                <a:xfrm>
                  <a:off x="819150" y="2352047"/>
                  <a:ext cx="276244" cy="248900"/>
                </a:xfrm>
                <a:custGeom>
                  <a:avLst/>
                  <a:gdLst/>
                  <a:ahLst/>
                  <a:cxnLst/>
                  <a:rect l="l" t="t" r="r" b="b"/>
                  <a:pathLst>
                    <a:path w="276244" h="248900">
                      <a:moveTo>
                        <a:pt x="166104" y="1592"/>
                      </a:moveTo>
                      <a:cubicBezTo>
                        <a:pt x="162836" y="0"/>
                        <a:pt x="158947" y="406"/>
                        <a:pt x="156079" y="2640"/>
                      </a:cubicBezTo>
                      <a:lnTo>
                        <a:pt x="72926" y="67303"/>
                      </a:lnTo>
                      <a:lnTo>
                        <a:pt x="19050" y="67303"/>
                      </a:lnTo>
                      <a:cubicBezTo>
                        <a:pt x="8529" y="67303"/>
                        <a:pt x="0" y="75832"/>
                        <a:pt x="0" y="86353"/>
                      </a:cubicBezTo>
                      <a:lnTo>
                        <a:pt x="0" y="162553"/>
                      </a:lnTo>
                      <a:cubicBezTo>
                        <a:pt x="0" y="173074"/>
                        <a:pt x="8529" y="181603"/>
                        <a:pt x="19050" y="181603"/>
                      </a:cubicBezTo>
                      <a:lnTo>
                        <a:pt x="72926" y="181603"/>
                      </a:lnTo>
                      <a:lnTo>
                        <a:pt x="156079" y="246266"/>
                      </a:lnTo>
                      <a:cubicBezTo>
                        <a:pt x="158950" y="248498"/>
                        <a:pt x="162841" y="248900"/>
                        <a:pt x="166108" y="247303"/>
                      </a:cubicBezTo>
                      <a:cubicBezTo>
                        <a:pt x="169375" y="245707"/>
                        <a:pt x="171447" y="242389"/>
                        <a:pt x="171450" y="238753"/>
                      </a:cubicBezTo>
                      <a:lnTo>
                        <a:pt x="171450" y="10153"/>
                      </a:lnTo>
                      <a:cubicBezTo>
                        <a:pt x="171451" y="6512"/>
                        <a:pt x="169376" y="3190"/>
                        <a:pt x="166104" y="1592"/>
                      </a:cubicBezTo>
                      <a:close/>
                      <a:moveTo>
                        <a:pt x="19050" y="86353"/>
                      </a:moveTo>
                      <a:lnTo>
                        <a:pt x="66675" y="86353"/>
                      </a:lnTo>
                      <a:lnTo>
                        <a:pt x="66675" y="162553"/>
                      </a:lnTo>
                      <a:lnTo>
                        <a:pt x="19050" y="162553"/>
                      </a:lnTo>
                      <a:close/>
                      <a:moveTo>
                        <a:pt x="152400" y="219274"/>
                      </a:moveTo>
                      <a:lnTo>
                        <a:pt x="85725" y="167423"/>
                      </a:lnTo>
                      <a:lnTo>
                        <a:pt x="85725" y="81483"/>
                      </a:lnTo>
                      <a:lnTo>
                        <a:pt x="152400" y="29632"/>
                      </a:lnTo>
                      <a:close/>
                      <a:moveTo>
                        <a:pt x="216694" y="92973"/>
                      </a:moveTo>
                      <a:cubicBezTo>
                        <a:pt x="232544" y="110967"/>
                        <a:pt x="232544" y="137939"/>
                        <a:pt x="216694" y="155933"/>
                      </a:cubicBezTo>
                      <a:cubicBezTo>
                        <a:pt x="213192" y="159780"/>
                        <a:pt x="207252" y="160107"/>
                        <a:pt x="203350" y="156667"/>
                      </a:cubicBezTo>
                      <a:cubicBezTo>
                        <a:pt x="199448" y="153226"/>
                        <a:pt x="199028" y="147292"/>
                        <a:pt x="202406" y="143336"/>
                      </a:cubicBezTo>
                      <a:cubicBezTo>
                        <a:pt x="211911" y="132541"/>
                        <a:pt x="211911" y="116364"/>
                        <a:pt x="202406" y="105570"/>
                      </a:cubicBezTo>
                      <a:cubicBezTo>
                        <a:pt x="199028" y="101614"/>
                        <a:pt x="199448" y="95679"/>
                        <a:pt x="203350" y="92239"/>
                      </a:cubicBezTo>
                      <a:cubicBezTo>
                        <a:pt x="207252" y="88799"/>
                        <a:pt x="213192" y="89126"/>
                        <a:pt x="216694" y="92973"/>
                      </a:cubicBezTo>
                      <a:close/>
                      <a:moveTo>
                        <a:pt x="276225" y="124453"/>
                      </a:moveTo>
                      <a:cubicBezTo>
                        <a:pt x="276239" y="147887"/>
                        <a:pt x="267602" y="170501"/>
                        <a:pt x="251972" y="187961"/>
                      </a:cubicBezTo>
                      <a:cubicBezTo>
                        <a:pt x="248442" y="191781"/>
                        <a:pt x="242500" y="192062"/>
                        <a:pt x="238624" y="188593"/>
                      </a:cubicBezTo>
                      <a:cubicBezTo>
                        <a:pt x="234748" y="185124"/>
                        <a:pt x="234373" y="179187"/>
                        <a:pt x="237780" y="175257"/>
                      </a:cubicBezTo>
                      <a:cubicBezTo>
                        <a:pt x="263649" y="146332"/>
                        <a:pt x="263649" y="102586"/>
                        <a:pt x="237780" y="73661"/>
                      </a:cubicBezTo>
                      <a:cubicBezTo>
                        <a:pt x="235446" y="71135"/>
                        <a:pt x="234654" y="67548"/>
                        <a:pt x="235709" y="64274"/>
                      </a:cubicBezTo>
                      <a:cubicBezTo>
                        <a:pt x="236764" y="61001"/>
                        <a:pt x="239501" y="58551"/>
                        <a:pt x="242871" y="57863"/>
                      </a:cubicBezTo>
                      <a:cubicBezTo>
                        <a:pt x="246241" y="57176"/>
                        <a:pt x="249719" y="58358"/>
                        <a:pt x="251972" y="60957"/>
                      </a:cubicBezTo>
                      <a:cubicBezTo>
                        <a:pt x="267607" y="78409"/>
                        <a:pt x="276244" y="101022"/>
                        <a:pt x="276225" y="124453"/>
                      </a:cubicBezTo>
                      <a:close/>
                    </a:path>
                  </a:pathLst>
                </a:custGeom>
                <a:solidFill>
                  <a:schemeClr val="accent1"/>
                </a:solidFill>
                <a:ln>
                  <a:noFill/>
                </a:ln>
              </p:spPr>
            </p:sp>
          </p:grpSp>
          <p:sp>
            <p:nvSpPr>
              <p:cNvPr id="20" name="TextBox 20"/>
              <p:cNvSpPr txBox="1"/>
              <p:nvPr/>
            </p:nvSpPr>
            <p:spPr>
              <a:xfrm>
                <a:off x="1248156" y="2339340"/>
                <a:ext cx="1149601"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Âm thanh</a:t>
                </a:r>
                <a:endParaRPr lang="vi-VN" sz="1800" b="1" dirty="0">
                  <a:solidFill>
                    <a:schemeClr val="dk1"/>
                  </a:solidFill>
                  <a:latin typeface="+mn-lt"/>
                  <a:ea typeface="+mn-ea"/>
                  <a:cs typeface="+mn-cs"/>
                </a:endParaRPr>
              </a:p>
            </p:txBody>
          </p:sp>
          <p:sp>
            <p:nvSpPr>
              <p:cNvPr id="21" name="TextBox 21"/>
              <p:cNvSpPr txBox="1"/>
              <p:nvPr/>
            </p:nvSpPr>
            <p:spPr>
              <a:xfrm>
                <a:off x="4899355" y="2404110"/>
                <a:ext cx="669341" cy="234696"/>
              </a:xfrm>
              <a:prstGeom prst="rect">
                <a:avLst/>
              </a:prstGeom>
              <a:noFill/>
              <a:ln>
                <a:noFill/>
              </a:ln>
            </p:spPr>
            <p:txBody>
              <a:bodyPr wrap="none" lIns="0" tIns="0" rIns="0" bIns="0" anchor="t" anchorCtr="0">
                <a:spAutoFit/>
              </a:bodyPr>
              <a:lstStyle/>
              <a:p>
                <a:pPr algn="r"/>
                <a:r>
                  <a:rPr lang="vi-VN" sz="1200" dirty="0">
                    <a:solidFill>
                      <a:srgbClr val="34D399"/>
                    </a:solidFill>
                    <a:latin typeface="Consolas" panose="020B0609020204030204"/>
                    <a:ea typeface="Consolas" panose="020B0609020204030204"/>
                    <a:cs typeface="Consolas" panose="020B0609020204030204"/>
                  </a:rPr>
                  <a:t>LUÔN CÓ</a:t>
                </a:r>
                <a:endParaRPr lang="vi-VN" sz="1200" dirty="0">
                  <a:solidFill>
                    <a:srgbClr val="34D399"/>
                  </a:solidFill>
                  <a:latin typeface="Consolas" panose="020B0609020204030204"/>
                  <a:ea typeface="Consolas" panose="020B0609020204030204"/>
                  <a:cs typeface="Consolas" panose="020B0609020204030204"/>
                </a:endParaRPr>
              </a:p>
            </p:txBody>
          </p:sp>
          <p:sp>
            <p:nvSpPr>
              <p:cNvPr id="22" name="TextBox 22"/>
              <p:cNvSpPr txBox="1"/>
              <p:nvPr/>
            </p:nvSpPr>
            <p:spPr>
              <a:xfrm>
                <a:off x="1250442" y="2635568"/>
                <a:ext cx="2739257" cy="473583"/>
              </a:xfrm>
              <a:prstGeom prst="rect">
                <a:avLst/>
              </a:prstGeom>
              <a:noFill/>
              <a:ln>
                <a:noFill/>
              </a:ln>
            </p:spPr>
            <p:txBody>
              <a:bodyPr wrap="none" lIns="0" tIns="0" rIns="0" bIns="0" anchor="t" anchorCtr="0">
                <a:spAutoFit/>
              </a:bodyPr>
              <a:lstStyle/>
              <a:p>
                <a:pPr algn="l">
                  <a:lnSpc>
                    <a:spcPts val="1650"/>
                  </a:lnSpc>
                </a:pPr>
                <a:r>
                  <a:rPr lang="vi-VN" sz="1350" dirty="0">
                    <a:solidFill>
                      <a:schemeClr val="accent5"/>
                    </a:solidFill>
                    <a:latin typeface="+mn-lt"/>
                    <a:ea typeface="+mn-ea"/>
                    <a:cs typeface="+mn-cs"/>
                  </a:rPr>
                  <a:t>AI tự phân tích mp3: nhịp, độ mạnh,</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độ sáng, âm sắc → dấu vân tay 17 số</a:t>
                </a:r>
                <a:endParaRPr lang="vi-VN" sz="1350" dirty="0">
                  <a:solidFill>
                    <a:schemeClr val="accent5"/>
                  </a:solidFill>
                  <a:latin typeface="+mn-lt"/>
                  <a:ea typeface="+mn-ea"/>
                  <a:cs typeface="+mn-cs"/>
                </a:endParaRPr>
              </a:p>
            </p:txBody>
          </p:sp>
        </p:grpSp>
        <p:grpSp>
          <p:nvGrpSpPr>
            <p:cNvPr id="31" name="source-id3"/>
            <p:cNvGrpSpPr/>
            <p:nvPr/>
          </p:nvGrpSpPr>
          <p:grpSpPr>
            <a:xfrm>
              <a:off x="609600" y="3181350"/>
              <a:ext cx="5105400" cy="956501"/>
              <a:chOff x="609600" y="3181350"/>
              <a:chExt cx="5105400" cy="956501"/>
            </a:xfrm>
          </p:grpSpPr>
          <p:sp>
            <p:nvSpPr>
              <p:cNvPr id="24" name="Rectangle 24"/>
              <p:cNvSpPr/>
              <p:nvPr/>
            </p:nvSpPr>
            <p:spPr>
              <a:xfrm>
                <a:off x="609600" y="3181350"/>
                <a:ext cx="5105400" cy="914400"/>
              </a:xfrm>
              <a:prstGeom prst="roundRect">
                <a:avLst>
                  <a:gd name="adj" fmla="val 12500"/>
                </a:avLst>
              </a:prstGeom>
              <a:solidFill>
                <a:schemeClr val="lt2"/>
              </a:solidFill>
              <a:ln w="14288">
                <a:solidFill>
                  <a:schemeClr val="accent6"/>
                </a:solidFill>
              </a:ln>
            </p:spPr>
          </p:sp>
          <p:grpSp>
            <p:nvGrpSpPr>
              <p:cNvPr id="27" name="Group 27"/>
              <p:cNvGrpSpPr/>
              <p:nvPr/>
            </p:nvGrpSpPr>
            <p:grpSpPr>
              <a:xfrm>
                <a:off x="802151" y="3401499"/>
                <a:ext cx="301419" cy="200276"/>
                <a:chOff x="802151" y="3401499"/>
                <a:chExt cx="301419" cy="200276"/>
              </a:xfrm>
            </p:grpSpPr>
            <p:sp>
              <p:nvSpPr>
                <p:cNvPr id="25" name="Freeform 25"/>
                <p:cNvSpPr/>
                <p:nvPr/>
              </p:nvSpPr>
              <p:spPr>
                <a:xfrm>
                  <a:off x="838200" y="3419475"/>
                  <a:ext cx="123825" cy="123825"/>
                </a:xfrm>
                <a:custGeom>
                  <a:avLst/>
                  <a:gdLst/>
                  <a:ahLst/>
                  <a:cxnLst/>
                  <a:rect l="l" t="t" r="r" b="b"/>
                  <a:pathLst>
                    <a:path w="123825" h="123825">
                      <a:moveTo>
                        <a:pt x="123825" y="61912"/>
                      </a:moveTo>
                      <a:cubicBezTo>
                        <a:pt x="123825" y="96106"/>
                        <a:pt x="96106" y="123825"/>
                        <a:pt x="61912" y="123825"/>
                      </a:cubicBezTo>
                      <a:cubicBezTo>
                        <a:pt x="27719" y="123825"/>
                        <a:pt x="0" y="96106"/>
                        <a:pt x="0" y="61912"/>
                      </a:cubicBezTo>
                      <a:cubicBezTo>
                        <a:pt x="0" y="27719"/>
                        <a:pt x="27719" y="0"/>
                        <a:pt x="61912" y="0"/>
                      </a:cubicBezTo>
                      <a:cubicBezTo>
                        <a:pt x="96106" y="0"/>
                        <a:pt x="123825" y="27719"/>
                        <a:pt x="123825" y="61912"/>
                      </a:cubicBezTo>
                      <a:close/>
                    </a:path>
                  </a:pathLst>
                </a:custGeom>
                <a:solidFill>
                  <a:srgbClr val="4F8CFF">
                    <a:alpha val="20000"/>
                  </a:srgbClr>
                </a:solidFill>
                <a:ln>
                  <a:noFill/>
                </a:ln>
              </p:spPr>
            </p:sp>
            <p:sp>
              <p:nvSpPr>
                <p:cNvPr id="26" name="Freeform 26"/>
                <p:cNvSpPr/>
                <p:nvPr/>
              </p:nvSpPr>
              <p:spPr>
                <a:xfrm>
                  <a:off x="802151" y="3401499"/>
                  <a:ext cx="301419" cy="200276"/>
                </a:xfrm>
                <a:custGeom>
                  <a:avLst/>
                  <a:gdLst/>
                  <a:ahLst/>
                  <a:cxnLst/>
                  <a:rect l="l" t="t" r="r" b="b"/>
                  <a:pathLst>
                    <a:path w="301419" h="200276">
                      <a:moveTo>
                        <a:pt x="137550" y="139324"/>
                      </a:moveTo>
                      <a:cubicBezTo>
                        <a:pt x="163761" y="121875"/>
                        <a:pt x="175456" y="89320"/>
                        <a:pt x="166341" y="59180"/>
                      </a:cubicBezTo>
                      <a:cubicBezTo>
                        <a:pt x="157225" y="29040"/>
                        <a:pt x="129450" y="8422"/>
                        <a:pt x="97962" y="8422"/>
                      </a:cubicBezTo>
                      <a:cubicBezTo>
                        <a:pt x="66473" y="8422"/>
                        <a:pt x="38698" y="29040"/>
                        <a:pt x="29583" y="59180"/>
                      </a:cubicBezTo>
                      <a:cubicBezTo>
                        <a:pt x="20468" y="89320"/>
                        <a:pt x="32162" y="121875"/>
                        <a:pt x="58373" y="139324"/>
                      </a:cubicBezTo>
                      <a:cubicBezTo>
                        <a:pt x="35281" y="147836"/>
                        <a:pt x="15560" y="163585"/>
                        <a:pt x="2152" y="184223"/>
                      </a:cubicBezTo>
                      <a:cubicBezTo>
                        <a:pt x="234" y="187073"/>
                        <a:pt x="0" y="190735"/>
                        <a:pt x="1539" y="193807"/>
                      </a:cubicBezTo>
                      <a:cubicBezTo>
                        <a:pt x="3078" y="196878"/>
                        <a:pt x="6152" y="198883"/>
                        <a:pt x="9583" y="199053"/>
                      </a:cubicBezTo>
                      <a:cubicBezTo>
                        <a:pt x="13014" y="199224"/>
                        <a:pt x="16271" y="197533"/>
                        <a:pt x="18106" y="194629"/>
                      </a:cubicBezTo>
                      <a:cubicBezTo>
                        <a:pt x="35678" y="167604"/>
                        <a:pt x="65726" y="151299"/>
                        <a:pt x="97962" y="151299"/>
                      </a:cubicBezTo>
                      <a:cubicBezTo>
                        <a:pt x="130197" y="151299"/>
                        <a:pt x="160245" y="167604"/>
                        <a:pt x="177817" y="194629"/>
                      </a:cubicBezTo>
                      <a:cubicBezTo>
                        <a:pt x="180724" y="198950"/>
                        <a:pt x="186562" y="200135"/>
                        <a:pt x="190923" y="197290"/>
                      </a:cubicBezTo>
                      <a:cubicBezTo>
                        <a:pt x="195285" y="194445"/>
                        <a:pt x="196553" y="188625"/>
                        <a:pt x="193771" y="184223"/>
                      </a:cubicBezTo>
                      <a:cubicBezTo>
                        <a:pt x="180364" y="163585"/>
                        <a:pt x="160642" y="147836"/>
                        <a:pt x="137550" y="139324"/>
                      </a:cubicBezTo>
                      <a:close/>
                      <a:moveTo>
                        <a:pt x="45574" y="79888"/>
                      </a:moveTo>
                      <a:cubicBezTo>
                        <a:pt x="45574" y="50956"/>
                        <a:pt x="69029" y="27501"/>
                        <a:pt x="97962" y="27501"/>
                      </a:cubicBezTo>
                      <a:cubicBezTo>
                        <a:pt x="126894" y="27501"/>
                        <a:pt x="150349" y="50956"/>
                        <a:pt x="150349" y="79888"/>
                      </a:cubicBezTo>
                      <a:cubicBezTo>
                        <a:pt x="150349" y="108821"/>
                        <a:pt x="126894" y="132276"/>
                        <a:pt x="97962" y="132276"/>
                      </a:cubicBezTo>
                      <a:cubicBezTo>
                        <a:pt x="69042" y="132243"/>
                        <a:pt x="45607" y="108808"/>
                        <a:pt x="45574" y="79888"/>
                      </a:cubicBezTo>
                      <a:close/>
                      <a:moveTo>
                        <a:pt x="295772" y="197403"/>
                      </a:moveTo>
                      <a:cubicBezTo>
                        <a:pt x="291366" y="200276"/>
                        <a:pt x="285466" y="199034"/>
                        <a:pt x="282592" y="194629"/>
                      </a:cubicBezTo>
                      <a:cubicBezTo>
                        <a:pt x="265040" y="167586"/>
                        <a:pt x="234976" y="151283"/>
                        <a:pt x="202737" y="151326"/>
                      </a:cubicBezTo>
                      <a:cubicBezTo>
                        <a:pt x="197476" y="151326"/>
                        <a:pt x="193212" y="147062"/>
                        <a:pt x="193212" y="141801"/>
                      </a:cubicBezTo>
                      <a:cubicBezTo>
                        <a:pt x="193212" y="136540"/>
                        <a:pt x="197476" y="132276"/>
                        <a:pt x="202737" y="132276"/>
                      </a:cubicBezTo>
                      <a:cubicBezTo>
                        <a:pt x="223835" y="132256"/>
                        <a:pt x="242863" y="119581"/>
                        <a:pt x="251011" y="100119"/>
                      </a:cubicBezTo>
                      <a:cubicBezTo>
                        <a:pt x="259159" y="80657"/>
                        <a:pt x="254836" y="58207"/>
                        <a:pt x="240045" y="43162"/>
                      </a:cubicBezTo>
                      <a:cubicBezTo>
                        <a:pt x="225253" y="28116"/>
                        <a:pt x="202880" y="23412"/>
                        <a:pt x="183282" y="31228"/>
                      </a:cubicBezTo>
                      <a:cubicBezTo>
                        <a:pt x="180101" y="32603"/>
                        <a:pt x="176424" y="32142"/>
                        <a:pt x="173681" y="30024"/>
                      </a:cubicBezTo>
                      <a:cubicBezTo>
                        <a:pt x="170938" y="27906"/>
                        <a:pt x="169562" y="24465"/>
                        <a:pt x="170087" y="21040"/>
                      </a:cubicBezTo>
                      <a:cubicBezTo>
                        <a:pt x="170613" y="17614"/>
                        <a:pt x="172958" y="14745"/>
                        <a:pt x="176210" y="13547"/>
                      </a:cubicBezTo>
                      <a:cubicBezTo>
                        <a:pt x="210178" y="0"/>
                        <a:pt x="248891" y="14293"/>
                        <a:pt x="265906" y="46663"/>
                      </a:cubicBezTo>
                      <a:cubicBezTo>
                        <a:pt x="282922" y="79033"/>
                        <a:pt x="272744" y="119026"/>
                        <a:pt x="242325" y="139324"/>
                      </a:cubicBezTo>
                      <a:cubicBezTo>
                        <a:pt x="265417" y="147836"/>
                        <a:pt x="285139" y="163585"/>
                        <a:pt x="298546" y="184223"/>
                      </a:cubicBezTo>
                      <a:cubicBezTo>
                        <a:pt x="301419" y="188629"/>
                        <a:pt x="300177" y="194529"/>
                        <a:pt x="295772" y="197403"/>
                      </a:cubicBezTo>
                      <a:close/>
                    </a:path>
                  </a:pathLst>
                </a:custGeom>
                <a:solidFill>
                  <a:srgbClr val="4F8CFF"/>
                </a:solidFill>
                <a:ln>
                  <a:noFill/>
                </a:ln>
              </p:spPr>
            </p:sp>
          </p:grpSp>
          <p:sp>
            <p:nvSpPr>
              <p:cNvPr id="28" name="TextBox 28"/>
              <p:cNvSpPr txBox="1"/>
              <p:nvPr/>
            </p:nvSpPr>
            <p:spPr>
              <a:xfrm>
                <a:off x="1248156" y="3368040"/>
                <a:ext cx="2155203"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Thẻ trong file mp3</a:t>
                </a:r>
                <a:endParaRPr lang="vi-VN" sz="1800" b="1" dirty="0">
                  <a:solidFill>
                    <a:schemeClr val="dk1"/>
                  </a:solidFill>
                  <a:latin typeface="+mn-lt"/>
                  <a:ea typeface="+mn-ea"/>
                  <a:cs typeface="+mn-cs"/>
                </a:endParaRPr>
              </a:p>
            </p:txBody>
          </p:sp>
          <p:sp>
            <p:nvSpPr>
              <p:cNvPr id="29" name="TextBox 29"/>
              <p:cNvSpPr txBox="1"/>
              <p:nvPr/>
            </p:nvSpPr>
            <p:spPr>
              <a:xfrm>
                <a:off x="4993234" y="3432810"/>
                <a:ext cx="575462" cy="234696"/>
              </a:xfrm>
              <a:prstGeom prst="rect">
                <a:avLst/>
              </a:prstGeom>
              <a:noFill/>
              <a:ln>
                <a:noFill/>
              </a:ln>
            </p:spPr>
            <p:txBody>
              <a:bodyPr wrap="none" lIns="0" tIns="0" rIns="0" bIns="0" anchor="t" anchorCtr="0">
                <a:spAutoFit/>
              </a:bodyPr>
              <a:lstStyle/>
              <a:p>
                <a:pPr algn="r"/>
                <a:r>
                  <a:rPr lang="vi-VN" sz="1200" dirty="0">
                    <a:solidFill>
                      <a:schemeClr val="accent2"/>
                    </a:solidFill>
                    <a:latin typeface="Consolas" panose="020B0609020204030204"/>
                    <a:ea typeface="Consolas" panose="020B0609020204030204"/>
                    <a:cs typeface="Consolas" panose="020B0609020204030204"/>
                  </a:rPr>
                  <a:t>NẾU CÓ</a:t>
                </a:r>
                <a:endParaRPr lang="vi-VN" sz="1200" dirty="0">
                  <a:solidFill>
                    <a:schemeClr val="accent2"/>
                  </a:solidFill>
                  <a:latin typeface="Consolas" panose="020B0609020204030204"/>
                  <a:ea typeface="Consolas" panose="020B0609020204030204"/>
                  <a:cs typeface="Consolas" panose="020B0609020204030204"/>
                </a:endParaRPr>
              </a:p>
            </p:txBody>
          </p:sp>
          <p:sp>
            <p:nvSpPr>
              <p:cNvPr id="30" name="TextBox 30"/>
              <p:cNvSpPr txBox="1"/>
              <p:nvPr/>
            </p:nvSpPr>
            <p:spPr>
              <a:xfrm>
                <a:off x="1250442" y="3664268"/>
                <a:ext cx="2407964" cy="473583"/>
              </a:xfrm>
              <a:prstGeom prst="rect">
                <a:avLst/>
              </a:prstGeom>
              <a:noFill/>
              <a:ln>
                <a:noFill/>
              </a:ln>
            </p:spPr>
            <p:txBody>
              <a:bodyPr wrap="none" lIns="0" tIns="0" rIns="0" bIns="0" anchor="t" anchorCtr="0">
                <a:spAutoFit/>
              </a:bodyPr>
              <a:lstStyle/>
              <a:p>
                <a:pPr algn="l">
                  <a:lnSpc>
                    <a:spcPts val="1650"/>
                  </a:lnSpc>
                </a:pPr>
                <a:r>
                  <a:rPr lang="vi-VN" sz="1350" dirty="0">
                    <a:solidFill>
                      <a:schemeClr val="accent5"/>
                    </a:solidFill>
                    <a:latin typeface="+mn-lt"/>
                    <a:ea typeface="+mn-ea"/>
                    <a:cs typeface="+mn-cs"/>
                  </a:rPr>
                  <a:t>tên ca sĩ, thể loại (ID3) → tự điền</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vào ô trống, không đè nhãn tay</a:t>
                </a:r>
                <a:endParaRPr lang="vi-VN" sz="1350" dirty="0">
                  <a:solidFill>
                    <a:schemeClr val="accent5"/>
                  </a:solidFill>
                  <a:latin typeface="+mn-lt"/>
                  <a:ea typeface="+mn-ea"/>
                  <a:cs typeface="+mn-cs"/>
                </a:endParaRPr>
              </a:p>
            </p:txBody>
          </p:sp>
        </p:grpSp>
        <p:grpSp>
          <p:nvGrpSpPr>
            <p:cNvPr id="39" name="source-manual"/>
            <p:cNvGrpSpPr/>
            <p:nvPr/>
          </p:nvGrpSpPr>
          <p:grpSpPr>
            <a:xfrm>
              <a:off x="609600" y="4210050"/>
              <a:ext cx="5105400" cy="956501"/>
              <a:chOff x="609600" y="4210050"/>
              <a:chExt cx="5105400" cy="956501"/>
            </a:xfrm>
          </p:grpSpPr>
          <p:sp>
            <p:nvSpPr>
              <p:cNvPr id="32" name="Rectangle 32"/>
              <p:cNvSpPr/>
              <p:nvPr/>
            </p:nvSpPr>
            <p:spPr>
              <a:xfrm>
                <a:off x="609600" y="4210050"/>
                <a:ext cx="5105400" cy="914400"/>
              </a:xfrm>
              <a:prstGeom prst="roundRect">
                <a:avLst>
                  <a:gd name="adj" fmla="val 12500"/>
                </a:avLst>
              </a:prstGeom>
              <a:solidFill>
                <a:schemeClr val="lt2"/>
              </a:solidFill>
              <a:ln w="14288">
                <a:solidFill>
                  <a:schemeClr val="accent6"/>
                </a:solidFill>
              </a:ln>
            </p:spPr>
          </p:sp>
          <p:grpSp>
            <p:nvGrpSpPr>
              <p:cNvPr id="35" name="Group 35"/>
              <p:cNvGrpSpPr/>
              <p:nvPr/>
            </p:nvGrpSpPr>
            <p:grpSpPr>
              <a:xfrm>
                <a:off x="833392" y="4400550"/>
                <a:ext cx="233408" cy="266700"/>
                <a:chOff x="833392" y="4400550"/>
                <a:chExt cx="233408" cy="266700"/>
              </a:xfrm>
            </p:grpSpPr>
            <p:sp>
              <p:nvSpPr>
                <p:cNvPr id="33" name="Freeform 33"/>
                <p:cNvSpPr/>
                <p:nvPr/>
              </p:nvSpPr>
              <p:spPr>
                <a:xfrm>
                  <a:off x="844446" y="4410075"/>
                  <a:ext cx="212829" cy="247650"/>
                </a:xfrm>
                <a:custGeom>
                  <a:avLst/>
                  <a:gdLst/>
                  <a:ahLst/>
                  <a:cxnLst/>
                  <a:rect l="l" t="t" r="r" b="b"/>
                  <a:pathLst>
                    <a:path w="212829" h="247650">
                      <a:moveTo>
                        <a:pt x="212829" y="109538"/>
                      </a:moveTo>
                      <a:lnTo>
                        <a:pt x="212829" y="152400"/>
                      </a:lnTo>
                      <a:cubicBezTo>
                        <a:pt x="212829" y="205005"/>
                        <a:pt x="170184" y="247650"/>
                        <a:pt x="117579" y="247650"/>
                      </a:cubicBezTo>
                      <a:cubicBezTo>
                        <a:pt x="64977" y="247650"/>
                        <a:pt x="51130" y="219075"/>
                        <a:pt x="6470" y="140494"/>
                      </a:cubicBezTo>
                      <a:cubicBezTo>
                        <a:pt x="0" y="129115"/>
                        <a:pt x="3928" y="114647"/>
                        <a:pt x="15264" y="108102"/>
                      </a:cubicBezTo>
                      <a:cubicBezTo>
                        <a:pt x="26600" y="101557"/>
                        <a:pt x="41093" y="105389"/>
                        <a:pt x="47713" y="116681"/>
                      </a:cubicBezTo>
                      <a:lnTo>
                        <a:pt x="69954" y="152400"/>
                      </a:lnTo>
                      <a:lnTo>
                        <a:pt x="69954" y="23812"/>
                      </a:lnTo>
                      <a:cubicBezTo>
                        <a:pt x="69954" y="10661"/>
                        <a:pt x="80615" y="0"/>
                        <a:pt x="93766" y="0"/>
                      </a:cubicBezTo>
                      <a:cubicBezTo>
                        <a:pt x="106918" y="0"/>
                        <a:pt x="117579" y="10661"/>
                        <a:pt x="117579" y="23812"/>
                      </a:cubicBezTo>
                      <a:lnTo>
                        <a:pt x="117579" y="90488"/>
                      </a:lnTo>
                      <a:cubicBezTo>
                        <a:pt x="117579" y="77336"/>
                        <a:pt x="128240" y="66675"/>
                        <a:pt x="141391" y="66675"/>
                      </a:cubicBezTo>
                      <a:cubicBezTo>
                        <a:pt x="154543" y="66675"/>
                        <a:pt x="165204" y="77336"/>
                        <a:pt x="165204" y="90488"/>
                      </a:cubicBezTo>
                      <a:lnTo>
                        <a:pt x="165204" y="109538"/>
                      </a:lnTo>
                      <a:cubicBezTo>
                        <a:pt x="165204" y="96386"/>
                        <a:pt x="175865" y="85725"/>
                        <a:pt x="189016" y="85725"/>
                      </a:cubicBezTo>
                      <a:cubicBezTo>
                        <a:pt x="202168" y="85725"/>
                        <a:pt x="212829" y="96386"/>
                        <a:pt x="212829" y="109538"/>
                      </a:cubicBezTo>
                      <a:close/>
                    </a:path>
                  </a:pathLst>
                </a:custGeom>
                <a:solidFill>
                  <a:schemeClr val="accent3">
                    <a:alpha val="20000"/>
                  </a:schemeClr>
                </a:solidFill>
                <a:ln>
                  <a:noFill/>
                </a:ln>
              </p:spPr>
            </p:sp>
            <p:sp>
              <p:nvSpPr>
                <p:cNvPr id="34" name="Freeform 34"/>
                <p:cNvSpPr/>
                <p:nvPr/>
              </p:nvSpPr>
              <p:spPr>
                <a:xfrm>
                  <a:off x="833392" y="4400550"/>
                  <a:ext cx="233408" cy="266700"/>
                </a:xfrm>
                <a:custGeom>
                  <a:avLst/>
                  <a:gdLst/>
                  <a:ahLst/>
                  <a:cxnLst/>
                  <a:rect l="l" t="t" r="r" b="b"/>
                  <a:pathLst>
                    <a:path w="233408" h="266700">
                      <a:moveTo>
                        <a:pt x="200070" y="85725"/>
                      </a:moveTo>
                      <a:cubicBezTo>
                        <a:pt x="194518" y="85719"/>
                        <a:pt x="189052" y="87107"/>
                        <a:pt x="184175" y="89761"/>
                      </a:cubicBezTo>
                      <a:cubicBezTo>
                        <a:pt x="181225" y="80627"/>
                        <a:pt x="174480" y="73207"/>
                        <a:pt x="165668" y="69402"/>
                      </a:cubicBezTo>
                      <a:cubicBezTo>
                        <a:pt x="156855" y="65596"/>
                        <a:pt x="146830" y="65774"/>
                        <a:pt x="138158" y="69890"/>
                      </a:cubicBezTo>
                      <a:lnTo>
                        <a:pt x="138158" y="33338"/>
                      </a:lnTo>
                      <a:cubicBezTo>
                        <a:pt x="138158" y="14926"/>
                        <a:pt x="123232" y="0"/>
                        <a:pt x="104820" y="0"/>
                      </a:cubicBezTo>
                      <a:cubicBezTo>
                        <a:pt x="86408" y="0"/>
                        <a:pt x="71483" y="14926"/>
                        <a:pt x="71483" y="33338"/>
                      </a:cubicBezTo>
                      <a:lnTo>
                        <a:pt x="71483" y="128588"/>
                      </a:lnTo>
                      <a:lnTo>
                        <a:pt x="66934" y="121289"/>
                      </a:lnTo>
                      <a:cubicBezTo>
                        <a:pt x="57686" y="105359"/>
                        <a:pt x="37275" y="99944"/>
                        <a:pt x="21345" y="109192"/>
                      </a:cubicBezTo>
                      <a:cubicBezTo>
                        <a:pt x="5416" y="118441"/>
                        <a:pt x="0" y="138852"/>
                        <a:pt x="9249" y="154781"/>
                      </a:cubicBezTo>
                      <a:lnTo>
                        <a:pt x="14809" y="164580"/>
                      </a:lnTo>
                      <a:cubicBezTo>
                        <a:pt x="55778" y="236803"/>
                        <a:pt x="72733" y="266700"/>
                        <a:pt x="128633" y="266700"/>
                      </a:cubicBezTo>
                      <a:cubicBezTo>
                        <a:pt x="186471" y="266634"/>
                        <a:pt x="233342" y="219763"/>
                        <a:pt x="233408" y="161925"/>
                      </a:cubicBezTo>
                      <a:lnTo>
                        <a:pt x="233408" y="119062"/>
                      </a:lnTo>
                      <a:cubicBezTo>
                        <a:pt x="233408" y="100651"/>
                        <a:pt x="218482" y="85725"/>
                        <a:pt x="200070" y="85725"/>
                      </a:cubicBezTo>
                      <a:close/>
                      <a:moveTo>
                        <a:pt x="214358" y="161925"/>
                      </a:moveTo>
                      <a:cubicBezTo>
                        <a:pt x="214305" y="209248"/>
                        <a:pt x="175955" y="247598"/>
                        <a:pt x="128633" y="247650"/>
                      </a:cubicBezTo>
                      <a:cubicBezTo>
                        <a:pt x="83829" y="247650"/>
                        <a:pt x="71673" y="226219"/>
                        <a:pt x="31382" y="155162"/>
                      </a:cubicBezTo>
                      <a:lnTo>
                        <a:pt x="25798" y="145316"/>
                      </a:lnTo>
                      <a:lnTo>
                        <a:pt x="25798" y="145256"/>
                      </a:lnTo>
                      <a:cubicBezTo>
                        <a:pt x="21850" y="138430"/>
                        <a:pt x="24179" y="129696"/>
                        <a:pt x="31001" y="125742"/>
                      </a:cubicBezTo>
                      <a:cubicBezTo>
                        <a:pt x="33172" y="124485"/>
                        <a:pt x="35637" y="123827"/>
                        <a:pt x="38145" y="123837"/>
                      </a:cubicBezTo>
                      <a:cubicBezTo>
                        <a:pt x="43257" y="123829"/>
                        <a:pt x="47984" y="126554"/>
                        <a:pt x="50540" y="130981"/>
                      </a:cubicBezTo>
                      <a:cubicBezTo>
                        <a:pt x="50588" y="131076"/>
                        <a:pt x="50644" y="131168"/>
                        <a:pt x="50706" y="131254"/>
                      </a:cubicBezTo>
                      <a:lnTo>
                        <a:pt x="72935" y="166973"/>
                      </a:lnTo>
                      <a:cubicBezTo>
                        <a:pt x="75189" y="170572"/>
                        <a:pt x="79553" y="172244"/>
                        <a:pt x="83634" y="171073"/>
                      </a:cubicBezTo>
                      <a:cubicBezTo>
                        <a:pt x="87716" y="169902"/>
                        <a:pt x="90529" y="166171"/>
                        <a:pt x="90533" y="161925"/>
                      </a:cubicBezTo>
                      <a:lnTo>
                        <a:pt x="90533" y="33338"/>
                      </a:lnTo>
                      <a:cubicBezTo>
                        <a:pt x="90533" y="25447"/>
                        <a:pt x="96929" y="19050"/>
                        <a:pt x="104820" y="19050"/>
                      </a:cubicBezTo>
                      <a:cubicBezTo>
                        <a:pt x="112711" y="19050"/>
                        <a:pt x="119108" y="25447"/>
                        <a:pt x="119108" y="33338"/>
                      </a:cubicBezTo>
                      <a:lnTo>
                        <a:pt x="119108" y="114300"/>
                      </a:lnTo>
                      <a:cubicBezTo>
                        <a:pt x="119108" y="119561"/>
                        <a:pt x="123372" y="123825"/>
                        <a:pt x="128633" y="123825"/>
                      </a:cubicBezTo>
                      <a:cubicBezTo>
                        <a:pt x="133893" y="123825"/>
                        <a:pt x="138158" y="119561"/>
                        <a:pt x="138158" y="114300"/>
                      </a:cubicBezTo>
                      <a:lnTo>
                        <a:pt x="138158" y="100012"/>
                      </a:lnTo>
                      <a:cubicBezTo>
                        <a:pt x="138158" y="92122"/>
                        <a:pt x="144554" y="85725"/>
                        <a:pt x="152445" y="85725"/>
                      </a:cubicBezTo>
                      <a:cubicBezTo>
                        <a:pt x="160336" y="85725"/>
                        <a:pt x="166733" y="92122"/>
                        <a:pt x="166733" y="100012"/>
                      </a:cubicBezTo>
                      <a:lnTo>
                        <a:pt x="166733" y="123825"/>
                      </a:lnTo>
                      <a:cubicBezTo>
                        <a:pt x="166733" y="129086"/>
                        <a:pt x="170997" y="133350"/>
                        <a:pt x="176258" y="133350"/>
                      </a:cubicBezTo>
                      <a:cubicBezTo>
                        <a:pt x="181518" y="133350"/>
                        <a:pt x="185783" y="129086"/>
                        <a:pt x="185783" y="123825"/>
                      </a:cubicBezTo>
                      <a:lnTo>
                        <a:pt x="185783" y="119062"/>
                      </a:lnTo>
                      <a:cubicBezTo>
                        <a:pt x="185783" y="111172"/>
                        <a:pt x="192179" y="104775"/>
                        <a:pt x="200070" y="104775"/>
                      </a:cubicBezTo>
                      <a:cubicBezTo>
                        <a:pt x="207961" y="104775"/>
                        <a:pt x="214358" y="111172"/>
                        <a:pt x="214358" y="119062"/>
                      </a:cubicBezTo>
                      <a:close/>
                    </a:path>
                  </a:pathLst>
                </a:custGeom>
                <a:solidFill>
                  <a:schemeClr val="accent3"/>
                </a:solidFill>
                <a:ln>
                  <a:noFill/>
                </a:ln>
              </p:spPr>
            </p:sp>
          </p:grpSp>
          <p:sp>
            <p:nvSpPr>
              <p:cNvPr id="36" name="TextBox 36"/>
              <p:cNvSpPr txBox="1"/>
              <p:nvPr/>
            </p:nvSpPr>
            <p:spPr>
              <a:xfrm>
                <a:off x="1248156" y="4396740"/>
                <a:ext cx="2242035"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Nhãn nhóm tự điền</a:t>
                </a:r>
                <a:endParaRPr lang="vi-VN" sz="1800" b="1" dirty="0">
                  <a:solidFill>
                    <a:schemeClr val="dk1"/>
                  </a:solidFill>
                  <a:latin typeface="+mn-lt"/>
                  <a:ea typeface="+mn-ea"/>
                  <a:cs typeface="+mn-cs"/>
                </a:endParaRPr>
              </a:p>
            </p:txBody>
          </p:sp>
          <p:sp>
            <p:nvSpPr>
              <p:cNvPr id="37" name="TextBox 37"/>
              <p:cNvSpPr txBox="1"/>
              <p:nvPr/>
            </p:nvSpPr>
            <p:spPr>
              <a:xfrm>
                <a:off x="4805477" y="4461510"/>
                <a:ext cx="763219"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TÙY CHỌN</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38" name="TextBox 38"/>
              <p:cNvSpPr txBox="1"/>
              <p:nvPr/>
            </p:nvSpPr>
            <p:spPr>
              <a:xfrm>
                <a:off x="1250442" y="4692968"/>
                <a:ext cx="2207573" cy="473583"/>
              </a:xfrm>
              <a:prstGeom prst="rect">
                <a:avLst/>
              </a:prstGeom>
              <a:noFill/>
              <a:ln>
                <a:noFill/>
              </a:ln>
            </p:spPr>
            <p:txBody>
              <a:bodyPr wrap="none" lIns="0" tIns="0" rIns="0" bIns="0" anchor="t" anchorCtr="0">
                <a:spAutoFit/>
              </a:bodyPr>
              <a:lstStyle/>
              <a:p>
                <a:pPr algn="l">
                  <a:lnSpc>
                    <a:spcPts val="1650"/>
                  </a:lnSpc>
                </a:pPr>
                <a:r>
                  <a:rPr lang="vi-VN" sz="1350" dirty="0">
                    <a:solidFill>
                      <a:schemeClr val="accent5"/>
                    </a:solidFill>
                    <a:latin typeface="+mn-lt"/>
                    <a:ea typeface="+mn-ea"/>
                    <a:cs typeface="+mn-cs"/>
                  </a:rPr>
                  <a:t>dòng nhạc: ballad, pop, rap…</a:t>
                </a:r>
                <a:br>
                  <a:rPr lang="vi-VN" sz="1350" dirty="0">
                    <a:solidFill>
                      <a:schemeClr val="accent5"/>
                    </a:solidFill>
                    <a:latin typeface="+mn-lt"/>
                    <a:ea typeface="+mn-ea"/>
                    <a:cs typeface="+mn-cs"/>
                  </a:rPr>
                </a:br>
                <a:r>
                  <a:rPr lang="vi-VN" sz="1350" dirty="0">
                    <a:solidFill>
                      <a:schemeClr val="accent5"/>
                    </a:solidFill>
                    <a:latin typeface="+mn-lt"/>
                    <a:ea typeface="+mn-ea"/>
                    <a:cs typeface="+mn-cs"/>
                  </a:rPr>
                  <a:t>không điền vẫn chạy được</a:t>
                </a:r>
                <a:endParaRPr lang="vi-VN" sz="1350" dirty="0">
                  <a:solidFill>
                    <a:schemeClr val="accent5"/>
                  </a:solidFill>
                  <a:latin typeface="+mn-lt"/>
                  <a:ea typeface="+mn-ea"/>
                  <a:cs typeface="+mn-cs"/>
                </a:endParaRPr>
              </a:p>
            </p:txBody>
          </p:sp>
        </p:grpSp>
      </p:grpSp>
      <p:grpSp>
        <p:nvGrpSpPr>
          <p:cNvPr id="44" name="formula"/>
          <p:cNvGrpSpPr/>
          <p:nvPr/>
        </p:nvGrpSpPr>
        <p:grpSpPr>
          <a:xfrm>
            <a:off x="6089904" y="1889760"/>
            <a:ext cx="5492496" cy="1253490"/>
            <a:chOff x="6089904" y="1889760"/>
            <a:chExt cx="5492496" cy="1253490"/>
          </a:xfrm>
        </p:grpSpPr>
        <p:sp>
          <p:nvSpPr>
            <p:cNvPr id="41" name="TextBox 41"/>
            <p:cNvSpPr txBox="1"/>
            <p:nvPr/>
          </p:nvSpPr>
          <p:spPr>
            <a:xfrm>
              <a:off x="6089904" y="1889760"/>
              <a:ext cx="1983638"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ĐIỂM TỔNG CỦA MỘT BÀI</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42" name="Rectangle 42"/>
            <p:cNvSpPr/>
            <p:nvPr/>
          </p:nvSpPr>
          <p:spPr>
            <a:xfrm>
              <a:off x="6096000" y="2152650"/>
              <a:ext cx="5486400" cy="990600"/>
            </a:xfrm>
            <a:prstGeom prst="roundRect">
              <a:avLst>
                <a:gd name="adj" fmla="val 11538"/>
              </a:avLst>
            </a:prstGeom>
            <a:solidFill>
              <a:schemeClr val="accent1">
                <a:alpha val="8000"/>
              </a:schemeClr>
            </a:solidFill>
            <a:ln w="14288">
              <a:solidFill>
                <a:schemeClr val="accent1"/>
              </a:solidFill>
            </a:ln>
          </p:spPr>
        </p:sp>
        <p:sp>
          <p:nvSpPr>
            <p:cNvPr id="43" name="TextBox 43"/>
            <p:cNvSpPr txBox="1"/>
            <p:nvPr/>
          </p:nvSpPr>
          <p:spPr>
            <a:xfrm>
              <a:off x="6315456" y="2339340"/>
              <a:ext cx="4367769" cy="713994"/>
            </a:xfrm>
            <a:prstGeom prst="rect">
              <a:avLst/>
            </a:prstGeom>
            <a:noFill/>
            <a:ln>
              <a:noFill/>
            </a:ln>
          </p:spPr>
          <p:txBody>
            <a:bodyPr wrap="none" lIns="0" tIns="0" rIns="0" bIns="0" anchor="t" anchorCtr="0">
              <a:spAutoFit/>
            </a:bodyPr>
            <a:lstStyle/>
            <a:p>
              <a:pPr algn="l">
                <a:lnSpc>
                  <a:spcPts val="2850"/>
                </a:lnSpc>
              </a:pPr>
              <a:r>
                <a:rPr lang="vi-VN" sz="1800" b="1" dirty="0">
                  <a:solidFill>
                    <a:schemeClr val="dk1"/>
                  </a:solidFill>
                  <a:latin typeface="+mn-lt"/>
                  <a:ea typeface="+mn-ea"/>
                  <a:cs typeface="+mn-cs"/>
                </a:rPr>
                <a:t>Điểm riêng</a:t>
              </a:r>
              <a:r>
                <a:rPr lang="vi-VN" sz="1800" dirty="0">
                  <a:solidFill>
                    <a:schemeClr val="dk1"/>
                  </a:solidFill>
                  <a:latin typeface="+mn-lt"/>
                  <a:ea typeface="+mn-ea"/>
                  <a:cs typeface="+mn-cs"/>
                </a:rPr>
                <a:t> + </a:t>
              </a:r>
              <a:r>
                <a:rPr lang="vi-VN" sz="1800" b="1" dirty="0">
                  <a:solidFill>
                    <a:schemeClr val="accent1"/>
                  </a:solidFill>
                  <a:latin typeface="+mn-lt"/>
                  <a:ea typeface="+mn-ea"/>
                  <a:cs typeface="+mn-cs"/>
                </a:rPr>
                <a:t>0.5</a:t>
              </a:r>
              <a:r>
                <a:rPr lang="vi-VN" sz="1800" dirty="0">
                  <a:solidFill>
                    <a:schemeClr val="dk1"/>
                  </a:solidFill>
                  <a:latin typeface="+mn-lt"/>
                  <a:ea typeface="+mn-ea"/>
                  <a:cs typeface="+mn-cs"/>
                </a:rPr>
                <a:t> × giống bài đã nghe</a:t>
              </a:r>
              <a:br>
                <a:rPr lang="vi-VN" sz="1800" dirty="0">
                  <a:solidFill>
                    <a:schemeClr val="dk1"/>
                  </a:solidFill>
                  <a:latin typeface="+mn-lt"/>
                  <a:ea typeface="+mn-ea"/>
                  <a:cs typeface="+mn-cs"/>
                </a:rPr>
              </a:br>
              <a:r>
                <a:rPr lang="vi-VN" sz="1800" dirty="0">
                  <a:solidFill>
                    <a:schemeClr val="dk1"/>
                  </a:solidFill>
                  <a:latin typeface="+mn-lt"/>
                  <a:ea typeface="+mn-ea"/>
                  <a:cs typeface="+mn-cs"/>
                </a:rPr>
                <a:t>+ </a:t>
              </a:r>
              <a:r>
                <a:rPr lang="vi-VN" sz="1800" b="1" dirty="0">
                  <a:solidFill>
                    <a:schemeClr val="accent1"/>
                  </a:solidFill>
                  <a:latin typeface="+mn-lt"/>
                  <a:ea typeface="+mn-ea"/>
                  <a:cs typeface="+mn-cs"/>
                </a:rPr>
                <a:t>0.3</a:t>
              </a:r>
              <a:r>
                <a:rPr lang="vi-VN" sz="1800" dirty="0">
                  <a:solidFill>
                    <a:schemeClr val="dk1"/>
                  </a:solidFill>
                  <a:latin typeface="+mn-lt"/>
                  <a:ea typeface="+mn-ea"/>
                  <a:cs typeface="+mn-cs"/>
                </a:rPr>
                <a:t> × cùng ca sĩ + </a:t>
              </a:r>
              <a:r>
                <a:rPr lang="vi-VN" sz="1800" b="1" dirty="0">
                  <a:solidFill>
                    <a:schemeClr val="accent1"/>
                  </a:solidFill>
                  <a:latin typeface="+mn-lt"/>
                  <a:ea typeface="+mn-ea"/>
                  <a:cs typeface="+mn-cs"/>
                </a:rPr>
                <a:t>0.3</a:t>
              </a:r>
              <a:r>
                <a:rPr lang="vi-VN" sz="1800" dirty="0">
                  <a:solidFill>
                    <a:schemeClr val="dk1"/>
                  </a:solidFill>
                  <a:latin typeface="+mn-lt"/>
                  <a:ea typeface="+mn-ea"/>
                  <a:cs typeface="+mn-cs"/>
                </a:rPr>
                <a:t> × cùng dòng nhạc</a:t>
              </a:r>
              <a:endParaRPr lang="vi-VN" sz="1800" dirty="0">
                <a:solidFill>
                  <a:schemeClr val="dk1"/>
                </a:solidFill>
                <a:latin typeface="+mn-lt"/>
                <a:ea typeface="+mn-ea"/>
                <a:cs typeface="+mn-cs"/>
              </a:endParaRPr>
            </a:p>
          </p:txBody>
        </p:sp>
      </p:grpSp>
      <p:grpSp>
        <p:nvGrpSpPr>
          <p:cNvPr id="58" name="example"/>
          <p:cNvGrpSpPr/>
          <p:nvPr/>
        </p:nvGrpSpPr>
        <p:grpSpPr>
          <a:xfrm>
            <a:off x="6096000" y="3257550"/>
            <a:ext cx="5486400" cy="1866900"/>
            <a:chOff x="6096000" y="3257550"/>
            <a:chExt cx="5486400" cy="1866900"/>
          </a:xfrm>
        </p:grpSpPr>
        <p:sp>
          <p:nvSpPr>
            <p:cNvPr id="45" name="Rectangle 45"/>
            <p:cNvSpPr/>
            <p:nvPr/>
          </p:nvSpPr>
          <p:spPr>
            <a:xfrm>
              <a:off x="6096000" y="3257550"/>
              <a:ext cx="5486400" cy="1866900"/>
            </a:xfrm>
            <a:prstGeom prst="roundRect">
              <a:avLst>
                <a:gd name="adj" fmla="val 6122"/>
              </a:avLst>
            </a:prstGeom>
            <a:solidFill>
              <a:schemeClr val="lt2"/>
            </a:solidFill>
            <a:ln w="14288">
              <a:solidFill>
                <a:schemeClr val="accent6"/>
              </a:solidFill>
            </a:ln>
          </p:spPr>
        </p:sp>
        <p:sp>
          <p:nvSpPr>
            <p:cNvPr id="46" name="TextBox 46"/>
            <p:cNvSpPr txBox="1"/>
            <p:nvPr/>
          </p:nvSpPr>
          <p:spPr>
            <a:xfrm>
              <a:off x="6318504" y="3432810"/>
              <a:ext cx="48158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VÍ DỤ</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47" name="TextBox 47"/>
            <p:cNvSpPr txBox="1"/>
            <p:nvPr/>
          </p:nvSpPr>
          <p:spPr>
            <a:xfrm>
              <a:off x="6889242" y="3416618"/>
              <a:ext cx="3767311"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đã nghe hết Ballad A (ca sĩ X), Ballad B (ca sĩ Y)</a:t>
              </a:r>
              <a:endParaRPr lang="vi-VN" sz="1350" dirty="0">
                <a:solidFill>
                  <a:schemeClr val="accent5"/>
                </a:solidFill>
                <a:latin typeface="+mn-lt"/>
                <a:ea typeface="+mn-ea"/>
                <a:cs typeface="+mn-cs"/>
              </a:endParaRPr>
            </a:p>
          </p:txBody>
        </p:sp>
        <p:grpSp>
          <p:nvGrpSpPr>
            <p:cNvPr id="52" name="example-ballad"/>
            <p:cNvGrpSpPr/>
            <p:nvPr/>
          </p:nvGrpSpPr>
          <p:grpSpPr>
            <a:xfrm>
              <a:off x="6315456" y="3806190"/>
              <a:ext cx="5047488" cy="422910"/>
              <a:chOff x="6315456" y="3806190"/>
              <a:chExt cx="5047488" cy="422910"/>
            </a:xfrm>
          </p:grpSpPr>
          <p:sp>
            <p:nvSpPr>
              <p:cNvPr id="48" name="TextBox 48"/>
              <p:cNvSpPr txBox="1"/>
              <p:nvPr/>
            </p:nvSpPr>
            <p:spPr>
              <a:xfrm>
                <a:off x="6315456" y="3806190"/>
                <a:ext cx="2383294"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Ballad C (chưa nghe)</a:t>
                </a:r>
                <a:endParaRPr lang="vi-VN" sz="1800" b="1" dirty="0">
                  <a:solidFill>
                    <a:schemeClr val="dk1"/>
                  </a:solidFill>
                  <a:latin typeface="+mn-lt"/>
                  <a:ea typeface="+mn-ea"/>
                  <a:cs typeface="+mn-cs"/>
                </a:endParaRPr>
              </a:p>
            </p:txBody>
          </p:sp>
          <p:sp>
            <p:nvSpPr>
              <p:cNvPr id="49" name="TextBox 49"/>
              <p:cNvSpPr txBox="1"/>
              <p:nvPr/>
            </p:nvSpPr>
            <p:spPr>
              <a:xfrm>
                <a:off x="9050699" y="3806190"/>
                <a:ext cx="2312245" cy="352044"/>
              </a:xfrm>
              <a:prstGeom prst="rect">
                <a:avLst/>
              </a:prstGeom>
              <a:noFill/>
              <a:ln>
                <a:noFill/>
              </a:ln>
            </p:spPr>
            <p:txBody>
              <a:bodyPr wrap="none" lIns="0" tIns="0" rIns="0" bIns="0" anchor="t" anchorCtr="0">
                <a:spAutoFit/>
              </a:bodyPr>
              <a:lstStyle/>
              <a:p>
                <a:pPr algn="r"/>
                <a:r>
                  <a:rPr lang="vi-VN" sz="1800" b="1" dirty="0">
                    <a:solidFill>
                      <a:srgbClr val="34D399"/>
                    </a:solidFill>
                    <a:latin typeface="+mn-lt"/>
                    <a:ea typeface="+mn-ea"/>
                    <a:cs typeface="+mn-cs"/>
                  </a:rPr>
                  <a:t>giống 90% → ưu tiên</a:t>
                </a:r>
                <a:endParaRPr lang="vi-VN" sz="1800" b="1" dirty="0">
                  <a:solidFill>
                    <a:srgbClr val="34D399"/>
                  </a:solidFill>
                  <a:latin typeface="+mn-lt"/>
                  <a:ea typeface="+mn-ea"/>
                  <a:cs typeface="+mn-cs"/>
                </a:endParaRPr>
              </a:p>
            </p:txBody>
          </p:sp>
          <p:sp>
            <p:nvSpPr>
              <p:cNvPr id="50" name="Rectangle 50"/>
              <p:cNvSpPr/>
              <p:nvPr/>
            </p:nvSpPr>
            <p:spPr>
              <a:xfrm>
                <a:off x="6324600" y="4133850"/>
                <a:ext cx="5029200" cy="95250"/>
              </a:xfrm>
              <a:prstGeom prst="roundRect">
                <a:avLst>
                  <a:gd name="adj" fmla="val 50000"/>
                </a:avLst>
              </a:prstGeom>
              <a:solidFill>
                <a:schemeClr val="accent6"/>
              </a:solidFill>
              <a:ln>
                <a:noFill/>
              </a:ln>
            </p:spPr>
          </p:sp>
          <p:sp>
            <p:nvSpPr>
              <p:cNvPr id="51" name="Rectangle 51"/>
              <p:cNvSpPr/>
              <p:nvPr/>
            </p:nvSpPr>
            <p:spPr>
              <a:xfrm>
                <a:off x="6324600" y="4133850"/>
                <a:ext cx="4526280" cy="95250"/>
              </a:xfrm>
              <a:prstGeom prst="roundRect">
                <a:avLst>
                  <a:gd name="adj" fmla="val 50000"/>
                </a:avLst>
              </a:prstGeom>
              <a:solidFill>
                <a:srgbClr val="34D399"/>
              </a:solidFill>
              <a:ln>
                <a:noFill/>
              </a:ln>
            </p:spPr>
          </p:sp>
        </p:grpSp>
        <p:grpSp>
          <p:nvGrpSpPr>
            <p:cNvPr id="57" name="example-edm"/>
            <p:cNvGrpSpPr/>
            <p:nvPr/>
          </p:nvGrpSpPr>
          <p:grpSpPr>
            <a:xfrm>
              <a:off x="6315456" y="4415790"/>
              <a:ext cx="5047488" cy="422910"/>
              <a:chOff x="6315456" y="4415790"/>
              <a:chExt cx="5047488" cy="422910"/>
            </a:xfrm>
          </p:grpSpPr>
          <p:sp>
            <p:nvSpPr>
              <p:cNvPr id="53" name="TextBox 53"/>
              <p:cNvSpPr txBox="1"/>
              <p:nvPr/>
            </p:nvSpPr>
            <p:spPr>
              <a:xfrm>
                <a:off x="6315456" y="4415790"/>
                <a:ext cx="2283870" cy="352044"/>
              </a:xfrm>
              <a:prstGeom prst="rect">
                <a:avLst/>
              </a:prstGeom>
              <a:noFill/>
              <a:ln>
                <a:noFill/>
              </a:ln>
            </p:spPr>
            <p:txBody>
              <a:bodyPr wrap="none" lIns="0" tIns="0" rIns="0" bIns="0" anchor="t" anchorCtr="0">
                <a:spAutoFit/>
              </a:bodyPr>
              <a:lstStyle/>
              <a:p>
                <a:pPr algn="l"/>
                <a:r>
                  <a:rPr lang="vi-VN" sz="1800" dirty="0">
                    <a:solidFill>
                      <a:schemeClr val="accent5"/>
                    </a:solidFill>
                    <a:latin typeface="+mn-lt"/>
                    <a:ea typeface="+mn-ea"/>
                    <a:cs typeface="+mn-cs"/>
                  </a:rPr>
                  <a:t>Bài EDM (chưa nghe)</a:t>
                </a:r>
                <a:endParaRPr lang="vi-VN" sz="1800" dirty="0">
                  <a:solidFill>
                    <a:schemeClr val="accent5"/>
                  </a:solidFill>
                  <a:latin typeface="+mn-lt"/>
                  <a:ea typeface="+mn-ea"/>
                  <a:cs typeface="+mn-cs"/>
                </a:endParaRPr>
              </a:p>
            </p:txBody>
          </p:sp>
          <p:sp>
            <p:nvSpPr>
              <p:cNvPr id="54" name="TextBox 54"/>
              <p:cNvSpPr txBox="1"/>
              <p:nvPr/>
            </p:nvSpPr>
            <p:spPr>
              <a:xfrm>
                <a:off x="9119492" y="4415790"/>
                <a:ext cx="2243452" cy="352044"/>
              </a:xfrm>
              <a:prstGeom prst="rect">
                <a:avLst/>
              </a:prstGeom>
              <a:noFill/>
              <a:ln>
                <a:noFill/>
              </a:ln>
            </p:spPr>
            <p:txBody>
              <a:bodyPr wrap="none" lIns="0" tIns="0" rIns="0" bIns="0" anchor="t" anchorCtr="0">
                <a:spAutoFit/>
              </a:bodyPr>
              <a:lstStyle/>
              <a:p>
                <a:pPr algn="r"/>
                <a:r>
                  <a:rPr lang="vi-VN" sz="1800" dirty="0">
                    <a:solidFill>
                      <a:schemeClr val="accent5"/>
                    </a:solidFill>
                    <a:latin typeface="+mn-lt"/>
                    <a:ea typeface="+mn-ea"/>
                    <a:cs typeface="+mn-cs"/>
                  </a:rPr>
                  <a:t>giống 20% → xếp sau</a:t>
                </a:r>
                <a:endParaRPr lang="vi-VN" sz="1800" dirty="0">
                  <a:solidFill>
                    <a:schemeClr val="accent5"/>
                  </a:solidFill>
                  <a:latin typeface="+mn-lt"/>
                  <a:ea typeface="+mn-ea"/>
                  <a:cs typeface="+mn-cs"/>
                </a:endParaRPr>
              </a:p>
            </p:txBody>
          </p:sp>
          <p:sp>
            <p:nvSpPr>
              <p:cNvPr id="55" name="Rectangle 55"/>
              <p:cNvSpPr/>
              <p:nvPr/>
            </p:nvSpPr>
            <p:spPr>
              <a:xfrm>
                <a:off x="6324600" y="4743450"/>
                <a:ext cx="5029200" cy="95250"/>
              </a:xfrm>
              <a:prstGeom prst="roundRect">
                <a:avLst>
                  <a:gd name="adj" fmla="val 50000"/>
                </a:avLst>
              </a:prstGeom>
              <a:solidFill>
                <a:schemeClr val="accent6"/>
              </a:solidFill>
              <a:ln>
                <a:noFill/>
              </a:ln>
            </p:spPr>
          </p:sp>
          <p:sp>
            <p:nvSpPr>
              <p:cNvPr id="56" name="Rectangle 56"/>
              <p:cNvSpPr/>
              <p:nvPr/>
            </p:nvSpPr>
            <p:spPr>
              <a:xfrm>
                <a:off x="6324600" y="4743450"/>
                <a:ext cx="1005840" cy="95250"/>
              </a:xfrm>
              <a:prstGeom prst="roundRect">
                <a:avLst>
                  <a:gd name="adj" fmla="val 50000"/>
                </a:avLst>
              </a:prstGeom>
              <a:solidFill>
                <a:srgbClr val="8B95AD"/>
              </a:solidFill>
              <a:ln>
                <a:noFill/>
              </a:ln>
            </p:spPr>
          </p:sp>
        </p:grpSp>
      </p:grpSp>
      <p:grpSp>
        <p:nvGrpSpPr>
          <p:cNvPr id="63" name="takeaway"/>
          <p:cNvGrpSpPr/>
          <p:nvPr/>
        </p:nvGrpSpPr>
        <p:grpSpPr>
          <a:xfrm>
            <a:off x="609600" y="5295900"/>
            <a:ext cx="10972800" cy="800100"/>
            <a:chOff x="609600" y="5295900"/>
            <a:chExt cx="10972800" cy="800100"/>
          </a:xfrm>
        </p:grpSpPr>
        <p:sp>
          <p:nvSpPr>
            <p:cNvPr id="59" name="Rectangle 59"/>
            <p:cNvSpPr/>
            <p:nvPr/>
          </p:nvSpPr>
          <p:spPr>
            <a:xfrm>
              <a:off x="609600" y="5295900"/>
              <a:ext cx="10972800" cy="800100"/>
            </a:xfrm>
            <a:prstGeom prst="roundRect">
              <a:avLst>
                <a:gd name="adj" fmla="val 14286"/>
              </a:avLst>
            </a:prstGeom>
            <a:solidFill>
              <a:schemeClr val="accent2">
                <a:alpha val="8000"/>
              </a:schemeClr>
            </a:solidFill>
            <a:ln>
              <a:noFill/>
            </a:ln>
          </p:spPr>
        </p:sp>
        <p:sp>
          <p:nvSpPr>
            <p:cNvPr id="60" name="Rectangle 60"/>
            <p:cNvSpPr/>
            <p:nvPr/>
          </p:nvSpPr>
          <p:spPr>
            <a:xfrm>
              <a:off x="609600" y="5295900"/>
              <a:ext cx="38100" cy="800100"/>
            </a:xfrm>
            <a:prstGeom prst="rect">
              <a:avLst/>
            </a:prstGeom>
            <a:solidFill>
              <a:schemeClr val="accent2"/>
            </a:solidFill>
            <a:ln>
              <a:noFill/>
            </a:ln>
          </p:spPr>
        </p:sp>
        <p:sp>
          <p:nvSpPr>
            <p:cNvPr id="61" name="TextBox 61"/>
            <p:cNvSpPr txBox="1"/>
            <p:nvPr/>
          </p:nvSpPr>
          <p:spPr>
            <a:xfrm>
              <a:off x="867156" y="5425440"/>
              <a:ext cx="8268111"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Cảm xúc vẫn là tiêu chí chính — gu chỉ xếp hạng bài trong cùng cảm xúc</a:t>
              </a:r>
              <a:endParaRPr lang="vi-VN" sz="1800" b="1" dirty="0">
                <a:solidFill>
                  <a:schemeClr val="dk1"/>
                </a:solidFill>
                <a:latin typeface="+mn-lt"/>
                <a:ea typeface="+mn-ea"/>
                <a:cs typeface="+mn-cs"/>
              </a:endParaRPr>
            </a:p>
          </p:txBody>
        </p:sp>
        <p:sp>
          <p:nvSpPr>
            <p:cNvPr id="62" name="TextBox 62"/>
            <p:cNvSpPr txBox="1"/>
            <p:nvPr/>
          </p:nvSpPr>
          <p:spPr>
            <a:xfrm>
              <a:off x="867156" y="5730240"/>
              <a:ext cx="7544187" cy="352044"/>
            </a:xfrm>
            <a:prstGeom prst="rect">
              <a:avLst/>
            </a:prstGeom>
            <a:noFill/>
            <a:ln>
              <a:noFill/>
            </a:ln>
          </p:spPr>
          <p:txBody>
            <a:bodyPr wrap="none" lIns="0" tIns="0" rIns="0" bIns="0" anchor="t" anchorCtr="0">
              <a:spAutoFit/>
            </a:bodyPr>
            <a:lstStyle/>
            <a:p>
              <a:pPr algn="l"/>
              <a:r>
                <a:rPr lang="vi-VN" sz="1800" dirty="0">
                  <a:solidFill>
                    <a:schemeClr val="accent5"/>
                  </a:solidFill>
                  <a:latin typeface="+mn-lt"/>
                  <a:ea typeface="+mn-ea"/>
                  <a:cs typeface="+mn-cs"/>
                </a:rPr>
                <a:t>35% khám phá ưu tiên bài lạ hợp gu → càng nghe nhiều, gợi ý càng sát</a:t>
              </a:r>
              <a:endParaRPr lang="vi-VN" sz="1800" dirty="0">
                <a:solidFill>
                  <a:schemeClr val="accent5"/>
                </a:solidFill>
                <a:latin typeface="+mn-lt"/>
                <a:ea typeface="+mn-ea"/>
                <a:cs typeface="+mn-cs"/>
              </a:endParaRPr>
            </a:p>
          </p:txBody>
        </p:sp>
      </p:grpSp>
      <p:sp>
        <p:nvSpPr>
          <p:cNvPr id="64" name="TextBox 64"/>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08 / 13</a:t>
            </a:r>
            <a:endParaRPr lang="vi-VN" sz="1200" dirty="0">
              <a:solidFill>
                <a:schemeClr val="accent5"/>
              </a:solidFill>
              <a:latin typeface="Consolas" panose="020B0609020204030204"/>
              <a:ea typeface="Consolas" panose="020B0609020204030204"/>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3879844" cy="849630"/>
            <a:chOff x="594360" y="422910"/>
            <a:chExt cx="3879844" cy="849630"/>
          </a:xfrm>
        </p:grpSpPr>
        <p:sp>
          <p:nvSpPr>
            <p:cNvPr id="2" name="TextBox 2"/>
            <p:cNvSpPr txBox="1"/>
            <p:nvPr/>
          </p:nvSpPr>
          <p:spPr>
            <a:xfrm>
              <a:off x="603504" y="422910"/>
              <a:ext cx="282854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PHẦN 3 · ĐIỂM HAY CỦA HỆ THỐNG</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3" name="TextBox 3"/>
            <p:cNvSpPr txBox="1"/>
            <p:nvPr/>
          </p:nvSpPr>
          <p:spPr>
            <a:xfrm>
              <a:off x="594360" y="685800"/>
              <a:ext cx="3879844"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Học từ hành vi nghe</a:t>
              </a:r>
              <a:endParaRPr lang="vi-VN" sz="3000" b="1" dirty="0">
                <a:solidFill>
                  <a:schemeClr val="dk1"/>
                </a:solidFill>
                <a:latin typeface="+mn-lt"/>
                <a:ea typeface="+mn-ea"/>
                <a:cs typeface="+mn-cs"/>
              </a:endParaRP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15" name="measure"/>
          <p:cNvGrpSpPr/>
          <p:nvPr/>
        </p:nvGrpSpPr>
        <p:grpSpPr>
          <a:xfrm>
            <a:off x="641747" y="1460897"/>
            <a:ext cx="6759949" cy="418576"/>
            <a:chOff x="641747" y="1460897"/>
            <a:chExt cx="6759949" cy="418576"/>
          </a:xfrm>
        </p:grpSpPr>
        <p:grpSp>
          <p:nvGrpSpPr>
            <p:cNvPr id="13" name="Group 13"/>
            <p:cNvGrpSpPr/>
            <p:nvPr/>
          </p:nvGrpSpPr>
          <p:grpSpPr>
            <a:xfrm>
              <a:off x="641747" y="1460897"/>
              <a:ext cx="278606" cy="278606"/>
              <a:chOff x="641747" y="1460897"/>
              <a:chExt cx="278606" cy="278606"/>
            </a:xfrm>
          </p:grpSpPr>
          <p:sp>
            <p:nvSpPr>
              <p:cNvPr id="11" name="Freeform 11"/>
              <p:cNvSpPr/>
              <p:nvPr/>
            </p:nvSpPr>
            <p:spPr>
              <a:xfrm>
                <a:off x="652462" y="1471612"/>
                <a:ext cx="257175" cy="257175"/>
              </a:xfrm>
              <a:custGeom>
                <a:avLst/>
                <a:gdLst/>
                <a:ahLst/>
                <a:cxnLst/>
                <a:rect l="l" t="t" r="r" b="b"/>
                <a:pathLst>
                  <a:path w="257175" h="257175">
                    <a:moveTo>
                      <a:pt x="257175" y="128588"/>
                    </a:moveTo>
                    <a:cubicBezTo>
                      <a:pt x="257175" y="199604"/>
                      <a:pt x="199604" y="257175"/>
                      <a:pt x="128588" y="257175"/>
                    </a:cubicBezTo>
                    <a:cubicBezTo>
                      <a:pt x="57571" y="257175"/>
                      <a:pt x="0" y="199604"/>
                      <a:pt x="0" y="128588"/>
                    </a:cubicBezTo>
                    <a:cubicBezTo>
                      <a:pt x="0" y="57571"/>
                      <a:pt x="57571" y="0"/>
                      <a:pt x="128588" y="0"/>
                    </a:cubicBezTo>
                    <a:cubicBezTo>
                      <a:pt x="199604" y="0"/>
                      <a:pt x="257175" y="57571"/>
                      <a:pt x="257175" y="128588"/>
                    </a:cubicBezTo>
                    <a:close/>
                  </a:path>
                </a:pathLst>
              </a:custGeom>
              <a:solidFill>
                <a:schemeClr val="accent1">
                  <a:alpha val="20000"/>
                </a:schemeClr>
              </a:solidFill>
              <a:ln>
                <a:noFill/>
              </a:ln>
            </p:spPr>
          </p:sp>
          <p:sp>
            <p:nvSpPr>
              <p:cNvPr id="12" name="Freeform 12"/>
              <p:cNvSpPr/>
              <p:nvPr/>
            </p:nvSpPr>
            <p:spPr>
              <a:xfrm>
                <a:off x="641747" y="1460897"/>
                <a:ext cx="278606" cy="278606"/>
              </a:xfrm>
              <a:custGeom>
                <a:avLst/>
                <a:gdLst/>
                <a:ahLst/>
                <a:cxnLst/>
                <a:rect l="l" t="t" r="r" b="b"/>
                <a:pathLst>
                  <a:path w="278606" h="278606">
                    <a:moveTo>
                      <a:pt x="139303" y="0"/>
                    </a:moveTo>
                    <a:cubicBezTo>
                      <a:pt x="62368" y="0"/>
                      <a:pt x="0" y="62368"/>
                      <a:pt x="0" y="139303"/>
                    </a:cubicBezTo>
                    <a:cubicBezTo>
                      <a:pt x="0" y="216238"/>
                      <a:pt x="62368" y="278606"/>
                      <a:pt x="139303" y="278606"/>
                    </a:cubicBezTo>
                    <a:cubicBezTo>
                      <a:pt x="216238" y="278606"/>
                      <a:pt x="278606" y="216238"/>
                      <a:pt x="278606" y="139303"/>
                    </a:cubicBezTo>
                    <a:cubicBezTo>
                      <a:pt x="278525" y="62402"/>
                      <a:pt x="216204" y="81"/>
                      <a:pt x="139303" y="0"/>
                    </a:cubicBezTo>
                    <a:close/>
                    <a:moveTo>
                      <a:pt x="139303" y="257175"/>
                    </a:moveTo>
                    <a:cubicBezTo>
                      <a:pt x="74204" y="257175"/>
                      <a:pt x="21431" y="204402"/>
                      <a:pt x="21431" y="139303"/>
                    </a:cubicBezTo>
                    <a:cubicBezTo>
                      <a:pt x="21431" y="74204"/>
                      <a:pt x="74204" y="21431"/>
                      <a:pt x="139303" y="21431"/>
                    </a:cubicBezTo>
                    <a:cubicBezTo>
                      <a:pt x="204402" y="21431"/>
                      <a:pt x="257175" y="74204"/>
                      <a:pt x="257175" y="139303"/>
                    </a:cubicBezTo>
                    <a:cubicBezTo>
                      <a:pt x="257101" y="204371"/>
                      <a:pt x="204371" y="257101"/>
                      <a:pt x="139303" y="257175"/>
                    </a:cubicBezTo>
                    <a:close/>
                    <a:moveTo>
                      <a:pt x="225028" y="139303"/>
                    </a:moveTo>
                    <a:cubicBezTo>
                      <a:pt x="225028" y="145221"/>
                      <a:pt x="220231" y="150019"/>
                      <a:pt x="214312" y="150019"/>
                    </a:cubicBezTo>
                    <a:lnTo>
                      <a:pt x="139303" y="150019"/>
                    </a:lnTo>
                    <a:cubicBezTo>
                      <a:pt x="133385" y="150019"/>
                      <a:pt x="128588" y="145221"/>
                      <a:pt x="128588" y="139303"/>
                    </a:cubicBezTo>
                    <a:lnTo>
                      <a:pt x="128588" y="64294"/>
                    </a:lnTo>
                    <a:cubicBezTo>
                      <a:pt x="128588" y="58376"/>
                      <a:pt x="133385" y="53578"/>
                      <a:pt x="139303" y="53578"/>
                    </a:cubicBezTo>
                    <a:cubicBezTo>
                      <a:pt x="145221" y="53578"/>
                      <a:pt x="150019" y="58376"/>
                      <a:pt x="150019" y="64294"/>
                    </a:cubicBezTo>
                    <a:lnTo>
                      <a:pt x="150019" y="128588"/>
                    </a:lnTo>
                    <a:lnTo>
                      <a:pt x="214312" y="128588"/>
                    </a:lnTo>
                    <a:cubicBezTo>
                      <a:pt x="220231" y="128588"/>
                      <a:pt x="225028" y="133385"/>
                      <a:pt x="225028" y="139303"/>
                    </a:cubicBezTo>
                    <a:close/>
                  </a:path>
                </a:pathLst>
              </a:custGeom>
              <a:solidFill>
                <a:schemeClr val="accent1"/>
              </a:solidFill>
              <a:ln>
                <a:noFill/>
              </a:ln>
            </p:spPr>
          </p:sp>
        </p:grpSp>
        <p:sp>
          <p:nvSpPr>
            <p:cNvPr id="14" name="TextBox 14"/>
            <p:cNvSpPr txBox="1"/>
            <p:nvPr/>
          </p:nvSpPr>
          <p:spPr>
            <a:xfrm>
              <a:off x="1094232" y="1468755"/>
              <a:ext cx="630746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Đo </a:t>
              </a:r>
              <a:r>
                <a:rPr lang="vi-VN" sz="2100" b="1" dirty="0">
                  <a:solidFill>
                    <a:schemeClr val="accent1"/>
                  </a:solidFill>
                  <a:latin typeface="+mn-lt"/>
                  <a:ea typeface="+mn-ea"/>
                  <a:cs typeface="+mn-cs"/>
                </a:rPr>
                <a:t>số giây nghe thật</a:t>
              </a:r>
              <a:r>
                <a:rPr lang="vi-VN" sz="2100" dirty="0">
                  <a:solidFill>
                    <a:schemeClr val="dk1"/>
                  </a:solidFill>
                  <a:latin typeface="+mn-lt"/>
                  <a:ea typeface="+mn-ea"/>
                  <a:cs typeface="+mn-cs"/>
                </a:rPr>
                <a:t> — không tính đoạn tua qua</a:t>
              </a:r>
              <a:endParaRPr lang="vi-VN" sz="2100" dirty="0">
                <a:solidFill>
                  <a:schemeClr val="dk1"/>
                </a:solidFill>
                <a:latin typeface="+mn-lt"/>
                <a:ea typeface="+mn-ea"/>
                <a:cs typeface="+mn-cs"/>
              </a:endParaRPr>
            </a:p>
          </p:txBody>
        </p:sp>
      </p:grpSp>
      <p:grpSp>
        <p:nvGrpSpPr>
          <p:cNvPr id="38" name="listen-bar"/>
          <p:cNvGrpSpPr/>
          <p:nvPr/>
        </p:nvGrpSpPr>
        <p:grpSpPr>
          <a:xfrm>
            <a:off x="603504" y="2404110"/>
            <a:ext cx="10984992" cy="2077974"/>
            <a:chOff x="603504" y="2404110"/>
            <a:chExt cx="10984992" cy="2077974"/>
          </a:xfrm>
        </p:grpSpPr>
        <p:grpSp>
          <p:nvGrpSpPr>
            <p:cNvPr id="19" name="zone-labels"/>
            <p:cNvGrpSpPr/>
            <p:nvPr/>
          </p:nvGrpSpPr>
          <p:grpSpPr>
            <a:xfrm>
              <a:off x="2572131" y="2404110"/>
              <a:ext cx="8143113" cy="234696"/>
              <a:chOff x="2572131" y="2404110"/>
              <a:chExt cx="8143113" cy="234696"/>
            </a:xfrm>
          </p:grpSpPr>
          <p:sp>
            <p:nvSpPr>
              <p:cNvPr id="16" name="TextBox 16"/>
              <p:cNvSpPr txBox="1"/>
              <p:nvPr/>
            </p:nvSpPr>
            <p:spPr>
              <a:xfrm>
                <a:off x="2572131" y="2404110"/>
                <a:ext cx="456438" cy="234696"/>
              </a:xfrm>
              <a:prstGeom prst="rect">
                <a:avLst/>
              </a:prstGeom>
              <a:noFill/>
              <a:ln>
                <a:noFill/>
              </a:ln>
            </p:spPr>
            <p:txBody>
              <a:bodyPr wrap="none" lIns="0" tIns="0" rIns="0" bIns="0" anchor="t" anchorCtr="0">
                <a:spAutoFit/>
              </a:bodyPr>
              <a:lstStyle/>
              <a:p>
                <a:pPr algn="ctr"/>
                <a:r>
                  <a:rPr lang="vi-VN" sz="1200" dirty="0">
                    <a:solidFill>
                      <a:srgbClr val="FF5A5F"/>
                    </a:solidFill>
                    <a:latin typeface="Consolas" panose="020B0609020204030204"/>
                    <a:ea typeface="Consolas" panose="020B0609020204030204"/>
                    <a:cs typeface="Consolas" panose="020B0609020204030204"/>
                  </a:rPr>
                  <a:t>&lt; 40%</a:t>
                </a:r>
                <a:endParaRPr lang="vi-VN" sz="1200" dirty="0">
                  <a:solidFill>
                    <a:srgbClr val="FF5A5F"/>
                  </a:solidFill>
                  <a:latin typeface="Consolas" panose="020B0609020204030204"/>
                  <a:ea typeface="Consolas" panose="020B0609020204030204"/>
                  <a:cs typeface="Consolas" panose="020B0609020204030204"/>
                </a:endParaRPr>
              </a:p>
            </p:txBody>
          </p:sp>
          <p:sp>
            <p:nvSpPr>
              <p:cNvPr id="17" name="TextBox 17"/>
              <p:cNvSpPr txBox="1"/>
              <p:nvPr/>
            </p:nvSpPr>
            <p:spPr>
              <a:xfrm>
                <a:off x="6918731" y="2404110"/>
                <a:ext cx="545287" cy="234696"/>
              </a:xfrm>
              <a:prstGeom prst="rect">
                <a:avLst/>
              </a:prstGeom>
              <a:noFill/>
              <a:ln>
                <a:noFill/>
              </a:ln>
            </p:spPr>
            <p:txBody>
              <a:bodyPr wrap="none" lIns="0" tIns="0" rIns="0" bIns="0" anchor="t" anchorCtr="0">
                <a:spAutoFit/>
              </a:bodyPr>
              <a:lstStyle/>
              <a:p>
                <a:pPr algn="ctr"/>
                <a:r>
                  <a:rPr lang="vi-VN" sz="1200" dirty="0">
                    <a:solidFill>
                      <a:schemeClr val="accent2"/>
                    </a:solidFill>
                    <a:latin typeface="Consolas" panose="020B0609020204030204"/>
                    <a:ea typeface="Consolas" panose="020B0609020204030204"/>
                    <a:cs typeface="Consolas" panose="020B0609020204030204"/>
                  </a:rPr>
                  <a:t>40–80%</a:t>
                </a:r>
                <a:endParaRPr lang="vi-VN" sz="1200" dirty="0">
                  <a:solidFill>
                    <a:schemeClr val="accent2"/>
                  </a:solidFill>
                  <a:latin typeface="Consolas" panose="020B0609020204030204"/>
                  <a:ea typeface="Consolas" panose="020B0609020204030204"/>
                  <a:cs typeface="Consolas" panose="020B0609020204030204"/>
                </a:endParaRPr>
              </a:p>
            </p:txBody>
          </p:sp>
          <p:sp>
            <p:nvSpPr>
              <p:cNvPr id="18" name="TextBox 18"/>
              <p:cNvSpPr txBox="1"/>
              <p:nvPr/>
            </p:nvSpPr>
            <p:spPr>
              <a:xfrm>
                <a:off x="10258806" y="2404110"/>
                <a:ext cx="456438" cy="234696"/>
              </a:xfrm>
              <a:prstGeom prst="rect">
                <a:avLst/>
              </a:prstGeom>
              <a:noFill/>
              <a:ln>
                <a:noFill/>
              </a:ln>
            </p:spPr>
            <p:txBody>
              <a:bodyPr wrap="none" lIns="0" tIns="0" rIns="0" bIns="0" anchor="t" anchorCtr="0">
                <a:spAutoFit/>
              </a:bodyPr>
              <a:lstStyle/>
              <a:p>
                <a:pPr algn="ctr"/>
                <a:r>
                  <a:rPr lang="vi-VN" sz="1200" dirty="0">
                    <a:solidFill>
                      <a:srgbClr val="34D399"/>
                    </a:solidFill>
                    <a:latin typeface="Consolas" panose="020B0609020204030204"/>
                    <a:ea typeface="Consolas" panose="020B0609020204030204"/>
                    <a:cs typeface="Consolas" panose="020B0609020204030204"/>
                  </a:rPr>
                  <a:t>≥ 80%</a:t>
                </a:r>
                <a:endParaRPr lang="vi-VN" sz="1200" dirty="0">
                  <a:solidFill>
                    <a:srgbClr val="34D399"/>
                  </a:solidFill>
                  <a:latin typeface="Consolas" panose="020B0609020204030204"/>
                  <a:ea typeface="Consolas" panose="020B0609020204030204"/>
                  <a:cs typeface="Consolas" panose="020B0609020204030204"/>
                </a:endParaRPr>
              </a:p>
            </p:txBody>
          </p:sp>
        </p:grpSp>
        <p:sp>
          <p:nvSpPr>
            <p:cNvPr id="20" name="Rectangle 20"/>
            <p:cNvSpPr/>
            <p:nvPr/>
          </p:nvSpPr>
          <p:spPr>
            <a:xfrm>
              <a:off x="609600" y="2667000"/>
              <a:ext cx="4389120" cy="685800"/>
            </a:xfrm>
            <a:prstGeom prst="rect">
              <a:avLst/>
            </a:prstGeom>
            <a:solidFill>
              <a:srgbClr val="FF5A5F"/>
            </a:solidFill>
            <a:ln>
              <a:noFill/>
            </a:ln>
          </p:spPr>
        </p:sp>
        <p:sp>
          <p:nvSpPr>
            <p:cNvPr id="21" name="Rectangle 21"/>
            <p:cNvSpPr/>
            <p:nvPr/>
          </p:nvSpPr>
          <p:spPr>
            <a:xfrm>
              <a:off x="4998720" y="2667000"/>
              <a:ext cx="4389120" cy="685800"/>
            </a:xfrm>
            <a:prstGeom prst="rect">
              <a:avLst/>
            </a:prstGeom>
            <a:solidFill>
              <a:schemeClr val="accent2"/>
            </a:solidFill>
            <a:ln>
              <a:noFill/>
            </a:ln>
          </p:spPr>
        </p:sp>
        <p:sp>
          <p:nvSpPr>
            <p:cNvPr id="22" name="Rectangle 22"/>
            <p:cNvSpPr/>
            <p:nvPr/>
          </p:nvSpPr>
          <p:spPr>
            <a:xfrm>
              <a:off x="9387840" y="2667000"/>
              <a:ext cx="2194560" cy="685800"/>
            </a:xfrm>
            <a:prstGeom prst="rect">
              <a:avLst/>
            </a:prstGeom>
            <a:solidFill>
              <a:srgbClr val="34D399"/>
            </a:solidFill>
            <a:ln>
              <a:noFill/>
            </a:ln>
          </p:spPr>
        </p:sp>
        <p:sp>
          <p:nvSpPr>
            <p:cNvPr id="23" name="Line 23"/>
            <p:cNvSpPr/>
            <p:nvPr/>
          </p:nvSpPr>
          <p:spPr>
            <a:xfrm>
              <a:off x="4998720" y="2628900"/>
              <a:ext cx="9525" cy="762000"/>
            </a:xfrm>
            <a:custGeom>
              <a:avLst/>
              <a:gdLst/>
              <a:ahLst/>
              <a:cxnLst/>
              <a:rect l="l" t="t" r="r" b="b"/>
              <a:pathLst>
                <a:path w="9525" h="762000">
                  <a:moveTo>
                    <a:pt x="0" y="0"/>
                  </a:moveTo>
                  <a:lnTo>
                    <a:pt x="0" y="762000"/>
                  </a:lnTo>
                </a:path>
              </a:pathLst>
            </a:custGeom>
            <a:noFill/>
            <a:ln w="28575">
              <a:solidFill>
                <a:srgbClr val="0B1020"/>
              </a:solidFill>
            </a:ln>
          </p:spPr>
        </p:sp>
        <p:sp>
          <p:nvSpPr>
            <p:cNvPr id="24" name="Line 24"/>
            <p:cNvSpPr/>
            <p:nvPr/>
          </p:nvSpPr>
          <p:spPr>
            <a:xfrm>
              <a:off x="9387840" y="2628900"/>
              <a:ext cx="9525" cy="762000"/>
            </a:xfrm>
            <a:custGeom>
              <a:avLst/>
              <a:gdLst/>
              <a:ahLst/>
              <a:cxnLst/>
              <a:rect l="l" t="t" r="r" b="b"/>
              <a:pathLst>
                <a:path w="9525" h="762000">
                  <a:moveTo>
                    <a:pt x="0" y="0"/>
                  </a:moveTo>
                  <a:lnTo>
                    <a:pt x="0" y="762000"/>
                  </a:lnTo>
                </a:path>
              </a:pathLst>
            </a:custGeom>
            <a:noFill/>
            <a:ln w="28575">
              <a:solidFill>
                <a:srgbClr val="0B1020"/>
              </a:solidFill>
            </a:ln>
          </p:spPr>
        </p:sp>
        <p:grpSp>
          <p:nvGrpSpPr>
            <p:cNvPr id="28" name="zone-scores"/>
            <p:cNvGrpSpPr/>
            <p:nvPr/>
          </p:nvGrpSpPr>
          <p:grpSpPr>
            <a:xfrm>
              <a:off x="2552345" y="2819400"/>
              <a:ext cx="8208834" cy="586740"/>
              <a:chOff x="2552345" y="2819400"/>
              <a:chExt cx="8208834" cy="586740"/>
            </a:xfrm>
          </p:grpSpPr>
          <p:sp>
            <p:nvSpPr>
              <p:cNvPr id="25" name="TextBox 25"/>
              <p:cNvSpPr txBox="1"/>
              <p:nvPr/>
            </p:nvSpPr>
            <p:spPr>
              <a:xfrm>
                <a:off x="2552345" y="2819400"/>
                <a:ext cx="496009" cy="586740"/>
              </a:xfrm>
              <a:prstGeom prst="rect">
                <a:avLst/>
              </a:prstGeom>
              <a:noFill/>
              <a:ln>
                <a:noFill/>
              </a:ln>
            </p:spPr>
            <p:txBody>
              <a:bodyPr wrap="none" lIns="0" tIns="0" rIns="0" bIns="0" anchor="t" anchorCtr="0">
                <a:spAutoFit/>
              </a:bodyPr>
              <a:lstStyle/>
              <a:p>
                <a:pPr algn="ctr"/>
                <a:r>
                  <a:rPr lang="vi-VN" sz="3000" b="1" dirty="0">
                    <a:solidFill>
                      <a:srgbClr val="0B1020"/>
                    </a:solidFill>
                    <a:latin typeface="+mn-lt"/>
                    <a:ea typeface="+mn-ea"/>
                    <a:cs typeface="+mn-cs"/>
                  </a:rPr>
                  <a:t>−1</a:t>
                </a:r>
                <a:endParaRPr lang="vi-VN" sz="3000" b="1" dirty="0">
                  <a:solidFill>
                    <a:srgbClr val="0B1020"/>
                  </a:solidFill>
                  <a:latin typeface="+mn-lt"/>
                  <a:ea typeface="+mn-ea"/>
                  <a:cs typeface="+mn-cs"/>
                </a:endParaRPr>
              </a:p>
            </p:txBody>
          </p:sp>
          <p:sp>
            <p:nvSpPr>
              <p:cNvPr id="26" name="TextBox 26"/>
              <p:cNvSpPr txBox="1"/>
              <p:nvPr/>
            </p:nvSpPr>
            <p:spPr>
              <a:xfrm>
                <a:off x="6746347" y="2819400"/>
                <a:ext cx="890056" cy="586740"/>
              </a:xfrm>
              <a:prstGeom prst="rect">
                <a:avLst/>
              </a:prstGeom>
              <a:noFill/>
              <a:ln>
                <a:noFill/>
              </a:ln>
            </p:spPr>
            <p:txBody>
              <a:bodyPr wrap="none" lIns="0" tIns="0" rIns="0" bIns="0" anchor="t" anchorCtr="0">
                <a:spAutoFit/>
              </a:bodyPr>
              <a:lstStyle/>
              <a:p>
                <a:pPr algn="ctr"/>
                <a:r>
                  <a:rPr lang="vi-VN" sz="3000" b="1" dirty="0">
                    <a:solidFill>
                      <a:srgbClr val="0B1020"/>
                    </a:solidFill>
                    <a:latin typeface="+mn-lt"/>
                    <a:ea typeface="+mn-ea"/>
                    <a:cs typeface="+mn-cs"/>
                  </a:rPr>
                  <a:t>+0.3</a:t>
                </a:r>
                <a:endParaRPr lang="vi-VN" sz="3000" b="1" dirty="0">
                  <a:solidFill>
                    <a:srgbClr val="0B1020"/>
                  </a:solidFill>
                  <a:latin typeface="+mn-lt"/>
                  <a:ea typeface="+mn-ea"/>
                  <a:cs typeface="+mn-cs"/>
                </a:endParaRPr>
              </a:p>
            </p:txBody>
          </p:sp>
          <p:sp>
            <p:nvSpPr>
              <p:cNvPr id="27" name="TextBox 27"/>
              <p:cNvSpPr txBox="1"/>
              <p:nvPr/>
            </p:nvSpPr>
            <p:spPr>
              <a:xfrm>
                <a:off x="10212870" y="2819400"/>
                <a:ext cx="548309" cy="586740"/>
              </a:xfrm>
              <a:prstGeom prst="rect">
                <a:avLst/>
              </a:prstGeom>
              <a:noFill/>
              <a:ln>
                <a:noFill/>
              </a:ln>
            </p:spPr>
            <p:txBody>
              <a:bodyPr wrap="none" lIns="0" tIns="0" rIns="0" bIns="0" anchor="t" anchorCtr="0">
                <a:spAutoFit/>
              </a:bodyPr>
              <a:lstStyle/>
              <a:p>
                <a:pPr algn="ctr"/>
                <a:r>
                  <a:rPr lang="vi-VN" sz="3000" b="1" dirty="0">
                    <a:solidFill>
                      <a:srgbClr val="0B1020"/>
                    </a:solidFill>
                    <a:latin typeface="+mn-lt"/>
                    <a:ea typeface="+mn-ea"/>
                    <a:cs typeface="+mn-cs"/>
                  </a:rPr>
                  <a:t>+1</a:t>
                </a:r>
                <a:endParaRPr lang="vi-VN" sz="3000" b="1" dirty="0">
                  <a:solidFill>
                    <a:srgbClr val="0B1020"/>
                  </a:solidFill>
                  <a:latin typeface="+mn-lt"/>
                  <a:ea typeface="+mn-ea"/>
                  <a:cs typeface="+mn-cs"/>
                </a:endParaRPr>
              </a:p>
            </p:txBody>
          </p:sp>
        </p:grpSp>
        <p:grpSp>
          <p:nvGrpSpPr>
            <p:cNvPr id="33" name="zone-ticks"/>
            <p:cNvGrpSpPr/>
            <p:nvPr/>
          </p:nvGrpSpPr>
          <p:grpSpPr>
            <a:xfrm>
              <a:off x="603504" y="3470910"/>
              <a:ext cx="10984992" cy="234696"/>
              <a:chOff x="603504" y="3470910"/>
              <a:chExt cx="10984992" cy="234696"/>
            </a:xfrm>
          </p:grpSpPr>
          <p:sp>
            <p:nvSpPr>
              <p:cNvPr id="29" name="TextBox 29"/>
              <p:cNvSpPr txBox="1"/>
              <p:nvPr/>
            </p:nvSpPr>
            <p:spPr>
              <a:xfrm>
                <a:off x="603504" y="3470910"/>
                <a:ext cx="189890"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0%</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30" name="TextBox 30"/>
              <p:cNvSpPr txBox="1"/>
              <p:nvPr/>
            </p:nvSpPr>
            <p:spPr>
              <a:xfrm>
                <a:off x="4859350" y="3470910"/>
                <a:ext cx="278740" cy="234696"/>
              </a:xfrm>
              <a:prstGeom prst="rect">
                <a:avLst/>
              </a:prstGeom>
              <a:noFill/>
              <a:ln>
                <a:noFill/>
              </a:ln>
            </p:spPr>
            <p:txBody>
              <a:bodyPr wrap="none" lIns="0" tIns="0" rIns="0" bIns="0" anchor="t" anchorCtr="0">
                <a:spAutoFit/>
              </a:bodyPr>
              <a:lstStyle/>
              <a:p>
                <a:pPr algn="ctr"/>
                <a:r>
                  <a:rPr lang="vi-VN" sz="1200" dirty="0">
                    <a:solidFill>
                      <a:schemeClr val="accent5"/>
                    </a:solidFill>
                    <a:latin typeface="Consolas" panose="020B0609020204030204"/>
                    <a:ea typeface="Consolas" panose="020B0609020204030204"/>
                    <a:cs typeface="Consolas" panose="020B0609020204030204"/>
                  </a:rPr>
                  <a:t>40%</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31" name="TextBox 31"/>
              <p:cNvSpPr txBox="1"/>
              <p:nvPr/>
            </p:nvSpPr>
            <p:spPr>
              <a:xfrm>
                <a:off x="9248470" y="3470910"/>
                <a:ext cx="278740" cy="234696"/>
              </a:xfrm>
              <a:prstGeom prst="rect">
                <a:avLst/>
              </a:prstGeom>
              <a:noFill/>
              <a:ln>
                <a:noFill/>
              </a:ln>
            </p:spPr>
            <p:txBody>
              <a:bodyPr wrap="none" lIns="0" tIns="0" rIns="0" bIns="0" anchor="t" anchorCtr="0">
                <a:spAutoFit/>
              </a:bodyPr>
              <a:lstStyle/>
              <a:p>
                <a:pPr algn="ctr"/>
                <a:r>
                  <a:rPr lang="vi-VN" sz="1200" dirty="0">
                    <a:solidFill>
                      <a:schemeClr val="accent5"/>
                    </a:solidFill>
                    <a:latin typeface="Consolas" panose="020B0609020204030204"/>
                    <a:ea typeface="Consolas" panose="020B0609020204030204"/>
                    <a:cs typeface="Consolas" panose="020B0609020204030204"/>
                  </a:rPr>
                  <a:t>80%</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32" name="TextBox 32"/>
              <p:cNvSpPr txBox="1"/>
              <p:nvPr/>
            </p:nvSpPr>
            <p:spPr>
              <a:xfrm>
                <a:off x="11220907" y="3470910"/>
                <a:ext cx="367589"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100%</a:t>
                </a:r>
                <a:endParaRPr lang="vi-VN" sz="1200" dirty="0">
                  <a:solidFill>
                    <a:schemeClr val="accent5"/>
                  </a:solidFill>
                  <a:latin typeface="Consolas" panose="020B0609020204030204"/>
                  <a:ea typeface="Consolas" panose="020B0609020204030204"/>
                  <a:cs typeface="Consolas" panose="020B0609020204030204"/>
                </a:endParaRPr>
              </a:p>
            </p:txBody>
          </p:sp>
        </p:grpSp>
        <p:grpSp>
          <p:nvGrpSpPr>
            <p:cNvPr id="37" name="zone-meaning"/>
            <p:cNvGrpSpPr/>
            <p:nvPr/>
          </p:nvGrpSpPr>
          <p:grpSpPr>
            <a:xfrm>
              <a:off x="1413068" y="3806190"/>
              <a:ext cx="9886973" cy="675894"/>
              <a:chOff x="1413068" y="3806190"/>
              <a:chExt cx="9886973" cy="675894"/>
            </a:xfrm>
          </p:grpSpPr>
          <p:sp>
            <p:nvSpPr>
              <p:cNvPr id="34" name="TextBox 34"/>
              <p:cNvSpPr txBox="1"/>
              <p:nvPr/>
            </p:nvSpPr>
            <p:spPr>
              <a:xfrm>
                <a:off x="1413068" y="3806190"/>
                <a:ext cx="2774564" cy="675894"/>
              </a:xfrm>
              <a:prstGeom prst="rect">
                <a:avLst/>
              </a:prstGeom>
              <a:noFill/>
              <a:ln>
                <a:noFill/>
              </a:ln>
            </p:spPr>
            <p:txBody>
              <a:bodyPr wrap="none" lIns="0" tIns="0" rIns="0" bIns="0" anchor="t" anchorCtr="0">
                <a:spAutoFit/>
              </a:bodyPr>
              <a:lstStyle/>
              <a:p>
                <a:pPr algn="ctr">
                  <a:lnSpc>
                    <a:spcPts val="2550"/>
                  </a:lnSpc>
                </a:pPr>
                <a:r>
                  <a:rPr lang="vi-VN" sz="1800" dirty="0">
                    <a:solidFill>
                      <a:schemeClr val="dk1"/>
                    </a:solidFill>
                    <a:latin typeface="+mn-lt"/>
                    <a:ea typeface="+mn-ea"/>
                    <a:cs typeface="+mn-cs"/>
                  </a:rPr>
                  <a:t>Nghe &lt; 40% rồi chuyển bài</a:t>
                </a:r>
                <a:br>
                  <a:rPr lang="vi-VN" sz="1800" dirty="0">
                    <a:solidFill>
                      <a:schemeClr val="dk1"/>
                    </a:solidFill>
                    <a:latin typeface="+mn-lt"/>
                    <a:ea typeface="+mn-ea"/>
                    <a:cs typeface="+mn-cs"/>
                  </a:rPr>
                </a:br>
                <a:r>
                  <a:rPr lang="vi-VN" sz="1800" dirty="0">
                    <a:solidFill>
                      <a:schemeClr val="accent5"/>
                    </a:solidFill>
                    <a:latin typeface="+mn-lt"/>
                    <a:ea typeface="+mn-ea"/>
                    <a:cs typeface="+mn-cs"/>
                  </a:rPr>
                  <a:t>không hợp</a:t>
                </a:r>
                <a:endParaRPr lang="vi-VN" sz="1800" dirty="0">
                  <a:solidFill>
                    <a:schemeClr val="accent5"/>
                  </a:solidFill>
                  <a:latin typeface="+mn-lt"/>
                  <a:ea typeface="+mn-ea"/>
                  <a:cs typeface="+mn-cs"/>
                </a:endParaRPr>
              </a:p>
            </p:txBody>
          </p:sp>
          <p:sp>
            <p:nvSpPr>
              <p:cNvPr id="35" name="TextBox 35"/>
              <p:cNvSpPr txBox="1"/>
              <p:nvPr/>
            </p:nvSpPr>
            <p:spPr>
              <a:xfrm>
                <a:off x="6404294" y="3806190"/>
                <a:ext cx="1574162" cy="675894"/>
              </a:xfrm>
              <a:prstGeom prst="rect">
                <a:avLst/>
              </a:prstGeom>
              <a:noFill/>
              <a:ln>
                <a:noFill/>
              </a:ln>
            </p:spPr>
            <p:txBody>
              <a:bodyPr wrap="none" lIns="0" tIns="0" rIns="0" bIns="0" anchor="t" anchorCtr="0">
                <a:spAutoFit/>
              </a:bodyPr>
              <a:lstStyle/>
              <a:p>
                <a:pPr algn="ctr">
                  <a:lnSpc>
                    <a:spcPts val="2550"/>
                  </a:lnSpc>
                </a:pPr>
                <a:r>
                  <a:rPr lang="vi-VN" sz="1800" dirty="0">
                    <a:solidFill>
                      <a:schemeClr val="dk1"/>
                    </a:solidFill>
                    <a:latin typeface="+mn-lt"/>
                    <a:ea typeface="+mn-ea"/>
                    <a:cs typeface="+mn-cs"/>
                  </a:rPr>
                  <a:t>Ở giữa</a:t>
                </a:r>
                <a:br>
                  <a:rPr lang="vi-VN" sz="1800" dirty="0">
                    <a:solidFill>
                      <a:schemeClr val="dk1"/>
                    </a:solidFill>
                    <a:latin typeface="+mn-lt"/>
                    <a:ea typeface="+mn-ea"/>
                    <a:cs typeface="+mn-cs"/>
                  </a:rPr>
                </a:br>
                <a:r>
                  <a:rPr lang="vi-VN" sz="1800" dirty="0">
                    <a:solidFill>
                      <a:schemeClr val="accent5"/>
                    </a:solidFill>
                    <a:latin typeface="+mn-lt"/>
                    <a:ea typeface="+mn-ea"/>
                    <a:cs typeface="+mn-cs"/>
                  </a:rPr>
                  <a:t>nghe một phần</a:t>
                </a:r>
                <a:endParaRPr lang="vi-VN" sz="1800" dirty="0">
                  <a:solidFill>
                    <a:schemeClr val="accent5"/>
                  </a:solidFill>
                  <a:latin typeface="+mn-lt"/>
                  <a:ea typeface="+mn-ea"/>
                  <a:cs typeface="+mn-cs"/>
                </a:endParaRPr>
              </a:p>
            </p:txBody>
          </p:sp>
          <p:sp>
            <p:nvSpPr>
              <p:cNvPr id="36" name="TextBox 36"/>
              <p:cNvSpPr txBox="1"/>
              <p:nvPr/>
            </p:nvSpPr>
            <p:spPr>
              <a:xfrm>
                <a:off x="9674009" y="3806190"/>
                <a:ext cx="1626032" cy="675894"/>
              </a:xfrm>
              <a:prstGeom prst="rect">
                <a:avLst/>
              </a:prstGeom>
              <a:noFill/>
              <a:ln>
                <a:noFill/>
              </a:ln>
            </p:spPr>
            <p:txBody>
              <a:bodyPr wrap="none" lIns="0" tIns="0" rIns="0" bIns="0" anchor="t" anchorCtr="0">
                <a:spAutoFit/>
              </a:bodyPr>
              <a:lstStyle/>
              <a:p>
                <a:pPr algn="ctr">
                  <a:lnSpc>
                    <a:spcPts val="2550"/>
                  </a:lnSpc>
                </a:pPr>
                <a:r>
                  <a:rPr lang="vi-VN" sz="1800" dirty="0">
                    <a:solidFill>
                      <a:schemeClr val="dk1"/>
                    </a:solidFill>
                    <a:latin typeface="+mn-lt"/>
                    <a:ea typeface="+mn-ea"/>
                    <a:cs typeface="+mn-cs"/>
                  </a:rPr>
                  <a:t>Nghe ≥ 80% bài</a:t>
                </a:r>
                <a:br>
                  <a:rPr lang="vi-VN" sz="1800" dirty="0">
                    <a:solidFill>
                      <a:schemeClr val="dk1"/>
                    </a:solidFill>
                    <a:latin typeface="+mn-lt"/>
                    <a:ea typeface="+mn-ea"/>
                    <a:cs typeface="+mn-cs"/>
                  </a:rPr>
                </a:br>
                <a:r>
                  <a:rPr lang="vi-VN" sz="1800" dirty="0">
                    <a:solidFill>
                      <a:schemeClr val="accent5"/>
                    </a:solidFill>
                    <a:latin typeface="+mn-lt"/>
                    <a:ea typeface="+mn-ea"/>
                    <a:cs typeface="+mn-cs"/>
                  </a:rPr>
                  <a:t>thích</a:t>
                </a:r>
                <a:endParaRPr lang="vi-VN" sz="1800" dirty="0">
                  <a:solidFill>
                    <a:schemeClr val="accent5"/>
                  </a:solidFill>
                  <a:latin typeface="+mn-lt"/>
                  <a:ea typeface="+mn-ea"/>
                  <a:cs typeface="+mn-cs"/>
                </a:endParaRPr>
              </a:p>
            </p:txBody>
          </p:sp>
        </p:grpSp>
      </p:grpSp>
      <p:grpSp>
        <p:nvGrpSpPr>
          <p:cNvPr id="47" name="takeaway"/>
          <p:cNvGrpSpPr/>
          <p:nvPr/>
        </p:nvGrpSpPr>
        <p:grpSpPr>
          <a:xfrm>
            <a:off x="609600" y="4838700"/>
            <a:ext cx="10972800" cy="1276350"/>
            <a:chOff x="609600" y="4838700"/>
            <a:chExt cx="10972800" cy="1276350"/>
          </a:xfrm>
        </p:grpSpPr>
        <p:sp>
          <p:nvSpPr>
            <p:cNvPr id="39" name="Rectangle 39"/>
            <p:cNvSpPr/>
            <p:nvPr/>
          </p:nvSpPr>
          <p:spPr>
            <a:xfrm>
              <a:off x="609600" y="4838700"/>
              <a:ext cx="10972800" cy="1276350"/>
            </a:xfrm>
            <a:prstGeom prst="roundRect">
              <a:avLst>
                <a:gd name="adj" fmla="val 8955"/>
              </a:avLst>
            </a:prstGeom>
            <a:solidFill>
              <a:schemeClr val="accent1">
                <a:alpha val="8000"/>
              </a:schemeClr>
            </a:solidFill>
            <a:ln>
              <a:noFill/>
            </a:ln>
          </p:spPr>
        </p:sp>
        <p:sp>
          <p:nvSpPr>
            <p:cNvPr id="40" name="Rectangle 40"/>
            <p:cNvSpPr/>
            <p:nvPr/>
          </p:nvSpPr>
          <p:spPr>
            <a:xfrm>
              <a:off x="609600" y="4838700"/>
              <a:ext cx="38100" cy="1276350"/>
            </a:xfrm>
            <a:prstGeom prst="rect">
              <a:avLst/>
            </a:prstGeom>
            <a:solidFill>
              <a:schemeClr val="accent1"/>
            </a:solidFill>
            <a:ln>
              <a:noFill/>
            </a:ln>
          </p:spPr>
        </p:sp>
        <p:grpSp>
          <p:nvGrpSpPr>
            <p:cNvPr id="43" name="Group 43"/>
            <p:cNvGrpSpPr/>
            <p:nvPr/>
          </p:nvGrpSpPr>
          <p:grpSpPr>
            <a:xfrm>
              <a:off x="900112" y="5072059"/>
              <a:ext cx="334388" cy="297666"/>
              <a:chOff x="900112" y="5072059"/>
              <a:chExt cx="334388" cy="297666"/>
            </a:xfrm>
          </p:grpSpPr>
          <p:sp>
            <p:nvSpPr>
              <p:cNvPr id="41" name="Freeform 41"/>
              <p:cNvSpPr/>
              <p:nvPr/>
            </p:nvSpPr>
            <p:spPr>
              <a:xfrm>
                <a:off x="912019" y="5203031"/>
                <a:ext cx="83344" cy="154781"/>
              </a:xfrm>
              <a:custGeom>
                <a:avLst/>
                <a:gdLst/>
                <a:ahLst/>
                <a:cxnLst/>
                <a:rect l="l" t="t" r="r" b="b"/>
                <a:pathLst>
                  <a:path w="83344" h="154781">
                    <a:moveTo>
                      <a:pt x="83344" y="0"/>
                    </a:moveTo>
                    <a:lnTo>
                      <a:pt x="83344" y="154781"/>
                    </a:lnTo>
                    <a:lnTo>
                      <a:pt x="11906" y="154781"/>
                    </a:lnTo>
                    <a:cubicBezTo>
                      <a:pt x="5331" y="154781"/>
                      <a:pt x="0" y="149451"/>
                      <a:pt x="0" y="142875"/>
                    </a:cubicBezTo>
                    <a:lnTo>
                      <a:pt x="0" y="11906"/>
                    </a:lnTo>
                    <a:cubicBezTo>
                      <a:pt x="0" y="5331"/>
                      <a:pt x="5331" y="0"/>
                      <a:pt x="11906" y="0"/>
                    </a:cubicBezTo>
                    <a:close/>
                  </a:path>
                </a:pathLst>
              </a:custGeom>
              <a:solidFill>
                <a:schemeClr val="accent1">
                  <a:alpha val="20000"/>
                </a:schemeClr>
              </a:solidFill>
              <a:ln>
                <a:noFill/>
              </a:ln>
            </p:spPr>
          </p:sp>
          <p:sp>
            <p:nvSpPr>
              <p:cNvPr id="42" name="Freeform 42"/>
              <p:cNvSpPr/>
              <p:nvPr/>
            </p:nvSpPr>
            <p:spPr>
              <a:xfrm>
                <a:off x="900112" y="5072059"/>
                <a:ext cx="334388" cy="297666"/>
              </a:xfrm>
              <a:custGeom>
                <a:avLst/>
                <a:gdLst/>
                <a:ahLst/>
                <a:cxnLst/>
                <a:rect l="l" t="t" r="r" b="b"/>
                <a:pathLst>
                  <a:path w="334388" h="297666">
                    <a:moveTo>
                      <a:pt x="324445" y="95432"/>
                    </a:moveTo>
                    <a:cubicBezTo>
                      <a:pt x="317663" y="87746"/>
                      <a:pt x="307906" y="83345"/>
                      <a:pt x="297656" y="83347"/>
                    </a:cubicBezTo>
                    <a:lnTo>
                      <a:pt x="214312" y="83347"/>
                    </a:lnTo>
                    <a:lnTo>
                      <a:pt x="214312" y="59534"/>
                    </a:lnTo>
                    <a:cubicBezTo>
                      <a:pt x="214312" y="26656"/>
                      <a:pt x="187659" y="3"/>
                      <a:pt x="154781" y="3"/>
                    </a:cubicBezTo>
                    <a:cubicBezTo>
                      <a:pt x="150270" y="0"/>
                      <a:pt x="146144" y="2547"/>
                      <a:pt x="144125" y="6581"/>
                    </a:cubicBezTo>
                    <a:lnTo>
                      <a:pt x="87898" y="119066"/>
                    </a:lnTo>
                    <a:lnTo>
                      <a:pt x="23812" y="119066"/>
                    </a:lnTo>
                    <a:cubicBezTo>
                      <a:pt x="10661" y="119066"/>
                      <a:pt x="0" y="129727"/>
                      <a:pt x="0" y="142878"/>
                    </a:cubicBezTo>
                    <a:lnTo>
                      <a:pt x="0" y="273847"/>
                    </a:lnTo>
                    <a:cubicBezTo>
                      <a:pt x="0" y="286998"/>
                      <a:pt x="10661" y="297659"/>
                      <a:pt x="23812" y="297659"/>
                    </a:cubicBezTo>
                    <a:lnTo>
                      <a:pt x="279797" y="297659"/>
                    </a:lnTo>
                    <a:cubicBezTo>
                      <a:pt x="297802" y="297666"/>
                      <a:pt x="312997" y="284270"/>
                      <a:pt x="315248" y="266406"/>
                    </a:cubicBezTo>
                    <a:lnTo>
                      <a:pt x="333107" y="123531"/>
                    </a:lnTo>
                    <a:cubicBezTo>
                      <a:pt x="334388" y="113355"/>
                      <a:pt x="331233" y="103120"/>
                      <a:pt x="324445" y="95432"/>
                    </a:cubicBezTo>
                    <a:close/>
                    <a:moveTo>
                      <a:pt x="23812" y="142878"/>
                    </a:moveTo>
                    <a:lnTo>
                      <a:pt x="83344" y="142878"/>
                    </a:lnTo>
                    <a:lnTo>
                      <a:pt x="83344" y="273847"/>
                    </a:lnTo>
                    <a:lnTo>
                      <a:pt x="23812" y="273847"/>
                    </a:lnTo>
                    <a:close/>
                    <a:moveTo>
                      <a:pt x="309473" y="120554"/>
                    </a:moveTo>
                    <a:lnTo>
                      <a:pt x="291614" y="263429"/>
                    </a:lnTo>
                    <a:cubicBezTo>
                      <a:pt x="290864" y="269384"/>
                      <a:pt x="285799" y="273849"/>
                      <a:pt x="279797" y="273847"/>
                    </a:cubicBezTo>
                    <a:lnTo>
                      <a:pt x="107156" y="273847"/>
                    </a:lnTo>
                    <a:lnTo>
                      <a:pt x="107156" y="133785"/>
                    </a:lnTo>
                    <a:lnTo>
                      <a:pt x="161791" y="24500"/>
                    </a:lnTo>
                    <a:cubicBezTo>
                      <a:pt x="178488" y="27842"/>
                      <a:pt x="190505" y="42506"/>
                      <a:pt x="190500" y="59534"/>
                    </a:cubicBezTo>
                    <a:lnTo>
                      <a:pt x="190500" y="95253"/>
                    </a:lnTo>
                    <a:cubicBezTo>
                      <a:pt x="190500" y="101829"/>
                      <a:pt x="195831" y="107159"/>
                      <a:pt x="202406" y="107159"/>
                    </a:cubicBezTo>
                    <a:lnTo>
                      <a:pt x="297656" y="107159"/>
                    </a:lnTo>
                    <a:cubicBezTo>
                      <a:pt x="301074" y="107158"/>
                      <a:pt x="304328" y="108626"/>
                      <a:pt x="306589" y="111189"/>
                    </a:cubicBezTo>
                    <a:cubicBezTo>
                      <a:pt x="308850" y="113752"/>
                      <a:pt x="309900" y="117163"/>
                      <a:pt x="309473" y="120554"/>
                    </a:cubicBezTo>
                    <a:close/>
                  </a:path>
                </a:pathLst>
              </a:custGeom>
              <a:solidFill>
                <a:schemeClr val="accent1"/>
              </a:solidFill>
              <a:ln>
                <a:noFill/>
              </a:ln>
            </p:spPr>
          </p:sp>
        </p:grpSp>
        <p:sp>
          <p:nvSpPr>
            <p:cNvPr id="44" name="TextBox 44"/>
            <p:cNvSpPr txBox="1"/>
            <p:nvPr/>
          </p:nvSpPr>
          <p:spPr>
            <a:xfrm>
              <a:off x="1437132" y="5088255"/>
              <a:ext cx="7179859"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Không cần bấm like — hành vi nghe chính là phản hồi</a:t>
              </a:r>
              <a:endParaRPr lang="vi-VN" sz="2100" b="1" dirty="0">
                <a:solidFill>
                  <a:schemeClr val="dk1"/>
                </a:solidFill>
                <a:latin typeface="+mn-lt"/>
                <a:ea typeface="+mn-ea"/>
                <a:cs typeface="+mn-cs"/>
              </a:endParaRPr>
            </a:p>
          </p:txBody>
        </p:sp>
        <p:sp>
          <p:nvSpPr>
            <p:cNvPr id="45" name="TextBox 45"/>
            <p:cNvSpPr txBox="1"/>
            <p:nvPr/>
          </p:nvSpPr>
          <p:spPr>
            <a:xfrm>
              <a:off x="1438656" y="5463540"/>
              <a:ext cx="8273655" cy="352044"/>
            </a:xfrm>
            <a:prstGeom prst="rect">
              <a:avLst/>
            </a:prstGeom>
            <a:noFill/>
            <a:ln>
              <a:noFill/>
            </a:ln>
          </p:spPr>
          <p:txBody>
            <a:bodyPr wrap="none" lIns="0" tIns="0" rIns="0" bIns="0" anchor="t" anchorCtr="0">
              <a:spAutoFit/>
            </a:bodyPr>
            <a:lstStyle/>
            <a:p>
              <a:pPr algn="l"/>
              <a:r>
                <a:rPr lang="vi-VN" sz="1800" dirty="0">
                  <a:solidFill>
                    <a:schemeClr val="accent5"/>
                  </a:solidFill>
                  <a:latin typeface="+mn-lt"/>
                  <a:ea typeface="+mn-ea"/>
                  <a:cs typeface="+mn-cs"/>
                </a:rPr>
                <a:t>Điểm ghi theo cảm xúc dùng để chọn bài → lần sau ưu tiên bài được nghe hết</a:t>
              </a:r>
              <a:endParaRPr lang="vi-VN" sz="1800" dirty="0">
                <a:solidFill>
                  <a:schemeClr val="accent5"/>
                </a:solidFill>
                <a:latin typeface="+mn-lt"/>
                <a:ea typeface="+mn-ea"/>
                <a:cs typeface="+mn-cs"/>
              </a:endParaRPr>
            </a:p>
          </p:txBody>
        </p:sp>
        <p:sp>
          <p:nvSpPr>
            <p:cNvPr id="46" name="TextBox 46"/>
            <p:cNvSpPr txBox="1"/>
            <p:nvPr/>
          </p:nvSpPr>
          <p:spPr>
            <a:xfrm>
              <a:off x="1440942" y="5816918"/>
              <a:ext cx="3595938"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mn-lt"/>
                  <a:ea typeface="+mn-ea"/>
                  <a:cs typeface="+mn-cs"/>
                </a:rPr>
                <a:t>Góp ý của thầy ở buổi trước — nhóm đã làm</a:t>
              </a:r>
              <a:endParaRPr lang="vi-VN" sz="1350" dirty="0">
                <a:solidFill>
                  <a:schemeClr val="accent2"/>
                </a:solidFill>
                <a:latin typeface="+mn-lt"/>
                <a:ea typeface="+mn-ea"/>
                <a:cs typeface="+mn-cs"/>
              </a:endParaRPr>
            </a:p>
          </p:txBody>
        </p:sp>
      </p:grpSp>
      <p:sp>
        <p:nvSpPr>
          <p:cNvPr id="48" name="TextBox 48"/>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09 / 13</a:t>
            </a:r>
            <a:endParaRPr lang="vi-VN" sz="1200" dirty="0">
              <a:solidFill>
                <a:schemeClr val="accent5"/>
              </a:solidFill>
              <a:latin typeface="Consolas" panose="020B0609020204030204"/>
              <a:ea typeface="Consolas" panose="020B0609020204030204"/>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3522814" cy="849630"/>
            <a:chOff x="594360" y="422910"/>
            <a:chExt cx="3522814" cy="849630"/>
          </a:xfrm>
        </p:grpSpPr>
        <p:sp>
          <p:nvSpPr>
            <p:cNvPr id="2" name="TextBox 2"/>
            <p:cNvSpPr txBox="1"/>
            <p:nvPr/>
          </p:nvSpPr>
          <p:spPr>
            <a:xfrm>
              <a:off x="603504" y="422910"/>
              <a:ext cx="282854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PHẦN 3 · ĐIỂM HAY CỦA HỆ THỐNG</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3" name="TextBox 3"/>
            <p:cNvSpPr txBox="1"/>
            <p:nvPr/>
          </p:nvSpPr>
          <p:spPr>
            <a:xfrm>
              <a:off x="594360" y="685800"/>
              <a:ext cx="3522814"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Chăm sóc cảm xúc</a:t>
              </a:r>
              <a:endParaRPr lang="vi-VN" sz="3000" b="1" dirty="0">
                <a:solidFill>
                  <a:schemeClr val="dk1"/>
                </a:solidFill>
                <a:latin typeface="+mn-lt"/>
                <a:ea typeface="+mn-ea"/>
                <a:cs typeface="+mn-cs"/>
              </a:endParaRP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29" name="condition"/>
          <p:cNvGrpSpPr/>
          <p:nvPr/>
        </p:nvGrpSpPr>
        <p:grpSpPr>
          <a:xfrm>
            <a:off x="609600" y="1428750"/>
            <a:ext cx="6057900" cy="3562350"/>
            <a:chOff x="609600" y="1428750"/>
            <a:chExt cx="6057900" cy="3562350"/>
          </a:xfrm>
        </p:grpSpPr>
        <p:sp>
          <p:nvSpPr>
            <p:cNvPr id="11" name="Rectangle 11"/>
            <p:cNvSpPr/>
            <p:nvPr/>
          </p:nvSpPr>
          <p:spPr>
            <a:xfrm>
              <a:off x="609600" y="1428750"/>
              <a:ext cx="6057900" cy="3562350"/>
            </a:xfrm>
            <a:prstGeom prst="roundRect">
              <a:avLst>
                <a:gd name="adj" fmla="val 3209"/>
              </a:avLst>
            </a:prstGeom>
            <a:solidFill>
              <a:schemeClr val="lt2"/>
            </a:solidFill>
            <a:ln w="14288">
              <a:solidFill>
                <a:schemeClr val="accent6"/>
              </a:solidFill>
            </a:ln>
          </p:spPr>
        </p:sp>
        <p:sp>
          <p:nvSpPr>
            <p:cNvPr id="12" name="TextBox 12"/>
            <p:cNvSpPr txBox="1"/>
            <p:nvPr/>
          </p:nvSpPr>
          <p:spPr>
            <a:xfrm>
              <a:off x="832104" y="1623060"/>
              <a:ext cx="857098" cy="234696"/>
            </a:xfrm>
            <a:prstGeom prst="rect">
              <a:avLst/>
            </a:prstGeom>
            <a:noFill/>
            <a:ln>
              <a:noFill/>
            </a:ln>
          </p:spPr>
          <p:txBody>
            <a:bodyPr wrap="none" lIns="0" tIns="0" rIns="0" bIns="0" anchor="t" anchorCtr="0">
              <a:spAutoFit/>
            </a:bodyPr>
            <a:lstStyle/>
            <a:p>
              <a:pPr algn="l"/>
              <a:r>
                <a:rPr lang="vi-VN" sz="1200" dirty="0">
                  <a:solidFill>
                    <a:srgbClr val="4F8CFF"/>
                  </a:solidFill>
                  <a:latin typeface="Consolas" panose="020B0609020204030204"/>
                  <a:ea typeface="Consolas" panose="020B0609020204030204"/>
                  <a:cs typeface="Consolas" panose="020B0609020204030204"/>
                </a:rPr>
                <a:t>ĐIỀU KIỆN</a:t>
              </a:r>
              <a:endParaRPr lang="vi-VN" sz="1200" dirty="0">
                <a:solidFill>
                  <a:srgbClr val="4F8CFF"/>
                </a:solidFill>
                <a:latin typeface="Consolas" panose="020B0609020204030204"/>
                <a:ea typeface="Consolas" panose="020B0609020204030204"/>
                <a:cs typeface="Consolas" panose="020B0609020204030204"/>
              </a:endParaRPr>
            </a:p>
          </p:txBody>
        </p:sp>
        <p:sp>
          <p:nvSpPr>
            <p:cNvPr id="13" name="TextBox 13"/>
            <p:cNvSpPr txBox="1"/>
            <p:nvPr/>
          </p:nvSpPr>
          <p:spPr>
            <a:xfrm>
              <a:off x="829056" y="1920240"/>
              <a:ext cx="4614771" cy="675894"/>
            </a:xfrm>
            <a:prstGeom prst="rect">
              <a:avLst/>
            </a:prstGeom>
            <a:noFill/>
            <a:ln>
              <a:noFill/>
            </a:ln>
          </p:spPr>
          <p:txBody>
            <a:bodyPr wrap="none" lIns="0" tIns="0" rIns="0" bIns="0" anchor="t" anchorCtr="0">
              <a:spAutoFit/>
            </a:bodyPr>
            <a:lstStyle/>
            <a:p>
              <a:pPr algn="l">
                <a:lnSpc>
                  <a:spcPts val="2550"/>
                </a:lnSpc>
              </a:pPr>
              <a:r>
                <a:rPr lang="vi-VN" sz="1800" b="1" dirty="0">
                  <a:solidFill>
                    <a:srgbClr val="4F8CFF"/>
                  </a:solidFill>
                  <a:latin typeface="+mn-lt"/>
                  <a:ea typeface="+mn-ea"/>
                  <a:cs typeface="+mn-cs"/>
                </a:rPr>
                <a:t>Trên 50% là buồn</a:t>
              </a:r>
              <a:r>
                <a:rPr lang="vi-VN" sz="1800" dirty="0">
                  <a:solidFill>
                    <a:schemeClr val="dk1"/>
                  </a:solidFill>
                  <a:latin typeface="+mn-lt"/>
                  <a:ea typeface="+mn-ea"/>
                  <a:cs typeface="+mn-cs"/>
                </a:rPr>
                <a:t> trong 1 ngày (hoặc 3 ngày</a:t>
              </a:r>
              <a:br>
                <a:rPr lang="vi-VN" sz="1800" dirty="0">
                  <a:solidFill>
                    <a:schemeClr val="dk1"/>
                  </a:solidFill>
                  <a:latin typeface="+mn-lt"/>
                  <a:ea typeface="+mn-ea"/>
                  <a:cs typeface="+mn-cs"/>
                </a:rPr>
              </a:br>
              <a:r>
                <a:rPr lang="vi-VN" sz="1800" dirty="0">
                  <a:solidFill>
                    <a:schemeClr val="dk1"/>
                  </a:solidFill>
                  <a:latin typeface="+mn-lt"/>
                  <a:ea typeface="+mn-ea"/>
                  <a:cs typeface="+mn-cs"/>
                </a:rPr>
                <a:t>nếu dùng ít) </a:t>
              </a:r>
              <a:r>
                <a:rPr lang="vi-VN" sz="1800" b="1" dirty="0">
                  <a:solidFill>
                    <a:schemeClr val="dk1"/>
                  </a:solidFill>
                  <a:latin typeface="+mn-lt"/>
                  <a:ea typeface="+mn-ea"/>
                  <a:cs typeface="+mn-cs"/>
                </a:rPr>
                <a:t>và</a:t>
              </a:r>
              <a:r>
                <a:rPr lang="vi-VN" sz="1800" dirty="0">
                  <a:solidFill>
                    <a:schemeClr val="dk1"/>
                  </a:solidFill>
                  <a:latin typeface="+mn-lt"/>
                  <a:ea typeface="+mn-ea"/>
                  <a:cs typeface="+mn-cs"/>
                </a:rPr>
                <a:t> đang buồn/giận</a:t>
              </a:r>
              <a:endParaRPr lang="vi-VN" sz="1800" dirty="0">
                <a:solidFill>
                  <a:schemeClr val="dk1"/>
                </a:solidFill>
                <a:latin typeface="+mn-lt"/>
                <a:ea typeface="+mn-ea"/>
                <a:cs typeface="+mn-cs"/>
              </a:endParaRPr>
            </a:p>
          </p:txBody>
        </p:sp>
        <p:grpSp>
          <p:nvGrpSpPr>
            <p:cNvPr id="27" name="mood-trend"/>
            <p:cNvGrpSpPr/>
            <p:nvPr/>
          </p:nvGrpSpPr>
          <p:grpSpPr>
            <a:xfrm>
              <a:off x="831342" y="2857500"/>
              <a:ext cx="5607558" cy="1756601"/>
              <a:chOff x="831342" y="2857500"/>
              <a:chExt cx="5607558" cy="1756601"/>
            </a:xfrm>
          </p:grpSpPr>
          <p:sp>
            <p:nvSpPr>
              <p:cNvPr id="14" name="Rectangle 14"/>
              <p:cNvSpPr/>
              <p:nvPr/>
            </p:nvSpPr>
            <p:spPr>
              <a:xfrm>
                <a:off x="2981325" y="3810000"/>
                <a:ext cx="3457575" cy="800100"/>
              </a:xfrm>
              <a:prstGeom prst="roundRect">
                <a:avLst>
                  <a:gd name="adj" fmla="val 7143"/>
                </a:avLst>
              </a:prstGeom>
              <a:solidFill>
                <a:srgbClr val="4F8CFF">
                  <a:alpha val="14000"/>
                </a:srgbClr>
              </a:solidFill>
              <a:ln>
                <a:noFill/>
              </a:ln>
            </p:spPr>
          </p:sp>
          <p:sp>
            <p:nvSpPr>
              <p:cNvPr id="15" name="TextBox 15"/>
              <p:cNvSpPr txBox="1"/>
              <p:nvPr/>
            </p:nvSpPr>
            <p:spPr>
              <a:xfrm>
                <a:off x="831342" y="2959418"/>
                <a:ext cx="247630" cy="264033"/>
              </a:xfrm>
              <a:prstGeom prst="rect">
                <a:avLst/>
              </a:prstGeom>
              <a:noFill/>
              <a:ln>
                <a:noFill/>
              </a:ln>
            </p:spPr>
            <p:txBody>
              <a:bodyPr wrap="none" lIns="0" tIns="0" rIns="0" bIns="0" anchor="t" anchorCtr="0">
                <a:spAutoFit/>
              </a:bodyPr>
              <a:lstStyle/>
              <a:p>
                <a:pPr algn="l"/>
                <a:r>
                  <a:rPr lang="vi-VN" sz="1350" dirty="0">
                    <a:solidFill>
                      <a:schemeClr val="accent2"/>
                    </a:solidFill>
                    <a:latin typeface="+mn-lt"/>
                    <a:ea typeface="+mn-ea"/>
                    <a:cs typeface="+mn-cs"/>
                  </a:rPr>
                  <a:t>vui</a:t>
                </a:r>
                <a:endParaRPr lang="vi-VN" sz="1350" dirty="0">
                  <a:solidFill>
                    <a:schemeClr val="accent2"/>
                  </a:solidFill>
                  <a:latin typeface="+mn-lt"/>
                  <a:ea typeface="+mn-ea"/>
                  <a:cs typeface="+mn-cs"/>
                </a:endParaRPr>
              </a:p>
            </p:txBody>
          </p:sp>
          <p:sp>
            <p:nvSpPr>
              <p:cNvPr id="16" name="TextBox 16"/>
              <p:cNvSpPr txBox="1"/>
              <p:nvPr/>
            </p:nvSpPr>
            <p:spPr>
              <a:xfrm>
                <a:off x="831342" y="4350068"/>
                <a:ext cx="432729" cy="264033"/>
              </a:xfrm>
              <a:prstGeom prst="rect">
                <a:avLst/>
              </a:prstGeom>
              <a:noFill/>
              <a:ln>
                <a:noFill/>
              </a:ln>
            </p:spPr>
            <p:txBody>
              <a:bodyPr wrap="none" lIns="0" tIns="0" rIns="0" bIns="0" anchor="t" anchorCtr="0">
                <a:spAutoFit/>
              </a:bodyPr>
              <a:lstStyle/>
              <a:p>
                <a:pPr algn="l"/>
                <a:r>
                  <a:rPr lang="vi-VN" sz="1350" dirty="0">
                    <a:solidFill>
                      <a:srgbClr val="4F8CFF"/>
                    </a:solidFill>
                    <a:latin typeface="+mn-lt"/>
                    <a:ea typeface="+mn-ea"/>
                    <a:cs typeface="+mn-cs"/>
                  </a:rPr>
                  <a:t>buồn</a:t>
                </a:r>
                <a:endParaRPr lang="vi-VN" sz="1350" dirty="0">
                  <a:solidFill>
                    <a:srgbClr val="4F8CFF"/>
                  </a:solidFill>
                  <a:latin typeface="+mn-lt"/>
                  <a:ea typeface="+mn-ea"/>
                  <a:cs typeface="+mn-cs"/>
                </a:endParaRPr>
              </a:p>
            </p:txBody>
          </p:sp>
          <p:sp>
            <p:nvSpPr>
              <p:cNvPr id="17" name="Line 17"/>
              <p:cNvSpPr/>
              <p:nvPr/>
            </p:nvSpPr>
            <p:spPr>
              <a:xfrm>
                <a:off x="1333500" y="2857500"/>
                <a:ext cx="9525" cy="1752600"/>
              </a:xfrm>
              <a:custGeom>
                <a:avLst/>
                <a:gdLst/>
                <a:ahLst/>
                <a:cxnLst/>
                <a:rect l="l" t="t" r="r" b="b"/>
                <a:pathLst>
                  <a:path w="9525" h="1752600">
                    <a:moveTo>
                      <a:pt x="0" y="0"/>
                    </a:moveTo>
                    <a:lnTo>
                      <a:pt x="0" y="1752600"/>
                    </a:lnTo>
                  </a:path>
                </a:pathLst>
              </a:custGeom>
              <a:noFill/>
              <a:ln w="14288">
                <a:solidFill>
                  <a:schemeClr val="accent6"/>
                </a:solidFill>
              </a:ln>
            </p:spPr>
          </p:sp>
          <p:sp>
            <p:nvSpPr>
              <p:cNvPr id="18" name="Polyline 18"/>
              <p:cNvSpPr/>
              <p:nvPr/>
            </p:nvSpPr>
            <p:spPr>
              <a:xfrm>
                <a:off x="1333500" y="3048000"/>
                <a:ext cx="4953000" cy="1352550"/>
              </a:xfrm>
              <a:custGeom>
                <a:avLst/>
                <a:gdLst/>
                <a:ahLst/>
                <a:cxnLst/>
                <a:rect l="l" t="t" r="r" b="b"/>
                <a:pathLst>
                  <a:path w="4953000" h="1352550">
                    <a:moveTo>
                      <a:pt x="0" y="0"/>
                    </a:moveTo>
                    <a:lnTo>
                      <a:pt x="828675" y="190500"/>
                    </a:lnTo>
                    <a:lnTo>
                      <a:pt x="1647825" y="990600"/>
                    </a:lnTo>
                    <a:lnTo>
                      <a:pt x="2476500" y="1257300"/>
                    </a:lnTo>
                    <a:lnTo>
                      <a:pt x="3305175" y="1143000"/>
                    </a:lnTo>
                    <a:lnTo>
                      <a:pt x="4124325" y="1352550"/>
                    </a:lnTo>
                    <a:lnTo>
                      <a:pt x="4953000" y="1295400"/>
                    </a:lnTo>
                  </a:path>
                </a:pathLst>
              </a:custGeom>
              <a:noFill/>
              <a:ln w="23812">
                <a:solidFill>
                  <a:srgbClr val="8B95AD"/>
                </a:solidFill>
              </a:ln>
            </p:spPr>
          </p:sp>
          <p:sp>
            <p:nvSpPr>
              <p:cNvPr id="19" name="Ellipse 19"/>
              <p:cNvSpPr/>
              <p:nvPr/>
            </p:nvSpPr>
            <p:spPr>
              <a:xfrm>
                <a:off x="1266825" y="2981325"/>
                <a:ext cx="133350" cy="133350"/>
              </a:xfrm>
              <a:prstGeom prst="ellipse">
                <a:avLst/>
              </a:prstGeom>
              <a:solidFill>
                <a:schemeClr val="accent2"/>
              </a:solidFill>
              <a:ln>
                <a:noFill/>
              </a:ln>
            </p:spPr>
          </p:sp>
          <p:sp>
            <p:nvSpPr>
              <p:cNvPr id="20" name="Ellipse 20"/>
              <p:cNvSpPr/>
              <p:nvPr/>
            </p:nvSpPr>
            <p:spPr>
              <a:xfrm>
                <a:off x="2095500" y="3171825"/>
                <a:ext cx="133350" cy="133350"/>
              </a:xfrm>
              <a:prstGeom prst="ellipse">
                <a:avLst/>
              </a:prstGeom>
              <a:solidFill>
                <a:schemeClr val="accent2"/>
              </a:solidFill>
              <a:ln>
                <a:noFill/>
              </a:ln>
            </p:spPr>
          </p:sp>
          <p:sp>
            <p:nvSpPr>
              <p:cNvPr id="21" name="Ellipse 21"/>
              <p:cNvSpPr/>
              <p:nvPr/>
            </p:nvSpPr>
            <p:spPr>
              <a:xfrm>
                <a:off x="2914650" y="3971925"/>
                <a:ext cx="133350" cy="133350"/>
              </a:xfrm>
              <a:prstGeom prst="ellipse">
                <a:avLst/>
              </a:prstGeom>
              <a:solidFill>
                <a:srgbClr val="4F8CFF"/>
              </a:solidFill>
              <a:ln>
                <a:noFill/>
              </a:ln>
            </p:spPr>
          </p:sp>
          <p:sp>
            <p:nvSpPr>
              <p:cNvPr id="22" name="Ellipse 22"/>
              <p:cNvSpPr/>
              <p:nvPr/>
            </p:nvSpPr>
            <p:spPr>
              <a:xfrm>
                <a:off x="3743325" y="4238625"/>
                <a:ext cx="133350" cy="133350"/>
              </a:xfrm>
              <a:prstGeom prst="ellipse">
                <a:avLst/>
              </a:prstGeom>
              <a:solidFill>
                <a:srgbClr val="4F8CFF"/>
              </a:solidFill>
              <a:ln>
                <a:noFill/>
              </a:ln>
            </p:spPr>
          </p:sp>
          <p:sp>
            <p:nvSpPr>
              <p:cNvPr id="23" name="Ellipse 23"/>
              <p:cNvSpPr/>
              <p:nvPr/>
            </p:nvSpPr>
            <p:spPr>
              <a:xfrm>
                <a:off x="4572000" y="4124325"/>
                <a:ext cx="133350" cy="133350"/>
              </a:xfrm>
              <a:prstGeom prst="ellipse">
                <a:avLst/>
              </a:prstGeom>
              <a:solidFill>
                <a:srgbClr val="FF5A5F"/>
              </a:solidFill>
              <a:ln>
                <a:noFill/>
              </a:ln>
            </p:spPr>
          </p:sp>
          <p:sp>
            <p:nvSpPr>
              <p:cNvPr id="24" name="Ellipse 24"/>
              <p:cNvSpPr/>
              <p:nvPr/>
            </p:nvSpPr>
            <p:spPr>
              <a:xfrm>
                <a:off x="5391150" y="4333875"/>
                <a:ext cx="133350" cy="133350"/>
              </a:xfrm>
              <a:prstGeom prst="ellipse">
                <a:avLst/>
              </a:prstGeom>
              <a:solidFill>
                <a:srgbClr val="4F8CFF"/>
              </a:solidFill>
              <a:ln>
                <a:noFill/>
              </a:ln>
            </p:spPr>
          </p:sp>
          <p:sp>
            <p:nvSpPr>
              <p:cNvPr id="25" name="Ellipse 25"/>
              <p:cNvSpPr/>
              <p:nvPr/>
            </p:nvSpPr>
            <p:spPr>
              <a:xfrm>
                <a:off x="6219825" y="4276725"/>
                <a:ext cx="133350" cy="133350"/>
              </a:xfrm>
              <a:prstGeom prst="ellipse">
                <a:avLst/>
              </a:prstGeom>
              <a:solidFill>
                <a:srgbClr val="4F8CFF"/>
              </a:solidFill>
              <a:ln>
                <a:noFill/>
              </a:ln>
            </p:spPr>
          </p:sp>
          <p:sp>
            <p:nvSpPr>
              <p:cNvPr id="26" name="TextBox 26"/>
              <p:cNvSpPr txBox="1"/>
              <p:nvPr/>
            </p:nvSpPr>
            <p:spPr>
              <a:xfrm>
                <a:off x="4166159" y="3604260"/>
                <a:ext cx="1078382" cy="234696"/>
              </a:xfrm>
              <a:prstGeom prst="rect">
                <a:avLst/>
              </a:prstGeom>
              <a:noFill/>
              <a:ln>
                <a:noFill/>
              </a:ln>
            </p:spPr>
            <p:txBody>
              <a:bodyPr wrap="none" lIns="0" tIns="0" rIns="0" bIns="0" anchor="t" anchorCtr="0">
                <a:spAutoFit/>
              </a:bodyPr>
              <a:lstStyle/>
              <a:p>
                <a:pPr algn="ctr"/>
                <a:r>
                  <a:rPr lang="vi-VN" sz="1200" dirty="0">
                    <a:solidFill>
                      <a:srgbClr val="4F8CFF"/>
                    </a:solidFill>
                    <a:latin typeface="Consolas" panose="020B0609020204030204"/>
                    <a:ea typeface="Consolas" panose="020B0609020204030204"/>
                    <a:cs typeface="Consolas" panose="020B0609020204030204"/>
                  </a:rPr>
                  <a:t>chủ yếu buồn</a:t>
                </a:r>
                <a:endParaRPr lang="vi-VN" sz="1200" dirty="0">
                  <a:solidFill>
                    <a:srgbClr val="4F8CFF"/>
                  </a:solidFill>
                  <a:latin typeface="Consolas" panose="020B0609020204030204"/>
                  <a:ea typeface="Consolas" panose="020B0609020204030204"/>
                  <a:cs typeface="Consolas" panose="020B0609020204030204"/>
                </a:endParaRPr>
              </a:p>
            </p:txBody>
          </p:sp>
        </p:grpSp>
        <p:sp>
          <p:nvSpPr>
            <p:cNvPr id="28" name="TextBox 28"/>
            <p:cNvSpPr txBox="1"/>
            <p:nvPr/>
          </p:nvSpPr>
          <p:spPr>
            <a:xfrm>
              <a:off x="832866" y="4763452"/>
              <a:ext cx="1818842" cy="205359"/>
            </a:xfrm>
            <a:prstGeom prst="rect">
              <a:avLst/>
            </a:prstGeom>
            <a:noFill/>
            <a:ln>
              <a:noFill/>
            </a:ln>
          </p:spPr>
          <p:txBody>
            <a:bodyPr wrap="none" lIns="0" tIns="0" rIns="0" bIns="0" anchor="t" anchorCtr="0">
              <a:spAutoFit/>
            </a:bodyPr>
            <a:lstStyle/>
            <a:p>
              <a:pPr algn="l"/>
              <a:r>
                <a:rPr lang="vi-VN" sz="1050" dirty="0">
                  <a:solidFill>
                    <a:schemeClr val="accent5"/>
                  </a:solidFill>
                  <a:latin typeface="+mn-lt"/>
                  <a:ea typeface="+mn-ea"/>
                  <a:cs typeface="+mn-cs"/>
                </a:rPr>
                <a:t>Dữ liệu minh họa · theo ngày</a:t>
              </a:r>
              <a:endParaRPr lang="vi-VN" sz="1050" dirty="0">
                <a:solidFill>
                  <a:schemeClr val="accent5"/>
                </a:solidFill>
                <a:latin typeface="+mn-lt"/>
                <a:ea typeface="+mn-ea"/>
                <a:cs typeface="+mn-cs"/>
              </a:endParaRPr>
            </a:p>
          </p:txBody>
        </p:sp>
      </p:grpSp>
      <p:grpSp>
        <p:nvGrpSpPr>
          <p:cNvPr id="31" name="cause-link"/>
          <p:cNvGrpSpPr/>
          <p:nvPr/>
        </p:nvGrpSpPr>
        <p:grpSpPr>
          <a:xfrm>
            <a:off x="6743700" y="3200400"/>
            <a:ext cx="609600" cy="1"/>
            <a:chOff x="6743700" y="3200400"/>
            <a:chExt cx="609600" cy="1"/>
          </a:xfrm>
        </p:grpSpPr>
        <p:sp>
          <p:nvSpPr>
            <p:cNvPr id="30" name="Line 30"/>
            <p:cNvSpPr/>
            <p:nvPr/>
          </p:nvSpPr>
          <p:spPr>
            <a:xfrm>
              <a:off x="6743700" y="3200400"/>
              <a:ext cx="609600" cy="1"/>
            </a:xfrm>
            <a:prstGeom prst="line">
              <a:avLst/>
            </a:prstGeom>
            <a:noFill/>
            <a:ln w="28575">
              <a:solidFill>
                <a:schemeClr val="accent2"/>
              </a:solidFill>
              <a:tailEnd type="triangle" w="lg" len="lg"/>
            </a:ln>
          </p:spPr>
        </p:sp>
      </p:grpSp>
      <p:grpSp>
        <p:nvGrpSpPr>
          <p:cNvPr id="39" name="action"/>
          <p:cNvGrpSpPr/>
          <p:nvPr/>
        </p:nvGrpSpPr>
        <p:grpSpPr>
          <a:xfrm>
            <a:off x="7429500" y="2247900"/>
            <a:ext cx="4152900" cy="1905000"/>
            <a:chOff x="7429500" y="2247900"/>
            <a:chExt cx="4152900" cy="1905000"/>
          </a:xfrm>
        </p:grpSpPr>
        <p:sp>
          <p:nvSpPr>
            <p:cNvPr id="32" name="Rectangle 32"/>
            <p:cNvSpPr/>
            <p:nvPr/>
          </p:nvSpPr>
          <p:spPr>
            <a:xfrm>
              <a:off x="7429500" y="2247900"/>
              <a:ext cx="4152900" cy="1905000"/>
            </a:xfrm>
            <a:prstGeom prst="roundRect">
              <a:avLst>
                <a:gd name="adj" fmla="val 6000"/>
              </a:avLst>
            </a:prstGeom>
            <a:solidFill>
              <a:schemeClr val="accent2">
                <a:alpha val="10000"/>
              </a:schemeClr>
            </a:solidFill>
            <a:ln w="19050">
              <a:solidFill>
                <a:schemeClr val="accent2"/>
              </a:solidFill>
            </a:ln>
          </p:spPr>
        </p:sp>
        <p:grpSp>
          <p:nvGrpSpPr>
            <p:cNvPr id="35" name="Group 35"/>
            <p:cNvGrpSpPr/>
            <p:nvPr/>
          </p:nvGrpSpPr>
          <p:grpSpPr>
            <a:xfrm>
              <a:off x="7724775" y="2566988"/>
              <a:ext cx="400050" cy="343388"/>
              <a:chOff x="7724775" y="2566988"/>
              <a:chExt cx="400050" cy="343388"/>
            </a:xfrm>
          </p:grpSpPr>
          <p:sp>
            <p:nvSpPr>
              <p:cNvPr id="33" name="Freeform 33"/>
              <p:cNvSpPr/>
              <p:nvPr/>
            </p:nvSpPr>
            <p:spPr>
              <a:xfrm>
                <a:off x="7739062" y="2581275"/>
                <a:ext cx="371475" cy="314325"/>
              </a:xfrm>
              <a:custGeom>
                <a:avLst/>
                <a:gdLst/>
                <a:ahLst/>
                <a:cxnLst/>
                <a:rect l="l" t="t" r="r" b="b"/>
                <a:pathLst>
                  <a:path w="371475" h="314325">
                    <a:moveTo>
                      <a:pt x="371475" y="96441"/>
                    </a:moveTo>
                    <a:cubicBezTo>
                      <a:pt x="371475" y="214312"/>
                      <a:pt x="185738" y="314325"/>
                      <a:pt x="185738" y="314325"/>
                    </a:cubicBezTo>
                    <a:cubicBezTo>
                      <a:pt x="185738" y="314325"/>
                      <a:pt x="0" y="214312"/>
                      <a:pt x="0" y="96441"/>
                    </a:cubicBezTo>
                    <a:cubicBezTo>
                      <a:pt x="0" y="43178"/>
                      <a:pt x="43178" y="0"/>
                      <a:pt x="96441" y="0"/>
                    </a:cubicBezTo>
                    <a:cubicBezTo>
                      <a:pt x="136785" y="0"/>
                      <a:pt x="171343" y="21985"/>
                      <a:pt x="185738" y="57150"/>
                    </a:cubicBezTo>
                    <a:cubicBezTo>
                      <a:pt x="200132" y="21985"/>
                      <a:pt x="234690" y="0"/>
                      <a:pt x="275034" y="0"/>
                    </a:cubicBezTo>
                    <a:cubicBezTo>
                      <a:pt x="328297" y="0"/>
                      <a:pt x="371475" y="43178"/>
                      <a:pt x="371475" y="96441"/>
                    </a:cubicBezTo>
                    <a:close/>
                  </a:path>
                </a:pathLst>
              </a:custGeom>
              <a:solidFill>
                <a:schemeClr val="accent2">
                  <a:alpha val="20000"/>
                </a:schemeClr>
              </a:solidFill>
              <a:ln>
                <a:noFill/>
              </a:ln>
            </p:spPr>
          </p:sp>
          <p:sp>
            <p:nvSpPr>
              <p:cNvPr id="34" name="Freeform 34"/>
              <p:cNvSpPr/>
              <p:nvPr/>
            </p:nvSpPr>
            <p:spPr>
              <a:xfrm>
                <a:off x="7724775" y="2566988"/>
                <a:ext cx="400050" cy="343388"/>
              </a:xfrm>
              <a:custGeom>
                <a:avLst/>
                <a:gdLst/>
                <a:ahLst/>
                <a:cxnLst/>
                <a:rect l="l" t="t" r="r" b="b"/>
                <a:pathLst>
                  <a:path w="400050" h="343388">
                    <a:moveTo>
                      <a:pt x="289322" y="0"/>
                    </a:moveTo>
                    <a:cubicBezTo>
                      <a:pt x="252442" y="0"/>
                      <a:pt x="220153" y="15859"/>
                      <a:pt x="200025" y="42666"/>
                    </a:cubicBezTo>
                    <a:cubicBezTo>
                      <a:pt x="179897" y="15859"/>
                      <a:pt x="147608" y="0"/>
                      <a:pt x="110728" y="0"/>
                    </a:cubicBezTo>
                    <a:cubicBezTo>
                      <a:pt x="49603" y="69"/>
                      <a:pt x="69" y="49603"/>
                      <a:pt x="0" y="110728"/>
                    </a:cubicBezTo>
                    <a:cubicBezTo>
                      <a:pt x="0" y="235744"/>
                      <a:pt x="185362" y="336935"/>
                      <a:pt x="193256" y="341114"/>
                    </a:cubicBezTo>
                    <a:cubicBezTo>
                      <a:pt x="197482" y="343388"/>
                      <a:pt x="202568" y="343388"/>
                      <a:pt x="206794" y="341114"/>
                    </a:cubicBezTo>
                    <a:cubicBezTo>
                      <a:pt x="214688" y="336935"/>
                      <a:pt x="400050" y="235744"/>
                      <a:pt x="400050" y="110728"/>
                    </a:cubicBezTo>
                    <a:cubicBezTo>
                      <a:pt x="399981" y="49603"/>
                      <a:pt x="350447" y="69"/>
                      <a:pt x="289322" y="0"/>
                    </a:cubicBezTo>
                    <a:close/>
                    <a:moveTo>
                      <a:pt x="200025" y="312182"/>
                    </a:moveTo>
                    <a:cubicBezTo>
                      <a:pt x="167414" y="293179"/>
                      <a:pt x="28575" y="206615"/>
                      <a:pt x="28575" y="110728"/>
                    </a:cubicBezTo>
                    <a:cubicBezTo>
                      <a:pt x="28634" y="65381"/>
                      <a:pt x="65381" y="28634"/>
                      <a:pt x="110728" y="28575"/>
                    </a:cubicBezTo>
                    <a:cubicBezTo>
                      <a:pt x="145465" y="28575"/>
                      <a:pt x="174629" y="47077"/>
                      <a:pt x="186809" y="76795"/>
                    </a:cubicBezTo>
                    <a:cubicBezTo>
                      <a:pt x="189011" y="82155"/>
                      <a:pt x="194231" y="85654"/>
                      <a:pt x="200025" y="85654"/>
                    </a:cubicBezTo>
                    <a:cubicBezTo>
                      <a:pt x="205819" y="85654"/>
                      <a:pt x="211039" y="82155"/>
                      <a:pt x="213241" y="76795"/>
                    </a:cubicBezTo>
                    <a:cubicBezTo>
                      <a:pt x="225421" y="47024"/>
                      <a:pt x="254585" y="28575"/>
                      <a:pt x="289322" y="28575"/>
                    </a:cubicBezTo>
                    <a:cubicBezTo>
                      <a:pt x="334669" y="28634"/>
                      <a:pt x="371416" y="65381"/>
                      <a:pt x="371475" y="110728"/>
                    </a:cubicBezTo>
                    <a:cubicBezTo>
                      <a:pt x="371475" y="206472"/>
                      <a:pt x="232600" y="293162"/>
                      <a:pt x="200025" y="312182"/>
                    </a:cubicBezTo>
                    <a:close/>
                  </a:path>
                </a:pathLst>
              </a:custGeom>
              <a:solidFill>
                <a:schemeClr val="accent2"/>
              </a:solidFill>
              <a:ln>
                <a:noFill/>
              </a:ln>
            </p:spPr>
          </p:sp>
        </p:grpSp>
        <p:sp>
          <p:nvSpPr>
            <p:cNvPr id="36" name="TextBox 36"/>
            <p:cNvSpPr txBox="1"/>
            <p:nvPr/>
          </p:nvSpPr>
          <p:spPr>
            <a:xfrm>
              <a:off x="8299704" y="2670810"/>
              <a:ext cx="857098" cy="234696"/>
            </a:xfrm>
            <a:prstGeom prst="rect">
              <a:avLst/>
            </a:prstGeom>
            <a:noFill/>
            <a:ln>
              <a:noFill/>
            </a:ln>
          </p:spPr>
          <p:txBody>
            <a:bodyPr wrap="none" lIns="0" tIns="0" rIns="0" bIns="0" anchor="t" anchorCtr="0">
              <a:spAutoFit/>
            </a:bodyPr>
            <a:lstStyle/>
            <a:p>
              <a:pPr algn="l"/>
              <a:r>
                <a:rPr lang="vi-VN" sz="1200" dirty="0">
                  <a:solidFill>
                    <a:schemeClr val="accent2"/>
                  </a:solidFill>
                  <a:latin typeface="Consolas" panose="020B0609020204030204"/>
                  <a:ea typeface="Consolas" panose="020B0609020204030204"/>
                  <a:cs typeface="Consolas" panose="020B0609020204030204"/>
                </a:rPr>
                <a:t>HÀNH ĐỘNG</a:t>
              </a:r>
              <a:endParaRPr lang="vi-VN" sz="1200" dirty="0">
                <a:solidFill>
                  <a:schemeClr val="accent2"/>
                </a:solidFill>
                <a:latin typeface="Consolas" panose="020B0609020204030204"/>
                <a:ea typeface="Consolas" panose="020B0609020204030204"/>
                <a:cs typeface="Consolas" panose="020B0609020204030204"/>
              </a:endParaRPr>
            </a:p>
          </p:txBody>
        </p:sp>
        <p:sp>
          <p:nvSpPr>
            <p:cNvPr id="37" name="TextBox 37"/>
            <p:cNvSpPr txBox="1"/>
            <p:nvPr/>
          </p:nvSpPr>
          <p:spPr>
            <a:xfrm>
              <a:off x="7685532" y="3202305"/>
              <a:ext cx="291483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Chuyển sang nhạc vui</a:t>
              </a:r>
              <a:endParaRPr lang="vi-VN" sz="2100" b="1" dirty="0">
                <a:solidFill>
                  <a:schemeClr val="dk1"/>
                </a:solidFill>
                <a:latin typeface="+mn-lt"/>
                <a:ea typeface="+mn-ea"/>
                <a:cs typeface="+mn-cs"/>
              </a:endParaRPr>
            </a:p>
          </p:txBody>
        </p:sp>
        <p:sp>
          <p:nvSpPr>
            <p:cNvPr id="38" name="TextBox 38"/>
            <p:cNvSpPr txBox="1"/>
            <p:nvPr/>
          </p:nvSpPr>
          <p:spPr>
            <a:xfrm>
              <a:off x="7687056" y="3615690"/>
              <a:ext cx="2171678"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 hiện lời động viên</a:t>
              </a:r>
              <a:endParaRPr lang="vi-VN" sz="1800" dirty="0">
                <a:solidFill>
                  <a:schemeClr val="dk1"/>
                </a:solidFill>
                <a:latin typeface="+mn-lt"/>
                <a:ea typeface="+mn-ea"/>
                <a:cs typeface="+mn-cs"/>
              </a:endParaRPr>
            </a:p>
          </p:txBody>
        </p:sp>
      </p:grpSp>
      <p:grpSp>
        <p:nvGrpSpPr>
          <p:cNvPr id="42" name="takeaway"/>
          <p:cNvGrpSpPr/>
          <p:nvPr/>
        </p:nvGrpSpPr>
        <p:grpSpPr>
          <a:xfrm>
            <a:off x="609600" y="5334000"/>
            <a:ext cx="10972800" cy="622173"/>
            <a:chOff x="609600" y="5334000"/>
            <a:chExt cx="10972800" cy="622173"/>
          </a:xfrm>
        </p:grpSpPr>
        <p:sp>
          <p:nvSpPr>
            <p:cNvPr id="40" name="Line 40"/>
            <p:cNvSpPr/>
            <p:nvPr/>
          </p:nvSpPr>
          <p:spPr>
            <a:xfrm>
              <a:off x="609600" y="5334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1" name="TextBox 41"/>
            <p:cNvSpPr txBox="1"/>
            <p:nvPr/>
          </p:nvSpPr>
          <p:spPr>
            <a:xfrm>
              <a:off x="2110282" y="5545455"/>
              <a:ext cx="7971436" cy="410718"/>
            </a:xfrm>
            <a:prstGeom prst="rect">
              <a:avLst/>
            </a:prstGeom>
            <a:noFill/>
            <a:ln>
              <a:noFill/>
            </a:ln>
          </p:spPr>
          <p:txBody>
            <a:bodyPr wrap="none" lIns="0" tIns="0" rIns="0" bIns="0" anchor="t" anchorCtr="0">
              <a:spAutoFit/>
            </a:bodyPr>
            <a:lstStyle/>
            <a:p>
              <a:pPr algn="ctr"/>
              <a:r>
                <a:rPr lang="vi-VN" sz="2100" dirty="0">
                  <a:solidFill>
                    <a:schemeClr val="dk1"/>
                  </a:solidFill>
                  <a:latin typeface="+mn-lt"/>
                  <a:ea typeface="+mn-ea"/>
                  <a:cs typeface="+mn-cs"/>
                </a:rPr>
                <a:t>Không chỉ chiều theo cảm xúc — </a:t>
              </a:r>
              <a:r>
                <a:rPr lang="vi-VN" sz="2100" b="1" dirty="0">
                  <a:solidFill>
                    <a:schemeClr val="accent2"/>
                  </a:solidFill>
                  <a:latin typeface="+mn-lt"/>
                  <a:ea typeface="+mn-ea"/>
                  <a:cs typeface="+mn-cs"/>
                </a:rPr>
                <a:t>còn giúp cải thiện tâm trạng</a:t>
              </a:r>
              <a:endParaRPr lang="vi-VN" sz="2100" b="1" dirty="0">
                <a:solidFill>
                  <a:schemeClr val="accent2"/>
                </a:solidFill>
                <a:latin typeface="+mn-lt"/>
                <a:ea typeface="+mn-ea"/>
                <a:cs typeface="+mn-cs"/>
              </a:endParaRPr>
            </a:p>
          </p:txBody>
        </p:sp>
      </p:grpSp>
      <p:sp>
        <p:nvSpPr>
          <p:cNvPr id="43" name="TextBox 43"/>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10 / 13</a:t>
            </a:r>
            <a:endParaRPr lang="vi-VN" sz="1200" dirty="0">
              <a:solidFill>
                <a:schemeClr val="accent5"/>
              </a:solidFill>
              <a:latin typeface="Consolas" panose="020B0609020204030204"/>
              <a:ea typeface="Consolas" panose="020B0609020204030204"/>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594360" y="422910"/>
            <a:ext cx="9025890" cy="849630"/>
            <a:chOff x="594360" y="422910"/>
            <a:chExt cx="9025890" cy="849630"/>
          </a:xfrm>
        </p:grpSpPr>
        <p:sp>
          <p:nvSpPr>
            <p:cNvPr id="2" name="TextBox 2"/>
            <p:cNvSpPr txBox="1"/>
            <p:nvPr/>
          </p:nvSpPr>
          <p:spPr>
            <a:xfrm>
              <a:off x="603504" y="422910"/>
              <a:ext cx="282854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PHẦN 3 · ĐIỂM HAY CỦA HỆ THỐNG</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3" name="TextBox 3"/>
            <p:cNvSpPr txBox="1"/>
            <p:nvPr/>
          </p:nvSpPr>
          <p:spPr>
            <a:xfrm>
              <a:off x="594360" y="685800"/>
              <a:ext cx="5579085"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Phần cứng &amp; tương tác vật lý</a:t>
              </a:r>
              <a:endParaRPr lang="vi-VN" sz="3000" b="1" dirty="0">
                <a:solidFill>
                  <a:schemeClr val="dk1"/>
                </a:solidFill>
                <a:latin typeface="+mn-lt"/>
                <a:ea typeface="+mn-ea"/>
                <a:cs typeface="+mn-cs"/>
              </a:endParaRPr>
            </a:p>
          </p:txBody>
        </p:sp>
        <p:sp>
          <p:nvSpPr>
            <p:cNvPr id="4" name="Rectangle 4"/>
            <p:cNvSpPr/>
            <p:nvPr/>
          </p:nvSpPr>
          <p:spPr>
            <a:xfrm>
              <a:off x="6477000" y="762000"/>
              <a:ext cx="3143250" cy="342900"/>
            </a:xfrm>
            <a:prstGeom prst="roundRect">
              <a:avLst>
                <a:gd name="adj" fmla="val 50000"/>
              </a:avLst>
            </a:prstGeom>
            <a:solidFill>
              <a:schemeClr val="accent2">
                <a:alpha val="12000"/>
              </a:schemeClr>
            </a:solidFill>
            <a:ln w="14288">
              <a:solidFill>
                <a:schemeClr val="accent2"/>
              </a:solidFill>
            </a:ln>
          </p:spPr>
        </p:sp>
        <p:sp>
          <p:nvSpPr>
            <p:cNvPr id="5" name="TextBox 5"/>
            <p:cNvSpPr txBox="1"/>
            <p:nvPr/>
          </p:nvSpPr>
          <p:spPr>
            <a:xfrm>
              <a:off x="6514494" y="844868"/>
              <a:ext cx="3068263" cy="264033"/>
            </a:xfrm>
            <a:prstGeom prst="rect">
              <a:avLst/>
            </a:prstGeom>
            <a:noFill/>
            <a:ln>
              <a:noFill/>
            </a:ln>
          </p:spPr>
          <p:txBody>
            <a:bodyPr wrap="none" lIns="0" tIns="0" rIns="0" bIns="0" anchor="t" anchorCtr="0">
              <a:spAutoFit/>
            </a:bodyPr>
            <a:lstStyle/>
            <a:p>
              <a:pPr algn="ctr"/>
              <a:r>
                <a:rPr lang="vi-VN" sz="1350" dirty="0">
                  <a:solidFill>
                    <a:schemeClr val="accent2"/>
                  </a:solidFill>
                  <a:latin typeface="+mn-lt"/>
                  <a:ea typeface="+mn-ea"/>
                  <a:cs typeface="+mn-cs"/>
                </a:rPr>
                <a:t>Thiết kế &amp; code xong · đang lắp mạch</a:t>
              </a:r>
              <a:endParaRPr lang="vi-VN" sz="1350" dirty="0">
                <a:solidFill>
                  <a:schemeClr val="accent2"/>
                </a:solidFill>
                <a:latin typeface="+mn-lt"/>
                <a:ea typeface="+mn-ea"/>
                <a:cs typeface="+mn-cs"/>
              </a:endParaRPr>
            </a:p>
          </p:txBody>
        </p:sp>
      </p:grpSp>
      <p:grpSp>
        <p:nvGrpSpPr>
          <p:cNvPr id="12" name="led-motif"/>
          <p:cNvGrpSpPr/>
          <p:nvPr/>
        </p:nvGrpSpPr>
        <p:grpSpPr>
          <a:xfrm>
            <a:off x="10534650" y="533400"/>
            <a:ext cx="1028700" cy="114300"/>
            <a:chOff x="10534650" y="533400"/>
            <a:chExt cx="1028700" cy="114300"/>
          </a:xfrm>
        </p:grpSpPr>
        <p:sp>
          <p:nvSpPr>
            <p:cNvPr id="7" name="Ellipse 7"/>
            <p:cNvSpPr/>
            <p:nvPr/>
          </p:nvSpPr>
          <p:spPr>
            <a:xfrm>
              <a:off x="10534650" y="533400"/>
              <a:ext cx="114300" cy="114300"/>
            </a:xfrm>
            <a:prstGeom prst="ellipse">
              <a:avLst/>
            </a:prstGeom>
            <a:solidFill>
              <a:schemeClr val="accent2"/>
            </a:solidFill>
            <a:ln>
              <a:noFill/>
            </a:ln>
          </p:spPr>
        </p:sp>
        <p:sp>
          <p:nvSpPr>
            <p:cNvPr id="8" name="Ellipse 8"/>
            <p:cNvSpPr/>
            <p:nvPr/>
          </p:nvSpPr>
          <p:spPr>
            <a:xfrm>
              <a:off x="10763250" y="533400"/>
              <a:ext cx="114300" cy="114300"/>
            </a:xfrm>
            <a:prstGeom prst="ellipse">
              <a:avLst/>
            </a:prstGeom>
            <a:solidFill>
              <a:srgbClr val="4F8CFF"/>
            </a:solidFill>
            <a:ln>
              <a:noFill/>
            </a:ln>
          </p:spPr>
        </p:sp>
        <p:sp>
          <p:nvSpPr>
            <p:cNvPr id="9" name="Ellipse 9"/>
            <p:cNvSpPr/>
            <p:nvPr/>
          </p:nvSpPr>
          <p:spPr>
            <a:xfrm>
              <a:off x="10991850" y="533400"/>
              <a:ext cx="114300" cy="114300"/>
            </a:xfrm>
            <a:prstGeom prst="ellipse">
              <a:avLst/>
            </a:prstGeom>
            <a:solidFill>
              <a:srgbClr val="FF5A5F"/>
            </a:solidFill>
            <a:ln>
              <a:noFill/>
            </a:ln>
          </p:spPr>
        </p:sp>
        <p:sp>
          <p:nvSpPr>
            <p:cNvPr id="10" name="Ellipse 10"/>
            <p:cNvSpPr/>
            <p:nvPr/>
          </p:nvSpPr>
          <p:spPr>
            <a:xfrm>
              <a:off x="11220450" y="533400"/>
              <a:ext cx="114300" cy="114300"/>
            </a:xfrm>
            <a:prstGeom prst="ellipse">
              <a:avLst/>
            </a:prstGeom>
            <a:solidFill>
              <a:schemeClr val="accent3"/>
            </a:solidFill>
            <a:ln>
              <a:noFill/>
            </a:ln>
          </p:spPr>
        </p:sp>
        <p:sp>
          <p:nvSpPr>
            <p:cNvPr id="11" name="Ellipse 11"/>
            <p:cNvSpPr/>
            <p:nvPr/>
          </p:nvSpPr>
          <p:spPr>
            <a:xfrm>
              <a:off x="11449050" y="533400"/>
              <a:ext cx="114300" cy="114300"/>
            </a:xfrm>
            <a:prstGeom prst="ellipse">
              <a:avLst/>
            </a:prstGeom>
            <a:solidFill>
              <a:schemeClr val="dk1"/>
            </a:solidFill>
            <a:ln>
              <a:noFill/>
            </a:ln>
          </p:spPr>
        </p:sp>
      </p:grpSp>
      <p:grpSp>
        <p:nvGrpSpPr>
          <p:cNvPr id="36" name="led-states"/>
          <p:cNvGrpSpPr/>
          <p:nvPr/>
        </p:nvGrpSpPr>
        <p:grpSpPr>
          <a:xfrm>
            <a:off x="603504" y="1394460"/>
            <a:ext cx="4566970" cy="2478024"/>
            <a:chOff x="603504" y="1394460"/>
            <a:chExt cx="4566970" cy="2478024"/>
          </a:xfrm>
        </p:grpSpPr>
        <p:sp>
          <p:nvSpPr>
            <p:cNvPr id="13" name="TextBox 13"/>
            <p:cNvSpPr txBox="1"/>
            <p:nvPr/>
          </p:nvSpPr>
          <p:spPr>
            <a:xfrm>
              <a:off x="603504" y="1394460"/>
              <a:ext cx="104485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ĐÈN LED RGB</a:t>
              </a:r>
              <a:endParaRPr lang="vi-VN" sz="1200" dirty="0">
                <a:solidFill>
                  <a:schemeClr val="accent1"/>
                </a:solidFill>
                <a:latin typeface="Consolas" panose="020B0609020204030204"/>
                <a:ea typeface="Consolas" panose="020B0609020204030204"/>
                <a:cs typeface="Consolas" panose="020B0609020204030204"/>
              </a:endParaRPr>
            </a:p>
          </p:txBody>
        </p:sp>
        <p:grpSp>
          <p:nvGrpSpPr>
            <p:cNvPr id="27" name="led-dots"/>
            <p:cNvGrpSpPr/>
            <p:nvPr/>
          </p:nvGrpSpPr>
          <p:grpSpPr>
            <a:xfrm>
              <a:off x="676275" y="1733550"/>
              <a:ext cx="247650" cy="2028825"/>
              <a:chOff x="676275" y="1733550"/>
              <a:chExt cx="247650" cy="2028825"/>
            </a:xfrm>
          </p:grpSpPr>
          <p:sp>
            <p:nvSpPr>
              <p:cNvPr id="14" name="Ellipse 14"/>
              <p:cNvSpPr/>
              <p:nvPr/>
            </p:nvSpPr>
            <p:spPr>
              <a:xfrm>
                <a:off x="723900" y="1733550"/>
                <a:ext cx="152400" cy="152400"/>
              </a:xfrm>
              <a:prstGeom prst="ellipse">
                <a:avLst/>
              </a:prstGeom>
              <a:solidFill>
                <a:schemeClr val="accent6"/>
              </a:solidFill>
              <a:ln w="14288">
                <a:solidFill>
                  <a:srgbClr val="8B95AD"/>
                </a:solidFill>
              </a:ln>
            </p:spPr>
          </p:sp>
          <p:sp>
            <p:nvSpPr>
              <p:cNvPr id="15" name="Ellipse 15"/>
              <p:cNvSpPr/>
              <p:nvPr/>
            </p:nvSpPr>
            <p:spPr>
              <a:xfrm>
                <a:off x="676275" y="1990725"/>
                <a:ext cx="247650" cy="247650"/>
              </a:xfrm>
              <a:prstGeom prst="ellipse">
                <a:avLst/>
              </a:prstGeom>
              <a:noFill/>
              <a:ln w="14288">
                <a:solidFill>
                  <a:schemeClr val="dk1"/>
                </a:solidFill>
                <a:prstDash val="sysDot"/>
              </a:ln>
            </p:spPr>
          </p:sp>
          <p:sp>
            <p:nvSpPr>
              <p:cNvPr id="16" name="Ellipse 16"/>
              <p:cNvSpPr/>
              <p:nvPr/>
            </p:nvSpPr>
            <p:spPr>
              <a:xfrm>
                <a:off x="723900" y="2038350"/>
                <a:ext cx="152400" cy="152400"/>
              </a:xfrm>
              <a:prstGeom prst="ellipse">
                <a:avLst/>
              </a:prstGeom>
              <a:solidFill>
                <a:schemeClr val="dk1"/>
              </a:solidFill>
              <a:ln>
                <a:noFill/>
              </a:ln>
            </p:spPr>
          </p:sp>
          <p:sp>
            <p:nvSpPr>
              <p:cNvPr id="17" name="Ellipse 17"/>
              <p:cNvSpPr/>
              <p:nvPr/>
            </p:nvSpPr>
            <p:spPr>
              <a:xfrm>
                <a:off x="676275" y="2295525"/>
                <a:ext cx="247650" cy="247650"/>
              </a:xfrm>
              <a:prstGeom prst="ellipse">
                <a:avLst/>
              </a:prstGeom>
              <a:solidFill>
                <a:schemeClr val="accent2">
                  <a:alpha val="20000"/>
                </a:schemeClr>
              </a:solidFill>
              <a:ln>
                <a:noFill/>
              </a:ln>
            </p:spPr>
          </p:sp>
          <p:sp>
            <p:nvSpPr>
              <p:cNvPr id="18" name="Ellipse 18"/>
              <p:cNvSpPr/>
              <p:nvPr/>
            </p:nvSpPr>
            <p:spPr>
              <a:xfrm>
                <a:off x="723900" y="2343150"/>
                <a:ext cx="152400" cy="152400"/>
              </a:xfrm>
              <a:prstGeom prst="ellipse">
                <a:avLst/>
              </a:prstGeom>
              <a:solidFill>
                <a:schemeClr val="accent2"/>
              </a:solidFill>
              <a:ln>
                <a:noFill/>
              </a:ln>
            </p:spPr>
          </p:sp>
          <p:sp>
            <p:nvSpPr>
              <p:cNvPr id="19" name="Ellipse 19"/>
              <p:cNvSpPr/>
              <p:nvPr/>
            </p:nvSpPr>
            <p:spPr>
              <a:xfrm>
                <a:off x="676275" y="2600325"/>
                <a:ext cx="247650" cy="247650"/>
              </a:xfrm>
              <a:prstGeom prst="ellipse">
                <a:avLst/>
              </a:prstGeom>
              <a:solidFill>
                <a:srgbClr val="4F8CFF">
                  <a:alpha val="20000"/>
                </a:srgbClr>
              </a:solidFill>
              <a:ln>
                <a:noFill/>
              </a:ln>
            </p:spPr>
          </p:sp>
          <p:sp>
            <p:nvSpPr>
              <p:cNvPr id="20" name="Ellipse 20"/>
              <p:cNvSpPr/>
              <p:nvPr/>
            </p:nvSpPr>
            <p:spPr>
              <a:xfrm>
                <a:off x="723900" y="2647950"/>
                <a:ext cx="152400" cy="152400"/>
              </a:xfrm>
              <a:prstGeom prst="ellipse">
                <a:avLst/>
              </a:prstGeom>
              <a:solidFill>
                <a:srgbClr val="4F8CFF"/>
              </a:solidFill>
              <a:ln>
                <a:noFill/>
              </a:ln>
            </p:spPr>
          </p:sp>
          <p:sp>
            <p:nvSpPr>
              <p:cNvPr id="21" name="Ellipse 21"/>
              <p:cNvSpPr/>
              <p:nvPr/>
            </p:nvSpPr>
            <p:spPr>
              <a:xfrm>
                <a:off x="676275" y="2905125"/>
                <a:ext cx="247650" cy="247650"/>
              </a:xfrm>
              <a:prstGeom prst="ellipse">
                <a:avLst/>
              </a:prstGeom>
              <a:solidFill>
                <a:srgbClr val="FF5A5F">
                  <a:alpha val="20000"/>
                </a:srgbClr>
              </a:solidFill>
              <a:ln>
                <a:noFill/>
              </a:ln>
            </p:spPr>
          </p:sp>
          <p:sp>
            <p:nvSpPr>
              <p:cNvPr id="22" name="Ellipse 22"/>
              <p:cNvSpPr/>
              <p:nvPr/>
            </p:nvSpPr>
            <p:spPr>
              <a:xfrm>
                <a:off x="723900" y="2952750"/>
                <a:ext cx="152400" cy="152400"/>
              </a:xfrm>
              <a:prstGeom prst="ellipse">
                <a:avLst/>
              </a:prstGeom>
              <a:solidFill>
                <a:srgbClr val="FF5A5F"/>
              </a:solidFill>
              <a:ln>
                <a:noFill/>
              </a:ln>
            </p:spPr>
          </p:sp>
          <p:sp>
            <p:nvSpPr>
              <p:cNvPr id="23" name="Ellipse 23"/>
              <p:cNvSpPr/>
              <p:nvPr/>
            </p:nvSpPr>
            <p:spPr>
              <a:xfrm>
                <a:off x="676275" y="3209925"/>
                <a:ext cx="247650" cy="247650"/>
              </a:xfrm>
              <a:prstGeom prst="ellipse">
                <a:avLst/>
              </a:prstGeom>
              <a:solidFill>
                <a:schemeClr val="accent3">
                  <a:alpha val="20000"/>
                </a:schemeClr>
              </a:solidFill>
              <a:ln>
                <a:noFill/>
              </a:ln>
            </p:spPr>
          </p:sp>
          <p:sp>
            <p:nvSpPr>
              <p:cNvPr id="24" name="Ellipse 24"/>
              <p:cNvSpPr/>
              <p:nvPr/>
            </p:nvSpPr>
            <p:spPr>
              <a:xfrm>
                <a:off x="723900" y="3257550"/>
                <a:ext cx="152400" cy="152400"/>
              </a:xfrm>
              <a:prstGeom prst="ellipse">
                <a:avLst/>
              </a:prstGeom>
              <a:solidFill>
                <a:schemeClr val="accent3"/>
              </a:solidFill>
              <a:ln>
                <a:noFill/>
              </a:ln>
            </p:spPr>
          </p:sp>
          <p:sp>
            <p:nvSpPr>
              <p:cNvPr id="25" name="Ellipse 25"/>
              <p:cNvSpPr/>
              <p:nvPr/>
            </p:nvSpPr>
            <p:spPr>
              <a:xfrm>
                <a:off x="676275" y="3514725"/>
                <a:ext cx="247650" cy="247650"/>
              </a:xfrm>
              <a:prstGeom prst="ellipse">
                <a:avLst/>
              </a:prstGeom>
              <a:solidFill>
                <a:schemeClr val="dk1">
                  <a:alpha val="20000"/>
                </a:schemeClr>
              </a:solidFill>
              <a:ln>
                <a:noFill/>
              </a:ln>
            </p:spPr>
          </p:sp>
          <p:sp>
            <p:nvSpPr>
              <p:cNvPr id="26" name="Ellipse 26"/>
              <p:cNvSpPr/>
              <p:nvPr/>
            </p:nvSpPr>
            <p:spPr>
              <a:xfrm>
                <a:off x="723900" y="3562350"/>
                <a:ext cx="152400" cy="152400"/>
              </a:xfrm>
              <a:prstGeom prst="ellipse">
                <a:avLst/>
              </a:prstGeom>
              <a:solidFill>
                <a:schemeClr val="dk1"/>
              </a:solidFill>
              <a:ln>
                <a:noFill/>
              </a:ln>
            </p:spPr>
          </p:sp>
        </p:grpSp>
        <p:grpSp>
          <p:nvGrpSpPr>
            <p:cNvPr id="35" name="led-texts"/>
            <p:cNvGrpSpPr/>
            <p:nvPr/>
          </p:nvGrpSpPr>
          <p:grpSpPr>
            <a:xfrm>
              <a:off x="1038606" y="1691640"/>
              <a:ext cx="4131868" cy="2180844"/>
              <a:chOff x="1038606" y="1691640"/>
              <a:chExt cx="4131868" cy="2180844"/>
            </a:xfrm>
          </p:grpSpPr>
          <p:sp>
            <p:nvSpPr>
              <p:cNvPr id="28" name="TextBox 28"/>
              <p:cNvSpPr txBox="1"/>
              <p:nvPr/>
            </p:nvSpPr>
            <p:spPr>
              <a:xfrm>
                <a:off x="1038606" y="1691640"/>
                <a:ext cx="2160131"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Tắt</a:t>
                </a:r>
                <a:r>
                  <a:rPr lang="vi-VN" sz="1800" dirty="0">
                    <a:solidFill>
                      <a:schemeClr val="accent5"/>
                    </a:solidFill>
                    <a:latin typeface="+mn-lt"/>
                    <a:ea typeface="+mn-ea"/>
                    <a:cs typeface="+mn-cs"/>
                  </a:rPr>
                  <a:t> — chưa bắt đầu</a:t>
                </a:r>
                <a:endParaRPr lang="vi-VN" sz="1800" dirty="0">
                  <a:solidFill>
                    <a:schemeClr val="accent5"/>
                  </a:solidFill>
                  <a:latin typeface="+mn-lt"/>
                  <a:ea typeface="+mn-ea"/>
                  <a:cs typeface="+mn-cs"/>
                </a:endParaRPr>
              </a:p>
            </p:txBody>
          </p:sp>
          <p:sp>
            <p:nvSpPr>
              <p:cNvPr id="29" name="TextBox 29"/>
              <p:cNvSpPr txBox="1"/>
              <p:nvPr/>
            </p:nvSpPr>
            <p:spPr>
              <a:xfrm>
                <a:off x="1038606" y="1996440"/>
                <a:ext cx="4131868"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Trắng nhấp nháy</a:t>
                </a:r>
                <a:r>
                  <a:rPr lang="vi-VN" sz="1800" dirty="0">
                    <a:solidFill>
                      <a:schemeClr val="accent5"/>
                    </a:solidFill>
                    <a:latin typeface="+mn-lt"/>
                    <a:ea typeface="+mn-ea"/>
                    <a:cs typeface="+mn-cs"/>
                  </a:rPr>
                  <a:t> — camera đang bật</a:t>
                </a:r>
                <a:endParaRPr lang="vi-VN" sz="1800" dirty="0">
                  <a:solidFill>
                    <a:schemeClr val="accent5"/>
                  </a:solidFill>
                  <a:latin typeface="+mn-lt"/>
                  <a:ea typeface="+mn-ea"/>
                  <a:cs typeface="+mn-cs"/>
                </a:endParaRPr>
              </a:p>
            </p:txBody>
          </p:sp>
          <p:sp>
            <p:nvSpPr>
              <p:cNvPr id="30" name="TextBox 30"/>
              <p:cNvSpPr txBox="1"/>
              <p:nvPr/>
            </p:nvSpPr>
            <p:spPr>
              <a:xfrm>
                <a:off x="1038606" y="2301240"/>
                <a:ext cx="1302193" cy="352044"/>
              </a:xfrm>
              <a:prstGeom prst="rect">
                <a:avLst/>
              </a:prstGeom>
              <a:noFill/>
              <a:ln>
                <a:noFill/>
              </a:ln>
            </p:spPr>
            <p:txBody>
              <a:bodyPr wrap="none" lIns="0" tIns="0" rIns="0" bIns="0" anchor="t" anchorCtr="0">
                <a:spAutoFit/>
              </a:bodyPr>
              <a:lstStyle/>
              <a:p>
                <a:pPr algn="l"/>
                <a:r>
                  <a:rPr lang="vi-VN" sz="1800" b="1" dirty="0">
                    <a:solidFill>
                      <a:schemeClr val="accent2"/>
                    </a:solidFill>
                    <a:latin typeface="+mn-lt"/>
                    <a:ea typeface="+mn-ea"/>
                    <a:cs typeface="+mn-cs"/>
                  </a:rPr>
                  <a:t>Vàng</a:t>
                </a:r>
                <a:r>
                  <a:rPr lang="vi-VN" sz="1800" dirty="0">
                    <a:solidFill>
                      <a:schemeClr val="accent5"/>
                    </a:solidFill>
                    <a:latin typeface="+mn-lt"/>
                    <a:ea typeface="+mn-ea"/>
                    <a:cs typeface="+mn-cs"/>
                  </a:rPr>
                  <a:t> — vui</a:t>
                </a:r>
                <a:endParaRPr lang="vi-VN" sz="1800" dirty="0">
                  <a:solidFill>
                    <a:schemeClr val="accent5"/>
                  </a:solidFill>
                  <a:latin typeface="+mn-lt"/>
                  <a:ea typeface="+mn-ea"/>
                  <a:cs typeface="+mn-cs"/>
                </a:endParaRPr>
              </a:p>
            </p:txBody>
          </p:sp>
          <p:sp>
            <p:nvSpPr>
              <p:cNvPr id="31" name="TextBox 31"/>
              <p:cNvSpPr txBox="1"/>
              <p:nvPr/>
            </p:nvSpPr>
            <p:spPr>
              <a:xfrm>
                <a:off x="1038606" y="2606040"/>
                <a:ext cx="2350646" cy="352044"/>
              </a:xfrm>
              <a:prstGeom prst="rect">
                <a:avLst/>
              </a:prstGeom>
              <a:noFill/>
              <a:ln>
                <a:noFill/>
              </a:ln>
            </p:spPr>
            <p:txBody>
              <a:bodyPr wrap="none" lIns="0" tIns="0" rIns="0" bIns="0" anchor="t" anchorCtr="0">
                <a:spAutoFit/>
              </a:bodyPr>
              <a:lstStyle/>
              <a:p>
                <a:pPr algn="l"/>
                <a:r>
                  <a:rPr lang="vi-VN" sz="1800" b="1" dirty="0">
                    <a:solidFill>
                      <a:srgbClr val="4F8CFF"/>
                    </a:solidFill>
                    <a:latin typeface="+mn-lt"/>
                    <a:ea typeface="+mn-ea"/>
                    <a:cs typeface="+mn-cs"/>
                  </a:rPr>
                  <a:t>Xanh dương</a:t>
                </a:r>
                <a:r>
                  <a:rPr lang="vi-VN" sz="1800" dirty="0">
                    <a:solidFill>
                      <a:schemeClr val="accent5"/>
                    </a:solidFill>
                    <a:latin typeface="+mn-lt"/>
                    <a:ea typeface="+mn-ea"/>
                    <a:cs typeface="+mn-cs"/>
                  </a:rPr>
                  <a:t> — buồn</a:t>
                </a:r>
                <a:endParaRPr lang="vi-VN" sz="1800" dirty="0">
                  <a:solidFill>
                    <a:schemeClr val="accent5"/>
                  </a:solidFill>
                  <a:latin typeface="+mn-lt"/>
                  <a:ea typeface="+mn-ea"/>
                  <a:cs typeface="+mn-cs"/>
                </a:endParaRPr>
              </a:p>
            </p:txBody>
          </p:sp>
          <p:sp>
            <p:nvSpPr>
              <p:cNvPr id="32" name="TextBox 32"/>
              <p:cNvSpPr txBox="1"/>
              <p:nvPr/>
            </p:nvSpPr>
            <p:spPr>
              <a:xfrm>
                <a:off x="1038606" y="2910840"/>
                <a:ext cx="1191187" cy="352044"/>
              </a:xfrm>
              <a:prstGeom prst="rect">
                <a:avLst/>
              </a:prstGeom>
              <a:noFill/>
              <a:ln>
                <a:noFill/>
              </a:ln>
            </p:spPr>
            <p:txBody>
              <a:bodyPr wrap="none" lIns="0" tIns="0" rIns="0" bIns="0" anchor="t" anchorCtr="0">
                <a:spAutoFit/>
              </a:bodyPr>
              <a:lstStyle/>
              <a:p>
                <a:pPr algn="l"/>
                <a:r>
                  <a:rPr lang="vi-VN" sz="1800" b="1" dirty="0">
                    <a:solidFill>
                      <a:srgbClr val="FF5A5F"/>
                    </a:solidFill>
                    <a:latin typeface="+mn-lt"/>
                    <a:ea typeface="+mn-ea"/>
                    <a:cs typeface="+mn-cs"/>
                  </a:rPr>
                  <a:t>Đỏ</a:t>
                </a:r>
                <a:r>
                  <a:rPr lang="vi-VN" sz="1800" dirty="0">
                    <a:solidFill>
                      <a:schemeClr val="accent5"/>
                    </a:solidFill>
                    <a:latin typeface="+mn-lt"/>
                    <a:ea typeface="+mn-ea"/>
                    <a:cs typeface="+mn-cs"/>
                  </a:rPr>
                  <a:t> — giận</a:t>
                </a:r>
                <a:endParaRPr lang="vi-VN" sz="1800" dirty="0">
                  <a:solidFill>
                    <a:schemeClr val="accent5"/>
                  </a:solidFill>
                  <a:latin typeface="+mn-lt"/>
                  <a:ea typeface="+mn-ea"/>
                  <a:cs typeface="+mn-cs"/>
                </a:endParaRPr>
              </a:p>
            </p:txBody>
          </p:sp>
          <p:sp>
            <p:nvSpPr>
              <p:cNvPr id="33" name="TextBox 33"/>
              <p:cNvSpPr txBox="1"/>
              <p:nvPr/>
            </p:nvSpPr>
            <p:spPr>
              <a:xfrm>
                <a:off x="1038606" y="3215640"/>
                <a:ext cx="2012524" cy="352044"/>
              </a:xfrm>
              <a:prstGeom prst="rect">
                <a:avLst/>
              </a:prstGeom>
              <a:noFill/>
              <a:ln>
                <a:noFill/>
              </a:ln>
            </p:spPr>
            <p:txBody>
              <a:bodyPr wrap="none" lIns="0" tIns="0" rIns="0" bIns="0" anchor="t" anchorCtr="0">
                <a:spAutoFit/>
              </a:bodyPr>
              <a:lstStyle/>
              <a:p>
                <a:pPr algn="l"/>
                <a:r>
                  <a:rPr lang="vi-VN" sz="1800" b="1" dirty="0">
                    <a:solidFill>
                      <a:schemeClr val="accent3"/>
                    </a:solidFill>
                    <a:latin typeface="+mn-lt"/>
                    <a:ea typeface="+mn-ea"/>
                    <a:cs typeface="+mn-cs"/>
                  </a:rPr>
                  <a:t>Tím</a:t>
                </a:r>
                <a:r>
                  <a:rPr lang="vi-VN" sz="1800" dirty="0">
                    <a:solidFill>
                      <a:schemeClr val="accent5"/>
                    </a:solidFill>
                    <a:latin typeface="+mn-lt"/>
                    <a:ea typeface="+mn-ea"/>
                    <a:cs typeface="+mn-cs"/>
                  </a:rPr>
                  <a:t> — ngạc nhiên</a:t>
                </a:r>
                <a:endParaRPr lang="vi-VN" sz="1800" dirty="0">
                  <a:solidFill>
                    <a:schemeClr val="accent5"/>
                  </a:solidFill>
                  <a:latin typeface="+mn-lt"/>
                  <a:ea typeface="+mn-ea"/>
                  <a:cs typeface="+mn-cs"/>
                </a:endParaRPr>
              </a:p>
            </p:txBody>
          </p:sp>
          <p:sp>
            <p:nvSpPr>
              <p:cNvPr id="34" name="TextBox 34"/>
              <p:cNvSpPr txBox="1"/>
              <p:nvPr/>
            </p:nvSpPr>
            <p:spPr>
              <a:xfrm>
                <a:off x="1038606" y="3520440"/>
                <a:ext cx="2386245"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Trắng</a:t>
                </a:r>
                <a:r>
                  <a:rPr lang="vi-VN" sz="1800" dirty="0">
                    <a:solidFill>
                      <a:schemeClr val="accent5"/>
                    </a:solidFill>
                    <a:latin typeface="+mn-lt"/>
                    <a:ea typeface="+mn-ea"/>
                    <a:cs typeface="+mn-cs"/>
                  </a:rPr>
                  <a:t> — bình thường</a:t>
                </a:r>
                <a:endParaRPr lang="vi-VN" sz="1800" dirty="0">
                  <a:solidFill>
                    <a:schemeClr val="accent5"/>
                  </a:solidFill>
                  <a:latin typeface="+mn-lt"/>
                  <a:ea typeface="+mn-ea"/>
                  <a:cs typeface="+mn-cs"/>
                </a:endParaRPr>
              </a:p>
            </p:txBody>
          </p:sp>
        </p:grpSp>
      </p:grpSp>
      <p:grpSp>
        <p:nvGrpSpPr>
          <p:cNvPr id="52" name="buttons"/>
          <p:cNvGrpSpPr/>
          <p:nvPr/>
        </p:nvGrpSpPr>
        <p:grpSpPr>
          <a:xfrm>
            <a:off x="603504" y="4004310"/>
            <a:ext cx="5111496" cy="1024890"/>
            <a:chOff x="603504" y="4004310"/>
            <a:chExt cx="5111496" cy="1024890"/>
          </a:xfrm>
        </p:grpSpPr>
        <p:sp>
          <p:nvSpPr>
            <p:cNvPr id="37" name="TextBox 37"/>
            <p:cNvSpPr txBox="1"/>
            <p:nvPr/>
          </p:nvSpPr>
          <p:spPr>
            <a:xfrm>
              <a:off x="603504" y="4004310"/>
              <a:ext cx="857098"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2 NÚT BẤM</a:t>
              </a:r>
              <a:endParaRPr lang="vi-VN" sz="1200" dirty="0">
                <a:solidFill>
                  <a:schemeClr val="accent1"/>
                </a:solidFill>
                <a:latin typeface="Consolas" panose="020B0609020204030204"/>
                <a:ea typeface="Consolas" panose="020B0609020204030204"/>
                <a:cs typeface="Consolas" panose="020B0609020204030204"/>
              </a:endParaRPr>
            </a:p>
          </p:txBody>
        </p:sp>
        <p:grpSp>
          <p:nvGrpSpPr>
            <p:cNvPr id="44" name="button-1"/>
            <p:cNvGrpSpPr/>
            <p:nvPr/>
          </p:nvGrpSpPr>
          <p:grpSpPr>
            <a:xfrm>
              <a:off x="609600" y="4267200"/>
              <a:ext cx="2495550" cy="762000"/>
              <a:chOff x="609600" y="4267200"/>
              <a:chExt cx="2495550" cy="762000"/>
            </a:xfrm>
          </p:grpSpPr>
          <p:sp>
            <p:nvSpPr>
              <p:cNvPr id="38" name="Rectangle 38"/>
              <p:cNvSpPr/>
              <p:nvPr/>
            </p:nvSpPr>
            <p:spPr>
              <a:xfrm>
                <a:off x="609600" y="4267200"/>
                <a:ext cx="2495550" cy="762000"/>
              </a:xfrm>
              <a:prstGeom prst="roundRect">
                <a:avLst>
                  <a:gd name="adj" fmla="val 50000"/>
                </a:avLst>
              </a:prstGeom>
              <a:solidFill>
                <a:schemeClr val="lt2"/>
              </a:solidFill>
              <a:ln w="14288">
                <a:solidFill>
                  <a:schemeClr val="accent1"/>
                </a:solidFill>
              </a:ln>
            </p:spPr>
          </p:sp>
          <p:grpSp>
            <p:nvGrpSpPr>
              <p:cNvPr id="41" name="Group 41"/>
              <p:cNvGrpSpPr/>
              <p:nvPr/>
            </p:nvGrpSpPr>
            <p:grpSpPr>
              <a:xfrm>
                <a:off x="895350" y="4532939"/>
                <a:ext cx="190500" cy="230460"/>
                <a:chOff x="895350" y="4532939"/>
                <a:chExt cx="190500" cy="230460"/>
              </a:xfrm>
            </p:grpSpPr>
            <p:sp>
              <p:nvSpPr>
                <p:cNvPr id="39" name="Freeform 39"/>
                <p:cNvSpPr/>
                <p:nvPr/>
              </p:nvSpPr>
              <p:spPr>
                <a:xfrm>
                  <a:off x="904875" y="4543005"/>
                  <a:ext cx="171446" cy="210390"/>
                </a:xfrm>
                <a:custGeom>
                  <a:avLst/>
                  <a:gdLst/>
                  <a:ahLst/>
                  <a:cxnLst/>
                  <a:rect l="l" t="t" r="r" b="b"/>
                  <a:pathLst>
                    <a:path w="171446" h="210390">
                      <a:moveTo>
                        <a:pt x="167045" y="113113"/>
                      </a:moveTo>
                      <a:lnTo>
                        <a:pt x="14514" y="208506"/>
                      </a:lnTo>
                      <a:cubicBezTo>
                        <a:pt x="11605" y="210295"/>
                        <a:pt x="7960" y="210390"/>
                        <a:pt x="4961" y="208754"/>
                      </a:cubicBezTo>
                      <a:cubicBezTo>
                        <a:pt x="1963" y="207119"/>
                        <a:pt x="70" y="204003"/>
                        <a:pt x="0" y="200588"/>
                      </a:cubicBezTo>
                      <a:lnTo>
                        <a:pt x="0" y="9802"/>
                      </a:lnTo>
                      <a:cubicBezTo>
                        <a:pt x="70" y="6387"/>
                        <a:pt x="1963" y="3271"/>
                        <a:pt x="4961" y="1636"/>
                      </a:cubicBezTo>
                      <a:cubicBezTo>
                        <a:pt x="7960" y="0"/>
                        <a:pt x="11605" y="95"/>
                        <a:pt x="14514" y="1885"/>
                      </a:cubicBezTo>
                      <a:lnTo>
                        <a:pt x="167045" y="97277"/>
                      </a:lnTo>
                      <a:cubicBezTo>
                        <a:pt x="169782" y="98979"/>
                        <a:pt x="171446" y="101973"/>
                        <a:pt x="171446" y="105195"/>
                      </a:cubicBezTo>
                      <a:cubicBezTo>
                        <a:pt x="171446" y="108418"/>
                        <a:pt x="169782" y="111412"/>
                        <a:pt x="167045" y="113113"/>
                      </a:cubicBezTo>
                      <a:close/>
                    </a:path>
                  </a:pathLst>
                </a:custGeom>
                <a:solidFill>
                  <a:schemeClr val="accent1">
                    <a:alpha val="20000"/>
                  </a:schemeClr>
                </a:solidFill>
                <a:ln>
                  <a:noFill/>
                </a:ln>
              </p:spPr>
            </p:sp>
            <p:sp>
              <p:nvSpPr>
                <p:cNvPr id="40" name="Freeform 40"/>
                <p:cNvSpPr/>
                <p:nvPr/>
              </p:nvSpPr>
              <p:spPr>
                <a:xfrm>
                  <a:off x="895350" y="4532939"/>
                  <a:ext cx="190500" cy="230460"/>
                </a:xfrm>
                <a:custGeom>
                  <a:avLst/>
                  <a:gdLst/>
                  <a:ahLst/>
                  <a:cxnLst/>
                  <a:rect l="l" t="t" r="r" b="b"/>
                  <a:pathLst>
                    <a:path w="190500" h="230460">
                      <a:moveTo>
                        <a:pt x="180975" y="961"/>
                      </a:moveTo>
                      <a:cubicBezTo>
                        <a:pt x="175714" y="961"/>
                        <a:pt x="171450" y="5226"/>
                        <a:pt x="171450" y="10486"/>
                      </a:cubicBezTo>
                      <a:lnTo>
                        <a:pt x="171450" y="92913"/>
                      </a:lnTo>
                      <a:lnTo>
                        <a:pt x="29087" y="3878"/>
                      </a:lnTo>
                      <a:cubicBezTo>
                        <a:pt x="23249" y="213"/>
                        <a:pt x="15883" y="0"/>
                        <a:pt x="9842" y="3321"/>
                      </a:cubicBezTo>
                      <a:cubicBezTo>
                        <a:pt x="3801" y="6642"/>
                        <a:pt x="34" y="12975"/>
                        <a:pt x="0" y="19869"/>
                      </a:cubicBezTo>
                      <a:lnTo>
                        <a:pt x="0" y="210654"/>
                      </a:lnTo>
                      <a:cubicBezTo>
                        <a:pt x="72" y="217531"/>
                        <a:pt x="3845" y="223835"/>
                        <a:pt x="9872" y="227147"/>
                      </a:cubicBezTo>
                      <a:cubicBezTo>
                        <a:pt x="15898" y="230460"/>
                        <a:pt x="23242" y="230268"/>
                        <a:pt x="29087" y="226644"/>
                      </a:cubicBezTo>
                      <a:lnTo>
                        <a:pt x="171450" y="137609"/>
                      </a:lnTo>
                      <a:lnTo>
                        <a:pt x="171450" y="220036"/>
                      </a:lnTo>
                      <a:cubicBezTo>
                        <a:pt x="171450" y="225297"/>
                        <a:pt x="175714" y="229561"/>
                        <a:pt x="180975" y="229561"/>
                      </a:cubicBezTo>
                      <a:cubicBezTo>
                        <a:pt x="186236" y="229561"/>
                        <a:pt x="190500" y="225297"/>
                        <a:pt x="190500" y="220036"/>
                      </a:cubicBezTo>
                      <a:lnTo>
                        <a:pt x="190500" y="10486"/>
                      </a:lnTo>
                      <a:cubicBezTo>
                        <a:pt x="190500" y="5226"/>
                        <a:pt x="186236" y="961"/>
                        <a:pt x="180975" y="961"/>
                      </a:cubicBezTo>
                      <a:close/>
                      <a:moveTo>
                        <a:pt x="19050" y="210428"/>
                      </a:moveTo>
                      <a:lnTo>
                        <a:pt x="19050" y="20071"/>
                      </a:lnTo>
                      <a:lnTo>
                        <a:pt x="171260" y="115321"/>
                      </a:lnTo>
                      <a:close/>
                    </a:path>
                  </a:pathLst>
                </a:custGeom>
                <a:solidFill>
                  <a:schemeClr val="accent1"/>
                </a:solidFill>
                <a:ln>
                  <a:noFill/>
                </a:ln>
              </p:spPr>
            </p:sp>
          </p:grpSp>
          <p:sp>
            <p:nvSpPr>
              <p:cNvPr id="42" name="TextBox 42"/>
              <p:cNvSpPr txBox="1"/>
              <p:nvPr/>
            </p:nvSpPr>
            <p:spPr>
              <a:xfrm>
                <a:off x="1267206" y="4396740"/>
                <a:ext cx="668912"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Nút 1</a:t>
                </a:r>
                <a:endParaRPr lang="vi-VN" sz="1800" b="1" dirty="0">
                  <a:solidFill>
                    <a:schemeClr val="dk1"/>
                  </a:solidFill>
                  <a:latin typeface="+mn-lt"/>
                  <a:ea typeface="+mn-ea"/>
                  <a:cs typeface="+mn-cs"/>
                </a:endParaRPr>
              </a:p>
            </p:txBody>
          </p:sp>
          <p:sp>
            <p:nvSpPr>
              <p:cNvPr id="43" name="TextBox 43"/>
              <p:cNvSpPr txBox="1"/>
              <p:nvPr/>
            </p:nvSpPr>
            <p:spPr>
              <a:xfrm>
                <a:off x="1269492" y="4692968"/>
                <a:ext cx="140441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Bắt đầu / Bài tiếp</a:t>
                </a:r>
                <a:endParaRPr lang="vi-VN" sz="1350" dirty="0">
                  <a:solidFill>
                    <a:schemeClr val="accent5"/>
                  </a:solidFill>
                  <a:latin typeface="+mn-lt"/>
                  <a:ea typeface="+mn-ea"/>
                  <a:cs typeface="+mn-cs"/>
                </a:endParaRPr>
              </a:p>
            </p:txBody>
          </p:sp>
        </p:grpSp>
        <p:grpSp>
          <p:nvGrpSpPr>
            <p:cNvPr id="51" name="button-2"/>
            <p:cNvGrpSpPr/>
            <p:nvPr/>
          </p:nvGrpSpPr>
          <p:grpSpPr>
            <a:xfrm>
              <a:off x="3219450" y="4267200"/>
              <a:ext cx="2495550" cy="762000"/>
              <a:chOff x="3219450" y="4267200"/>
              <a:chExt cx="2495550" cy="762000"/>
            </a:xfrm>
          </p:grpSpPr>
          <p:sp>
            <p:nvSpPr>
              <p:cNvPr id="45" name="Rectangle 45"/>
              <p:cNvSpPr/>
              <p:nvPr/>
            </p:nvSpPr>
            <p:spPr>
              <a:xfrm>
                <a:off x="3219450" y="4267200"/>
                <a:ext cx="2495550" cy="762000"/>
              </a:xfrm>
              <a:prstGeom prst="roundRect">
                <a:avLst>
                  <a:gd name="adj" fmla="val 50000"/>
                </a:avLst>
              </a:prstGeom>
              <a:solidFill>
                <a:schemeClr val="lt2"/>
              </a:solidFill>
              <a:ln w="14288">
                <a:solidFill>
                  <a:schemeClr val="accent1"/>
                </a:solidFill>
              </a:ln>
            </p:spPr>
          </p:sp>
          <p:grpSp>
            <p:nvGrpSpPr>
              <p:cNvPr id="48" name="Group 48"/>
              <p:cNvGrpSpPr/>
              <p:nvPr/>
            </p:nvGrpSpPr>
            <p:grpSpPr>
              <a:xfrm>
                <a:off x="3495675" y="4533900"/>
                <a:ext cx="209550" cy="228600"/>
                <a:chOff x="3495675" y="4533900"/>
                <a:chExt cx="209550" cy="228600"/>
              </a:xfrm>
            </p:grpSpPr>
            <p:sp>
              <p:nvSpPr>
                <p:cNvPr id="46" name="Freeform 46"/>
                <p:cNvSpPr/>
                <p:nvPr/>
              </p:nvSpPr>
              <p:spPr>
                <a:xfrm>
                  <a:off x="3505200" y="4543425"/>
                  <a:ext cx="190500" cy="209550"/>
                </a:xfrm>
                <a:custGeom>
                  <a:avLst/>
                  <a:gdLst/>
                  <a:ahLst/>
                  <a:cxnLst/>
                  <a:rect l="l" t="t" r="r" b="b"/>
                  <a:pathLst>
                    <a:path w="190500" h="209550">
                      <a:moveTo>
                        <a:pt x="190500" y="9525"/>
                      </a:moveTo>
                      <a:lnTo>
                        <a:pt x="190500" y="200025"/>
                      </a:lnTo>
                      <a:cubicBezTo>
                        <a:pt x="190500" y="205286"/>
                        <a:pt x="186236" y="209550"/>
                        <a:pt x="180975" y="209550"/>
                      </a:cubicBezTo>
                      <a:lnTo>
                        <a:pt x="133350" y="209550"/>
                      </a:lnTo>
                      <a:cubicBezTo>
                        <a:pt x="128089" y="209550"/>
                        <a:pt x="123825" y="205286"/>
                        <a:pt x="123825" y="200025"/>
                      </a:cubicBezTo>
                      <a:lnTo>
                        <a:pt x="123825" y="9525"/>
                      </a:lnTo>
                      <a:cubicBezTo>
                        <a:pt x="123825" y="4264"/>
                        <a:pt x="128089" y="0"/>
                        <a:pt x="133350" y="0"/>
                      </a:cubicBezTo>
                      <a:lnTo>
                        <a:pt x="180975" y="0"/>
                      </a:lnTo>
                      <a:cubicBezTo>
                        <a:pt x="186236" y="0"/>
                        <a:pt x="190500" y="4264"/>
                        <a:pt x="190500" y="9525"/>
                      </a:cubicBezTo>
                      <a:close/>
                      <a:moveTo>
                        <a:pt x="57150" y="0"/>
                      </a:moveTo>
                      <a:lnTo>
                        <a:pt x="9525" y="0"/>
                      </a:lnTo>
                      <a:cubicBezTo>
                        <a:pt x="4264" y="0"/>
                        <a:pt x="0" y="4264"/>
                        <a:pt x="0" y="9525"/>
                      </a:cubicBezTo>
                      <a:lnTo>
                        <a:pt x="0" y="200025"/>
                      </a:lnTo>
                      <a:cubicBezTo>
                        <a:pt x="0" y="205286"/>
                        <a:pt x="4264" y="209550"/>
                        <a:pt x="9525" y="209550"/>
                      </a:cubicBezTo>
                      <a:lnTo>
                        <a:pt x="57150" y="209550"/>
                      </a:lnTo>
                      <a:cubicBezTo>
                        <a:pt x="62411" y="209550"/>
                        <a:pt x="66675" y="205286"/>
                        <a:pt x="66675" y="200025"/>
                      </a:cubicBezTo>
                      <a:lnTo>
                        <a:pt x="66675" y="9525"/>
                      </a:lnTo>
                      <a:cubicBezTo>
                        <a:pt x="66675" y="4264"/>
                        <a:pt x="62411" y="0"/>
                        <a:pt x="57150" y="0"/>
                      </a:cubicBezTo>
                      <a:close/>
                    </a:path>
                  </a:pathLst>
                </a:custGeom>
                <a:solidFill>
                  <a:schemeClr val="accent1">
                    <a:alpha val="20000"/>
                  </a:schemeClr>
                </a:solidFill>
                <a:ln>
                  <a:noFill/>
                </a:ln>
              </p:spPr>
            </p:sp>
            <p:sp>
              <p:nvSpPr>
                <p:cNvPr id="47" name="Freeform 47"/>
                <p:cNvSpPr/>
                <p:nvPr/>
              </p:nvSpPr>
              <p:spPr>
                <a:xfrm>
                  <a:off x="3495675" y="4533900"/>
                  <a:ext cx="209550" cy="228600"/>
                </a:xfrm>
                <a:custGeom>
                  <a:avLst/>
                  <a:gdLst/>
                  <a:ahLst/>
                  <a:cxnLst/>
                  <a:rect l="l" t="t" r="r" b="b"/>
                  <a:pathLst>
                    <a:path w="209550" h="228600">
                      <a:moveTo>
                        <a:pt x="190500" y="0"/>
                      </a:moveTo>
                      <a:lnTo>
                        <a:pt x="142875" y="0"/>
                      </a:lnTo>
                      <a:cubicBezTo>
                        <a:pt x="132354" y="0"/>
                        <a:pt x="123825" y="8529"/>
                        <a:pt x="123825" y="19050"/>
                      </a:cubicBezTo>
                      <a:lnTo>
                        <a:pt x="123825" y="209550"/>
                      </a:lnTo>
                      <a:cubicBezTo>
                        <a:pt x="123825" y="220071"/>
                        <a:pt x="132354" y="228600"/>
                        <a:pt x="142875" y="228600"/>
                      </a:cubicBezTo>
                      <a:lnTo>
                        <a:pt x="190500" y="228600"/>
                      </a:lnTo>
                      <a:cubicBezTo>
                        <a:pt x="201021" y="228600"/>
                        <a:pt x="209550" y="220071"/>
                        <a:pt x="209550" y="209550"/>
                      </a:cubicBezTo>
                      <a:lnTo>
                        <a:pt x="209550" y="19050"/>
                      </a:lnTo>
                      <a:cubicBezTo>
                        <a:pt x="209550" y="8529"/>
                        <a:pt x="201021" y="0"/>
                        <a:pt x="190500" y="0"/>
                      </a:cubicBezTo>
                      <a:close/>
                      <a:moveTo>
                        <a:pt x="190500" y="209550"/>
                      </a:moveTo>
                      <a:lnTo>
                        <a:pt x="142875" y="209550"/>
                      </a:lnTo>
                      <a:lnTo>
                        <a:pt x="142875" y="19050"/>
                      </a:lnTo>
                      <a:lnTo>
                        <a:pt x="190500" y="19050"/>
                      </a:lnTo>
                      <a:close/>
                      <a:moveTo>
                        <a:pt x="66675" y="0"/>
                      </a:moveTo>
                      <a:lnTo>
                        <a:pt x="19050" y="0"/>
                      </a:lnTo>
                      <a:cubicBezTo>
                        <a:pt x="8529" y="0"/>
                        <a:pt x="0" y="8529"/>
                        <a:pt x="0" y="19050"/>
                      </a:cubicBezTo>
                      <a:lnTo>
                        <a:pt x="0" y="209550"/>
                      </a:lnTo>
                      <a:cubicBezTo>
                        <a:pt x="0" y="220071"/>
                        <a:pt x="8529" y="228600"/>
                        <a:pt x="19050" y="228600"/>
                      </a:cubicBezTo>
                      <a:lnTo>
                        <a:pt x="66675" y="228600"/>
                      </a:lnTo>
                      <a:cubicBezTo>
                        <a:pt x="77196" y="228600"/>
                        <a:pt x="85725" y="220071"/>
                        <a:pt x="85725" y="209550"/>
                      </a:cubicBezTo>
                      <a:lnTo>
                        <a:pt x="85725" y="19050"/>
                      </a:lnTo>
                      <a:cubicBezTo>
                        <a:pt x="85725" y="8529"/>
                        <a:pt x="77196" y="0"/>
                        <a:pt x="66675" y="0"/>
                      </a:cubicBezTo>
                      <a:close/>
                      <a:moveTo>
                        <a:pt x="66675" y="209550"/>
                      </a:moveTo>
                      <a:lnTo>
                        <a:pt x="19050" y="209550"/>
                      </a:lnTo>
                      <a:lnTo>
                        <a:pt x="19050" y="19050"/>
                      </a:lnTo>
                      <a:lnTo>
                        <a:pt x="66675" y="19050"/>
                      </a:lnTo>
                      <a:close/>
                    </a:path>
                  </a:pathLst>
                </a:custGeom>
                <a:solidFill>
                  <a:schemeClr val="accent1"/>
                </a:solidFill>
                <a:ln>
                  <a:noFill/>
                </a:ln>
              </p:spPr>
            </p:sp>
          </p:grpSp>
          <p:sp>
            <p:nvSpPr>
              <p:cNvPr id="49" name="TextBox 49"/>
              <p:cNvSpPr txBox="1"/>
              <p:nvPr/>
            </p:nvSpPr>
            <p:spPr>
              <a:xfrm>
                <a:off x="3877056" y="4396740"/>
                <a:ext cx="668912"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Nút 2</a:t>
                </a:r>
                <a:endParaRPr lang="vi-VN" sz="1800" b="1" dirty="0">
                  <a:solidFill>
                    <a:schemeClr val="dk1"/>
                  </a:solidFill>
                  <a:latin typeface="+mn-lt"/>
                  <a:ea typeface="+mn-ea"/>
                  <a:cs typeface="+mn-cs"/>
                </a:endParaRPr>
              </a:p>
            </p:txBody>
          </p:sp>
          <p:sp>
            <p:nvSpPr>
              <p:cNvPr id="50" name="TextBox 50"/>
              <p:cNvSpPr txBox="1"/>
              <p:nvPr/>
            </p:nvSpPr>
            <p:spPr>
              <a:xfrm>
                <a:off x="3879342" y="4692968"/>
                <a:ext cx="17266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Tạm dừng / Phát tiếp</a:t>
                </a:r>
                <a:endParaRPr lang="vi-VN" sz="1350" dirty="0">
                  <a:solidFill>
                    <a:schemeClr val="accent5"/>
                  </a:solidFill>
                  <a:latin typeface="+mn-lt"/>
                  <a:ea typeface="+mn-ea"/>
                  <a:cs typeface="+mn-cs"/>
                </a:endParaRPr>
              </a:p>
            </p:txBody>
          </p:sp>
        </p:grpSp>
      </p:grpSp>
      <p:grpSp>
        <p:nvGrpSpPr>
          <p:cNvPr id="82" name="pin-table"/>
          <p:cNvGrpSpPr/>
          <p:nvPr/>
        </p:nvGrpSpPr>
        <p:grpSpPr>
          <a:xfrm>
            <a:off x="6089142" y="1394460"/>
            <a:ext cx="5493258" cy="2857691"/>
            <a:chOff x="6089142" y="1394460"/>
            <a:chExt cx="5493258" cy="2857691"/>
          </a:xfrm>
        </p:grpSpPr>
        <p:sp>
          <p:nvSpPr>
            <p:cNvPr id="53" name="TextBox 53"/>
            <p:cNvSpPr txBox="1"/>
            <p:nvPr/>
          </p:nvSpPr>
          <p:spPr>
            <a:xfrm>
              <a:off x="6089904" y="1394460"/>
              <a:ext cx="123261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BẢNG NỐI CHÂN</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54" name="Rectangle 54"/>
            <p:cNvSpPr/>
            <p:nvPr/>
          </p:nvSpPr>
          <p:spPr>
            <a:xfrm>
              <a:off x="6096000" y="1676400"/>
              <a:ext cx="5486400" cy="381000"/>
            </a:xfrm>
            <a:prstGeom prst="roundRect">
              <a:avLst>
                <a:gd name="adj" fmla="val 15000"/>
              </a:avLst>
            </a:prstGeom>
            <a:solidFill>
              <a:srgbClr val="1B2540"/>
            </a:solidFill>
            <a:ln>
              <a:noFill/>
            </a:ln>
          </p:spPr>
        </p:sp>
        <p:grpSp>
          <p:nvGrpSpPr>
            <p:cNvPr id="57" name="pin-table-head"/>
            <p:cNvGrpSpPr/>
            <p:nvPr/>
          </p:nvGrpSpPr>
          <p:grpSpPr>
            <a:xfrm>
              <a:off x="6280404" y="1794510"/>
              <a:ext cx="3050591" cy="234696"/>
              <a:chOff x="6280404" y="1794510"/>
              <a:chExt cx="3050591" cy="234696"/>
            </a:xfrm>
          </p:grpSpPr>
          <p:sp>
            <p:nvSpPr>
              <p:cNvPr id="55" name="TextBox 55"/>
              <p:cNvSpPr txBox="1"/>
              <p:nvPr/>
            </p:nvSpPr>
            <p:spPr>
              <a:xfrm>
                <a:off x="6280404" y="1794510"/>
                <a:ext cx="857098"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LINH KIỆN</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56" name="TextBox 56"/>
              <p:cNvSpPr txBox="1"/>
              <p:nvPr/>
            </p:nvSpPr>
            <p:spPr>
              <a:xfrm>
                <a:off x="8661654" y="1794510"/>
                <a:ext cx="66934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CHÂN PI</a:t>
                </a:r>
                <a:endParaRPr lang="vi-VN" sz="1200" dirty="0">
                  <a:solidFill>
                    <a:schemeClr val="accent1"/>
                  </a:solidFill>
                  <a:latin typeface="Consolas" panose="020B0609020204030204"/>
                  <a:ea typeface="Consolas" panose="020B0609020204030204"/>
                  <a:cs typeface="Consolas" panose="020B0609020204030204"/>
                </a:endParaRPr>
              </a:p>
            </p:txBody>
          </p:sp>
        </p:grpSp>
        <p:grpSp>
          <p:nvGrpSpPr>
            <p:cNvPr id="63" name="pin-table-rules"/>
            <p:cNvGrpSpPr/>
            <p:nvPr/>
          </p:nvGrpSpPr>
          <p:grpSpPr>
            <a:xfrm>
              <a:off x="6096000" y="2419350"/>
              <a:ext cx="5486400" cy="1457325"/>
              <a:chOff x="6096000" y="2419350"/>
              <a:chExt cx="5486400" cy="1457325"/>
            </a:xfrm>
          </p:grpSpPr>
          <p:sp>
            <p:nvSpPr>
              <p:cNvPr id="58" name="Line 58"/>
              <p:cNvSpPr/>
              <p:nvPr/>
            </p:nvSpPr>
            <p:spPr>
              <a:xfrm>
                <a:off x="6096000" y="24193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59" name="Line 59"/>
              <p:cNvSpPr/>
              <p:nvPr/>
            </p:nvSpPr>
            <p:spPr>
              <a:xfrm>
                <a:off x="6096000" y="278130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60" name="Line 60"/>
              <p:cNvSpPr/>
              <p:nvPr/>
            </p:nvSpPr>
            <p:spPr>
              <a:xfrm>
                <a:off x="6096000" y="31432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61" name="Line 61"/>
              <p:cNvSpPr/>
              <p:nvPr/>
            </p:nvSpPr>
            <p:spPr>
              <a:xfrm>
                <a:off x="6096000" y="350520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62" name="Line 62"/>
              <p:cNvSpPr/>
              <p:nvPr/>
            </p:nvSpPr>
            <p:spPr>
              <a:xfrm>
                <a:off x="6096000" y="3867150"/>
                <a:ext cx="5486400" cy="9525"/>
              </a:xfrm>
              <a:custGeom>
                <a:avLst/>
                <a:gdLst/>
                <a:ahLst/>
                <a:cxnLst/>
                <a:rect l="l" t="t" r="r" b="b"/>
                <a:pathLst>
                  <a:path w="5486400" h="9525">
                    <a:moveTo>
                      <a:pt x="0" y="0"/>
                    </a:moveTo>
                    <a:lnTo>
                      <a:pt x="5486400" y="0"/>
                    </a:lnTo>
                  </a:path>
                </a:pathLst>
              </a:custGeom>
              <a:noFill/>
              <a:ln w="9525">
                <a:solidFill>
                  <a:schemeClr val="accent6"/>
                </a:solidFill>
              </a:ln>
            </p:spPr>
          </p:sp>
        </p:grpSp>
        <p:grpSp>
          <p:nvGrpSpPr>
            <p:cNvPr id="69" name="pin-table-keys"/>
            <p:cNvGrpSpPr/>
            <p:nvPr/>
          </p:nvGrpSpPr>
          <p:grpSpPr>
            <a:xfrm>
              <a:off x="6191250" y="2181225"/>
              <a:ext cx="114300" cy="1562100"/>
              <a:chOff x="6191250" y="2181225"/>
              <a:chExt cx="114300" cy="1562100"/>
            </a:xfrm>
          </p:grpSpPr>
          <p:sp>
            <p:nvSpPr>
              <p:cNvPr id="64" name="Ellipse 64"/>
              <p:cNvSpPr/>
              <p:nvPr/>
            </p:nvSpPr>
            <p:spPr>
              <a:xfrm>
                <a:off x="6191250" y="2181225"/>
                <a:ext cx="114300" cy="114300"/>
              </a:xfrm>
              <a:prstGeom prst="ellipse">
                <a:avLst/>
              </a:prstGeom>
              <a:solidFill>
                <a:srgbClr val="FF5A5F"/>
              </a:solidFill>
              <a:ln>
                <a:noFill/>
              </a:ln>
            </p:spPr>
          </p:sp>
          <p:sp>
            <p:nvSpPr>
              <p:cNvPr id="65" name="Ellipse 65"/>
              <p:cNvSpPr/>
              <p:nvPr/>
            </p:nvSpPr>
            <p:spPr>
              <a:xfrm>
                <a:off x="6191250" y="2543175"/>
                <a:ext cx="114300" cy="114300"/>
              </a:xfrm>
              <a:prstGeom prst="ellipse">
                <a:avLst/>
              </a:prstGeom>
              <a:solidFill>
                <a:srgbClr val="34D399"/>
              </a:solidFill>
              <a:ln>
                <a:noFill/>
              </a:ln>
            </p:spPr>
          </p:sp>
          <p:sp>
            <p:nvSpPr>
              <p:cNvPr id="66" name="Ellipse 66"/>
              <p:cNvSpPr/>
              <p:nvPr/>
            </p:nvSpPr>
            <p:spPr>
              <a:xfrm>
                <a:off x="6191250" y="2905125"/>
                <a:ext cx="114300" cy="114300"/>
              </a:xfrm>
              <a:prstGeom prst="ellipse">
                <a:avLst/>
              </a:prstGeom>
              <a:solidFill>
                <a:srgbClr val="4F8CFF"/>
              </a:solidFill>
              <a:ln>
                <a:noFill/>
              </a:ln>
            </p:spPr>
          </p:sp>
          <p:sp>
            <p:nvSpPr>
              <p:cNvPr id="67" name="Ellipse 67"/>
              <p:cNvSpPr/>
              <p:nvPr/>
            </p:nvSpPr>
            <p:spPr>
              <a:xfrm>
                <a:off x="6191250" y="3267075"/>
                <a:ext cx="114300" cy="114300"/>
              </a:xfrm>
              <a:prstGeom prst="ellipse">
                <a:avLst/>
              </a:prstGeom>
              <a:solidFill>
                <a:schemeClr val="accent1"/>
              </a:solidFill>
              <a:ln>
                <a:noFill/>
              </a:ln>
            </p:spPr>
          </p:sp>
          <p:sp>
            <p:nvSpPr>
              <p:cNvPr id="68" name="Ellipse 68"/>
              <p:cNvSpPr/>
              <p:nvPr/>
            </p:nvSpPr>
            <p:spPr>
              <a:xfrm>
                <a:off x="6191250" y="3629025"/>
                <a:ext cx="114300" cy="114300"/>
              </a:xfrm>
              <a:prstGeom prst="ellipse">
                <a:avLst/>
              </a:prstGeom>
              <a:solidFill>
                <a:schemeClr val="accent1"/>
              </a:solidFill>
              <a:ln>
                <a:noFill/>
              </a:ln>
            </p:spPr>
          </p:sp>
        </p:grpSp>
        <p:grpSp>
          <p:nvGrpSpPr>
            <p:cNvPr id="80" name="pin-table-body"/>
            <p:cNvGrpSpPr/>
            <p:nvPr/>
          </p:nvGrpSpPr>
          <p:grpSpPr>
            <a:xfrm>
              <a:off x="6391656" y="2120265"/>
              <a:ext cx="3874838" cy="1799844"/>
              <a:chOff x="6391656" y="2120265"/>
              <a:chExt cx="3874838" cy="1799844"/>
            </a:xfrm>
          </p:grpSpPr>
          <p:sp>
            <p:nvSpPr>
              <p:cNvPr id="70" name="TextBox 70"/>
              <p:cNvSpPr txBox="1"/>
              <p:nvPr/>
            </p:nvSpPr>
            <p:spPr>
              <a:xfrm>
                <a:off x="6391656" y="2120265"/>
                <a:ext cx="1175532"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LED đỏ (R)</a:t>
                </a:r>
                <a:endParaRPr lang="vi-VN" sz="1800" dirty="0">
                  <a:solidFill>
                    <a:schemeClr val="dk1"/>
                  </a:solidFill>
                  <a:latin typeface="+mn-lt"/>
                  <a:ea typeface="+mn-ea"/>
                  <a:cs typeface="+mn-cs"/>
                </a:endParaRPr>
              </a:p>
            </p:txBody>
          </p:sp>
          <p:sp>
            <p:nvSpPr>
              <p:cNvPr id="71" name="TextBox 71"/>
              <p:cNvSpPr txBox="1"/>
              <p:nvPr/>
            </p:nvSpPr>
            <p:spPr>
              <a:xfrm>
                <a:off x="8658606" y="2120265"/>
                <a:ext cx="927406"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GPIO17</a:t>
                </a:r>
                <a:endParaRPr lang="vi-VN" sz="1800" b="1" dirty="0">
                  <a:solidFill>
                    <a:schemeClr val="dk1"/>
                  </a:solidFill>
                  <a:latin typeface="+mn-lt"/>
                  <a:ea typeface="+mn-ea"/>
                  <a:cs typeface="+mn-cs"/>
                </a:endParaRPr>
              </a:p>
            </p:txBody>
          </p:sp>
          <p:sp>
            <p:nvSpPr>
              <p:cNvPr id="72" name="TextBox 72"/>
              <p:cNvSpPr txBox="1"/>
              <p:nvPr/>
            </p:nvSpPr>
            <p:spPr>
              <a:xfrm>
                <a:off x="6391656" y="2482215"/>
                <a:ext cx="1663622"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LED xanh lá (G)</a:t>
                </a:r>
                <a:endParaRPr lang="vi-VN" sz="1800" dirty="0">
                  <a:solidFill>
                    <a:schemeClr val="dk1"/>
                  </a:solidFill>
                  <a:latin typeface="+mn-lt"/>
                  <a:ea typeface="+mn-ea"/>
                  <a:cs typeface="+mn-cs"/>
                </a:endParaRPr>
              </a:p>
            </p:txBody>
          </p:sp>
          <p:sp>
            <p:nvSpPr>
              <p:cNvPr id="73" name="TextBox 73"/>
              <p:cNvSpPr txBox="1"/>
              <p:nvPr/>
            </p:nvSpPr>
            <p:spPr>
              <a:xfrm>
                <a:off x="8658606" y="2482215"/>
                <a:ext cx="927406"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GPIO27</a:t>
                </a:r>
                <a:endParaRPr lang="vi-VN" sz="1800" b="1" dirty="0">
                  <a:solidFill>
                    <a:schemeClr val="dk1"/>
                  </a:solidFill>
                  <a:latin typeface="+mn-lt"/>
                  <a:ea typeface="+mn-ea"/>
                  <a:cs typeface="+mn-cs"/>
                </a:endParaRPr>
              </a:p>
            </p:txBody>
          </p:sp>
          <p:sp>
            <p:nvSpPr>
              <p:cNvPr id="74" name="TextBox 74"/>
              <p:cNvSpPr txBox="1"/>
              <p:nvPr/>
            </p:nvSpPr>
            <p:spPr>
              <a:xfrm>
                <a:off x="6391656" y="2844165"/>
                <a:ext cx="2156128"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LED xanh dương (B)</a:t>
                </a:r>
                <a:endParaRPr lang="vi-VN" sz="1800" dirty="0">
                  <a:solidFill>
                    <a:schemeClr val="dk1"/>
                  </a:solidFill>
                  <a:latin typeface="+mn-lt"/>
                  <a:ea typeface="+mn-ea"/>
                  <a:cs typeface="+mn-cs"/>
                </a:endParaRPr>
              </a:p>
            </p:txBody>
          </p:sp>
          <p:sp>
            <p:nvSpPr>
              <p:cNvPr id="75" name="TextBox 75"/>
              <p:cNvSpPr txBox="1"/>
              <p:nvPr/>
            </p:nvSpPr>
            <p:spPr>
              <a:xfrm>
                <a:off x="8658606" y="2844165"/>
                <a:ext cx="927406"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GPIO22</a:t>
                </a:r>
                <a:endParaRPr lang="vi-VN" sz="1800" b="1" dirty="0">
                  <a:solidFill>
                    <a:schemeClr val="dk1"/>
                  </a:solidFill>
                  <a:latin typeface="+mn-lt"/>
                  <a:ea typeface="+mn-ea"/>
                  <a:cs typeface="+mn-cs"/>
                </a:endParaRPr>
              </a:p>
            </p:txBody>
          </p:sp>
          <p:sp>
            <p:nvSpPr>
              <p:cNvPr id="76" name="TextBox 76"/>
              <p:cNvSpPr txBox="1"/>
              <p:nvPr/>
            </p:nvSpPr>
            <p:spPr>
              <a:xfrm>
                <a:off x="6391656" y="3206115"/>
                <a:ext cx="627064"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Nút 1</a:t>
                </a:r>
                <a:endParaRPr lang="vi-VN" sz="1800" dirty="0">
                  <a:solidFill>
                    <a:schemeClr val="dk1"/>
                  </a:solidFill>
                  <a:latin typeface="+mn-lt"/>
                  <a:ea typeface="+mn-ea"/>
                  <a:cs typeface="+mn-cs"/>
                </a:endParaRPr>
              </a:p>
            </p:txBody>
          </p:sp>
          <p:sp>
            <p:nvSpPr>
              <p:cNvPr id="77" name="TextBox 77"/>
              <p:cNvSpPr txBox="1"/>
              <p:nvPr/>
            </p:nvSpPr>
            <p:spPr>
              <a:xfrm>
                <a:off x="8658606" y="3206115"/>
                <a:ext cx="1607888"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GPIO5</a:t>
                </a:r>
                <a:r>
                  <a:rPr lang="vi-VN" sz="1800" dirty="0">
                    <a:solidFill>
                      <a:schemeClr val="dk1"/>
                    </a:solidFill>
                    <a:latin typeface="+mn-lt"/>
                    <a:ea typeface="+mn-ea"/>
                    <a:cs typeface="+mn-cs"/>
                  </a:rPr>
                  <a:t> ↔ GND</a:t>
                </a:r>
                <a:endParaRPr lang="vi-VN" sz="1800" dirty="0">
                  <a:solidFill>
                    <a:schemeClr val="dk1"/>
                  </a:solidFill>
                  <a:latin typeface="+mn-lt"/>
                  <a:ea typeface="+mn-ea"/>
                  <a:cs typeface="+mn-cs"/>
                </a:endParaRPr>
              </a:p>
            </p:txBody>
          </p:sp>
          <p:sp>
            <p:nvSpPr>
              <p:cNvPr id="78" name="TextBox 78"/>
              <p:cNvSpPr txBox="1"/>
              <p:nvPr/>
            </p:nvSpPr>
            <p:spPr>
              <a:xfrm>
                <a:off x="6391656" y="3568065"/>
                <a:ext cx="627064"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Nút 2</a:t>
                </a:r>
                <a:endParaRPr lang="vi-VN" sz="1800" dirty="0">
                  <a:solidFill>
                    <a:schemeClr val="dk1"/>
                  </a:solidFill>
                  <a:latin typeface="+mn-lt"/>
                  <a:ea typeface="+mn-ea"/>
                  <a:cs typeface="+mn-cs"/>
                </a:endParaRPr>
              </a:p>
            </p:txBody>
          </p:sp>
          <p:sp>
            <p:nvSpPr>
              <p:cNvPr id="79" name="TextBox 79"/>
              <p:cNvSpPr txBox="1"/>
              <p:nvPr/>
            </p:nvSpPr>
            <p:spPr>
              <a:xfrm>
                <a:off x="8658606" y="3568065"/>
                <a:ext cx="1607888"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GPIO6</a:t>
                </a:r>
                <a:r>
                  <a:rPr lang="vi-VN" sz="1800" dirty="0">
                    <a:solidFill>
                      <a:schemeClr val="dk1"/>
                    </a:solidFill>
                    <a:latin typeface="+mn-lt"/>
                    <a:ea typeface="+mn-ea"/>
                    <a:cs typeface="+mn-cs"/>
                  </a:rPr>
                  <a:t> ↔ GND</a:t>
                </a:r>
                <a:endParaRPr lang="vi-VN" sz="1800" dirty="0">
                  <a:solidFill>
                    <a:schemeClr val="dk1"/>
                  </a:solidFill>
                  <a:latin typeface="+mn-lt"/>
                  <a:ea typeface="+mn-ea"/>
                  <a:cs typeface="+mn-cs"/>
                </a:endParaRPr>
              </a:p>
            </p:txBody>
          </p:sp>
        </p:grpSp>
        <p:sp>
          <p:nvSpPr>
            <p:cNvPr id="81" name="TextBox 81"/>
            <p:cNvSpPr txBox="1"/>
            <p:nvPr/>
          </p:nvSpPr>
          <p:spPr>
            <a:xfrm>
              <a:off x="6089142" y="3988118"/>
              <a:ext cx="3436521" cy="264033"/>
            </a:xfrm>
            <a:prstGeom prst="rect">
              <a:avLst/>
            </a:prstGeom>
            <a:noFill/>
            <a:ln>
              <a:noFill/>
            </a:ln>
          </p:spPr>
          <p:txBody>
            <a:bodyPr wrap="none" lIns="0" tIns="0" rIns="0" bIns="0" anchor="t" anchorCtr="0">
              <a:spAutoFit/>
            </a:bodyPr>
            <a:lstStyle/>
            <a:p>
              <a:pPr algn="l"/>
              <a:r>
                <a:rPr lang="el-GR" sz="1350" dirty="0">
                  <a:solidFill>
                    <a:schemeClr val="accent5"/>
                  </a:solidFill>
                  <a:latin typeface="+mn-lt"/>
                  <a:ea typeface="+mn-ea"/>
                  <a:cs typeface="+mn-cs"/>
                </a:rPr>
                <a:t>Mỗi màu LED nối qua 1 điện trở 220–330Ω</a:t>
              </a:r>
              <a:endParaRPr lang="el-GR" sz="1350" dirty="0">
                <a:solidFill>
                  <a:schemeClr val="accent5"/>
                </a:solidFill>
                <a:latin typeface="+mn-lt"/>
                <a:ea typeface="+mn-ea"/>
                <a:cs typeface="+mn-cs"/>
              </a:endParaRPr>
            </a:p>
          </p:txBody>
        </p:sp>
      </p:grpSp>
      <p:grpSp>
        <p:nvGrpSpPr>
          <p:cNvPr id="94" name="device-band"/>
          <p:cNvGrpSpPr/>
          <p:nvPr/>
        </p:nvGrpSpPr>
        <p:grpSpPr>
          <a:xfrm>
            <a:off x="609600" y="5181600"/>
            <a:ext cx="10973002" cy="990600"/>
            <a:chOff x="609600" y="5181600"/>
            <a:chExt cx="10973002" cy="990600"/>
          </a:xfrm>
        </p:grpSpPr>
        <p:sp>
          <p:nvSpPr>
            <p:cNvPr id="83" name="Rectangle 83"/>
            <p:cNvSpPr/>
            <p:nvPr/>
          </p:nvSpPr>
          <p:spPr>
            <a:xfrm>
              <a:off x="609600" y="5181600"/>
              <a:ext cx="10972800" cy="990600"/>
            </a:xfrm>
            <a:prstGeom prst="roundRect">
              <a:avLst>
                <a:gd name="adj" fmla="val 11538"/>
              </a:avLst>
            </a:prstGeom>
            <a:solidFill>
              <a:schemeClr val="accent1">
                <a:alpha val="8000"/>
              </a:schemeClr>
            </a:solidFill>
            <a:ln>
              <a:noFill/>
            </a:ln>
          </p:spPr>
        </p:sp>
        <p:sp>
          <p:nvSpPr>
            <p:cNvPr id="84" name="Rectangle 84"/>
            <p:cNvSpPr/>
            <p:nvPr/>
          </p:nvSpPr>
          <p:spPr>
            <a:xfrm>
              <a:off x="609600" y="5181600"/>
              <a:ext cx="38100" cy="990600"/>
            </a:xfrm>
            <a:prstGeom prst="rect">
              <a:avLst/>
            </a:prstGeom>
            <a:solidFill>
              <a:schemeClr val="accent1"/>
            </a:solidFill>
            <a:ln>
              <a:noFill/>
            </a:ln>
          </p:spPr>
        </p:sp>
        <p:sp>
          <p:nvSpPr>
            <p:cNvPr id="85" name="TextBox 85"/>
            <p:cNvSpPr txBox="1"/>
            <p:nvPr/>
          </p:nvSpPr>
          <p:spPr>
            <a:xfrm>
              <a:off x="905256" y="5330190"/>
              <a:ext cx="6942713" cy="352044"/>
            </a:xfrm>
            <a:prstGeom prst="rect">
              <a:avLst/>
            </a:prstGeom>
            <a:noFill/>
            <a:ln>
              <a:noFill/>
            </a:ln>
          </p:spPr>
          <p:txBody>
            <a:bodyPr wrap="none" lIns="0" tIns="0" rIns="0" bIns="0" anchor="t" anchorCtr="0">
              <a:spAutoFit/>
            </a:bodyPr>
            <a:lstStyle/>
            <a:p>
              <a:pPr algn="l"/>
              <a:r>
                <a:rPr lang="vi-VN" sz="1800" b="1" dirty="0">
                  <a:solidFill>
                    <a:schemeClr val="accent2"/>
                  </a:solidFill>
                  <a:latin typeface="+mn-lt"/>
                  <a:ea typeface="+mn-ea"/>
                  <a:cs typeface="+mn-cs"/>
                </a:rPr>
                <a:t>Pi biến đồ án thành một thiết bị — không cần nhìn màn hình</a:t>
              </a:r>
              <a:endParaRPr lang="vi-VN" sz="1800" b="1" dirty="0">
                <a:solidFill>
                  <a:schemeClr val="accent2"/>
                </a:solidFill>
                <a:latin typeface="+mn-lt"/>
                <a:ea typeface="+mn-ea"/>
                <a:cs typeface="+mn-cs"/>
              </a:endParaRPr>
            </a:p>
          </p:txBody>
        </p:sp>
        <p:grpSp>
          <p:nvGrpSpPr>
            <p:cNvPr id="88" name="Group 88"/>
            <p:cNvGrpSpPr/>
            <p:nvPr/>
          </p:nvGrpSpPr>
          <p:grpSpPr>
            <a:xfrm>
              <a:off x="952500" y="5762625"/>
              <a:ext cx="228600" cy="238237"/>
              <a:chOff x="952500" y="5762625"/>
              <a:chExt cx="228600" cy="238237"/>
            </a:xfrm>
          </p:grpSpPr>
          <p:sp>
            <p:nvSpPr>
              <p:cNvPr id="86" name="Freeform 86"/>
              <p:cNvSpPr/>
              <p:nvPr/>
            </p:nvSpPr>
            <p:spPr>
              <a:xfrm>
                <a:off x="962025" y="5772150"/>
                <a:ext cx="209550" cy="219075"/>
              </a:xfrm>
              <a:custGeom>
                <a:avLst/>
                <a:gdLst/>
                <a:ahLst/>
                <a:cxnLst/>
                <a:rect l="l" t="t" r="r" b="b"/>
                <a:pathLst>
                  <a:path w="209550" h="219075">
                    <a:moveTo>
                      <a:pt x="209550" y="9525"/>
                    </a:moveTo>
                    <a:lnTo>
                      <a:pt x="209550" y="76200"/>
                    </a:lnTo>
                    <a:cubicBezTo>
                      <a:pt x="209550" y="190500"/>
                      <a:pt x="104775" y="219075"/>
                      <a:pt x="104775" y="219075"/>
                    </a:cubicBezTo>
                    <a:cubicBezTo>
                      <a:pt x="104775" y="219075"/>
                      <a:pt x="0" y="190500"/>
                      <a:pt x="0" y="76200"/>
                    </a:cubicBezTo>
                    <a:lnTo>
                      <a:pt x="0" y="9525"/>
                    </a:lnTo>
                    <a:cubicBezTo>
                      <a:pt x="0" y="4264"/>
                      <a:pt x="4264" y="0"/>
                      <a:pt x="9525" y="0"/>
                    </a:cubicBezTo>
                    <a:lnTo>
                      <a:pt x="200025" y="0"/>
                    </a:lnTo>
                    <a:cubicBezTo>
                      <a:pt x="205286" y="0"/>
                      <a:pt x="209550" y="4264"/>
                      <a:pt x="209550" y="9525"/>
                    </a:cubicBezTo>
                    <a:close/>
                  </a:path>
                </a:pathLst>
              </a:custGeom>
              <a:solidFill>
                <a:schemeClr val="accent1">
                  <a:alpha val="20000"/>
                </a:schemeClr>
              </a:solidFill>
              <a:ln>
                <a:noFill/>
              </a:ln>
            </p:spPr>
          </p:sp>
          <p:sp>
            <p:nvSpPr>
              <p:cNvPr id="87" name="Freeform 87"/>
              <p:cNvSpPr/>
              <p:nvPr/>
            </p:nvSpPr>
            <p:spPr>
              <a:xfrm>
                <a:off x="952500" y="5762625"/>
                <a:ext cx="228600" cy="238237"/>
              </a:xfrm>
              <a:custGeom>
                <a:avLst/>
                <a:gdLst/>
                <a:ahLst/>
                <a:cxnLst/>
                <a:rect l="l" t="t" r="r" b="b"/>
                <a:pathLst>
                  <a:path w="228600" h="238237">
                    <a:moveTo>
                      <a:pt x="209550" y="0"/>
                    </a:moveTo>
                    <a:lnTo>
                      <a:pt x="19050" y="0"/>
                    </a:lnTo>
                    <a:cubicBezTo>
                      <a:pt x="8529" y="0"/>
                      <a:pt x="0" y="8529"/>
                      <a:pt x="0" y="19050"/>
                    </a:cubicBezTo>
                    <a:lnTo>
                      <a:pt x="0" y="85725"/>
                    </a:lnTo>
                    <a:cubicBezTo>
                      <a:pt x="0" y="148495"/>
                      <a:pt x="30385" y="186535"/>
                      <a:pt x="55876" y="207395"/>
                    </a:cubicBezTo>
                    <a:cubicBezTo>
                      <a:pt x="83332" y="229850"/>
                      <a:pt x="110645" y="237470"/>
                      <a:pt x="111835" y="237792"/>
                    </a:cubicBezTo>
                    <a:cubicBezTo>
                      <a:pt x="113473" y="238237"/>
                      <a:pt x="115199" y="238237"/>
                      <a:pt x="116836" y="237792"/>
                    </a:cubicBezTo>
                    <a:cubicBezTo>
                      <a:pt x="118027" y="237470"/>
                      <a:pt x="145304" y="229850"/>
                      <a:pt x="172795" y="207395"/>
                    </a:cubicBezTo>
                    <a:cubicBezTo>
                      <a:pt x="198215" y="186535"/>
                      <a:pt x="228600" y="148495"/>
                      <a:pt x="228600" y="85725"/>
                    </a:cubicBezTo>
                    <a:lnTo>
                      <a:pt x="228600" y="19050"/>
                    </a:lnTo>
                    <a:cubicBezTo>
                      <a:pt x="228600" y="8529"/>
                      <a:pt x="220071" y="0"/>
                      <a:pt x="209550" y="0"/>
                    </a:cubicBezTo>
                    <a:close/>
                    <a:moveTo>
                      <a:pt x="209550" y="85725"/>
                    </a:moveTo>
                    <a:cubicBezTo>
                      <a:pt x="209550" y="129861"/>
                      <a:pt x="193286" y="165687"/>
                      <a:pt x="161211" y="192191"/>
                    </a:cubicBezTo>
                    <a:cubicBezTo>
                      <a:pt x="147248" y="203689"/>
                      <a:pt x="131368" y="212636"/>
                      <a:pt x="114300" y="218623"/>
                    </a:cubicBezTo>
                    <a:cubicBezTo>
                      <a:pt x="97455" y="212740"/>
                      <a:pt x="81772" y="203952"/>
                      <a:pt x="67961" y="192655"/>
                    </a:cubicBezTo>
                    <a:cubicBezTo>
                      <a:pt x="35504" y="166104"/>
                      <a:pt x="19050" y="130135"/>
                      <a:pt x="19050" y="85725"/>
                    </a:cubicBezTo>
                    <a:lnTo>
                      <a:pt x="19050" y="19050"/>
                    </a:lnTo>
                    <a:lnTo>
                      <a:pt x="209550" y="19050"/>
                    </a:lnTo>
                    <a:close/>
                    <a:moveTo>
                      <a:pt x="59936" y="121039"/>
                    </a:moveTo>
                    <a:cubicBezTo>
                      <a:pt x="56214" y="117317"/>
                      <a:pt x="56214" y="111283"/>
                      <a:pt x="59936" y="107561"/>
                    </a:cubicBezTo>
                    <a:cubicBezTo>
                      <a:pt x="63658" y="103839"/>
                      <a:pt x="69692" y="103839"/>
                      <a:pt x="73414" y="107561"/>
                    </a:cubicBezTo>
                    <a:lnTo>
                      <a:pt x="95250" y="129409"/>
                    </a:lnTo>
                    <a:lnTo>
                      <a:pt x="155186" y="69461"/>
                    </a:lnTo>
                    <a:cubicBezTo>
                      <a:pt x="158908" y="65739"/>
                      <a:pt x="164942" y="65739"/>
                      <a:pt x="168664" y="69461"/>
                    </a:cubicBezTo>
                    <a:cubicBezTo>
                      <a:pt x="172386" y="73183"/>
                      <a:pt x="172386" y="79217"/>
                      <a:pt x="168664" y="82939"/>
                    </a:cubicBezTo>
                    <a:lnTo>
                      <a:pt x="101989" y="149614"/>
                    </a:lnTo>
                    <a:cubicBezTo>
                      <a:pt x="100202" y="151403"/>
                      <a:pt x="97778" y="152407"/>
                      <a:pt x="95250" y="152407"/>
                    </a:cubicBezTo>
                    <a:cubicBezTo>
                      <a:pt x="92722" y="152407"/>
                      <a:pt x="90298" y="151403"/>
                      <a:pt x="88511" y="149614"/>
                    </a:cubicBezTo>
                    <a:close/>
                  </a:path>
                </a:pathLst>
              </a:custGeom>
              <a:solidFill>
                <a:schemeClr val="accent1"/>
              </a:solidFill>
              <a:ln>
                <a:noFill/>
              </a:ln>
            </p:spPr>
          </p:sp>
        </p:grpSp>
        <p:sp>
          <p:nvSpPr>
            <p:cNvPr id="89" name="TextBox 89"/>
            <p:cNvSpPr txBox="1"/>
            <p:nvPr/>
          </p:nvSpPr>
          <p:spPr>
            <a:xfrm>
              <a:off x="1305306" y="5749290"/>
              <a:ext cx="5864183"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Edge AI:</a:t>
              </a:r>
              <a:r>
                <a:rPr lang="vi-VN" sz="1800" dirty="0">
                  <a:solidFill>
                    <a:schemeClr val="dk1"/>
                  </a:solidFill>
                  <a:latin typeface="+mn-lt"/>
                  <a:ea typeface="+mn-ea"/>
                  <a:cs typeface="+mn-cs"/>
                </a:rPr>
                <a:t> ảnh xử lý ngay trên Pi, không gửi lên Internet</a:t>
              </a:r>
              <a:endParaRPr lang="vi-VN" sz="1800" dirty="0">
                <a:solidFill>
                  <a:schemeClr val="dk1"/>
                </a:solidFill>
                <a:latin typeface="+mn-lt"/>
                <a:ea typeface="+mn-ea"/>
                <a:cs typeface="+mn-cs"/>
              </a:endParaRPr>
            </a:p>
          </p:txBody>
        </p:sp>
        <p:grpSp>
          <p:nvGrpSpPr>
            <p:cNvPr id="92" name="Group 92"/>
            <p:cNvGrpSpPr/>
            <p:nvPr/>
          </p:nvGrpSpPr>
          <p:grpSpPr>
            <a:xfrm>
              <a:off x="7991475" y="5743575"/>
              <a:ext cx="247650" cy="247650"/>
              <a:chOff x="7991475" y="5743575"/>
              <a:chExt cx="247650" cy="247650"/>
            </a:xfrm>
          </p:grpSpPr>
          <p:sp>
            <p:nvSpPr>
              <p:cNvPr id="90" name="Freeform 90"/>
              <p:cNvSpPr/>
              <p:nvPr/>
            </p:nvSpPr>
            <p:spPr>
              <a:xfrm>
                <a:off x="8001000" y="57531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a:schemeClr val="accent1">
                  <a:alpha val="20000"/>
                </a:schemeClr>
              </a:solidFill>
              <a:ln>
                <a:noFill/>
              </a:ln>
            </p:spPr>
          </p:sp>
          <p:sp>
            <p:nvSpPr>
              <p:cNvPr id="91" name="Freeform 91"/>
              <p:cNvSpPr/>
              <p:nvPr/>
            </p:nvSpPr>
            <p:spPr>
              <a:xfrm>
                <a:off x="7991475" y="5743575"/>
                <a:ext cx="247650" cy="247650"/>
              </a:xfrm>
              <a:custGeom>
                <a:avLst/>
                <a:gdLst/>
                <a:ahLst/>
                <a:cxnLst/>
                <a:rect l="l" t="t" r="r" b="b"/>
                <a:pathLst>
                  <a:path w="247650" h="247650">
                    <a:moveTo>
                      <a:pt x="123825" y="0"/>
                    </a:moveTo>
                    <a:cubicBezTo>
                      <a:pt x="55438" y="0"/>
                      <a:pt x="0" y="55438"/>
                      <a:pt x="0" y="123825"/>
                    </a:cubicBezTo>
                    <a:cubicBezTo>
                      <a:pt x="0" y="192212"/>
                      <a:pt x="55438" y="247650"/>
                      <a:pt x="123825" y="247650"/>
                    </a:cubicBezTo>
                    <a:cubicBezTo>
                      <a:pt x="192212" y="247650"/>
                      <a:pt x="247650" y="192212"/>
                      <a:pt x="247650" y="123825"/>
                    </a:cubicBezTo>
                    <a:cubicBezTo>
                      <a:pt x="247578" y="55468"/>
                      <a:pt x="192182" y="72"/>
                      <a:pt x="123825" y="0"/>
                    </a:cubicBezTo>
                    <a:close/>
                    <a:moveTo>
                      <a:pt x="123825" y="228600"/>
                    </a:moveTo>
                    <a:cubicBezTo>
                      <a:pt x="65959" y="228600"/>
                      <a:pt x="19050" y="181691"/>
                      <a:pt x="19050" y="123825"/>
                    </a:cubicBezTo>
                    <a:cubicBezTo>
                      <a:pt x="19050" y="65959"/>
                      <a:pt x="65959" y="19050"/>
                      <a:pt x="123825" y="19050"/>
                    </a:cubicBezTo>
                    <a:cubicBezTo>
                      <a:pt x="181691" y="19050"/>
                      <a:pt x="228600" y="65959"/>
                      <a:pt x="228600" y="123825"/>
                    </a:cubicBezTo>
                    <a:cubicBezTo>
                      <a:pt x="228534" y="181663"/>
                      <a:pt x="181663" y="228534"/>
                      <a:pt x="123825" y="228600"/>
                    </a:cubicBezTo>
                    <a:close/>
                    <a:moveTo>
                      <a:pt x="200025" y="123825"/>
                    </a:moveTo>
                    <a:cubicBezTo>
                      <a:pt x="200025" y="129086"/>
                      <a:pt x="195761" y="133350"/>
                      <a:pt x="190500" y="133350"/>
                    </a:cubicBezTo>
                    <a:lnTo>
                      <a:pt x="123825" y="133350"/>
                    </a:lnTo>
                    <a:cubicBezTo>
                      <a:pt x="118564" y="133350"/>
                      <a:pt x="114300" y="129086"/>
                      <a:pt x="114300" y="123825"/>
                    </a:cubicBezTo>
                    <a:lnTo>
                      <a:pt x="114300" y="57150"/>
                    </a:lnTo>
                    <a:cubicBezTo>
                      <a:pt x="114300" y="51889"/>
                      <a:pt x="118564" y="47625"/>
                      <a:pt x="123825" y="47625"/>
                    </a:cubicBezTo>
                    <a:cubicBezTo>
                      <a:pt x="129086" y="47625"/>
                      <a:pt x="133350" y="51889"/>
                      <a:pt x="133350" y="57150"/>
                    </a:cubicBezTo>
                    <a:lnTo>
                      <a:pt x="133350" y="114300"/>
                    </a:lnTo>
                    <a:lnTo>
                      <a:pt x="190500" y="114300"/>
                    </a:lnTo>
                    <a:cubicBezTo>
                      <a:pt x="195761" y="114300"/>
                      <a:pt x="200025" y="118564"/>
                      <a:pt x="200025" y="123825"/>
                    </a:cubicBezTo>
                    <a:close/>
                  </a:path>
                </a:pathLst>
              </a:custGeom>
              <a:solidFill>
                <a:schemeClr val="accent1"/>
              </a:solidFill>
              <a:ln>
                <a:noFill/>
              </a:ln>
            </p:spPr>
          </p:sp>
        </p:grpSp>
        <p:sp>
          <p:nvSpPr>
            <p:cNvPr id="93" name="TextBox 93"/>
            <p:cNvSpPr txBox="1"/>
            <p:nvPr/>
          </p:nvSpPr>
          <p:spPr>
            <a:xfrm>
              <a:off x="8353806" y="5749290"/>
              <a:ext cx="3228796" cy="352044"/>
            </a:xfrm>
            <a:prstGeom prst="rect">
              <a:avLst/>
            </a:prstGeom>
            <a:noFill/>
            <a:ln>
              <a:noFill/>
            </a:ln>
          </p:spPr>
          <p:txBody>
            <a:bodyPr wrap="none" lIns="0" tIns="0" rIns="0" bIns="0" anchor="t" anchorCtr="0">
              <a:spAutoFit/>
            </a:bodyPr>
            <a:lstStyle/>
            <a:p>
              <a:pPr algn="l"/>
              <a:r>
                <a:rPr lang="vi-VN" sz="1800" dirty="0">
                  <a:solidFill>
                    <a:schemeClr val="dk1"/>
                  </a:solidFill>
                  <a:latin typeface="+mn-lt"/>
                  <a:ea typeface="+mn-ea"/>
                  <a:cs typeface="+mn-cs"/>
                </a:rPr>
                <a:t>Nhận diện </a:t>
              </a:r>
              <a:r>
                <a:rPr lang="vi-VN" sz="1800" b="1" dirty="0">
                  <a:solidFill>
                    <a:schemeClr val="dk1"/>
                  </a:solidFill>
                  <a:latin typeface="+mn-lt"/>
                  <a:ea typeface="+mn-ea"/>
                  <a:cs typeface="+mn-cs"/>
                </a:rPr>
                <a:t>&lt; 3 giây</a:t>
              </a:r>
              <a:r>
                <a:rPr lang="vi-VN" sz="1800" dirty="0">
                  <a:solidFill>
                    <a:schemeClr val="dk1"/>
                  </a:solidFill>
                  <a:latin typeface="+mn-lt"/>
                  <a:ea typeface="+mn-ea"/>
                  <a:cs typeface="+mn-cs"/>
                </a:rPr>
                <a:t> / lần quét</a:t>
              </a:r>
              <a:endParaRPr lang="vi-VN" sz="1800" dirty="0">
                <a:solidFill>
                  <a:schemeClr val="dk1"/>
                </a:solidFill>
                <a:latin typeface="+mn-lt"/>
                <a:ea typeface="+mn-ea"/>
                <a:cs typeface="+mn-cs"/>
              </a:endParaRPr>
            </a:p>
          </p:txBody>
        </p:sp>
      </p:grpSp>
      <p:sp>
        <p:nvSpPr>
          <p:cNvPr id="95" name="TextBox 95"/>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11 / 13</a:t>
            </a:r>
            <a:endParaRPr lang="vi-VN" sz="1200" dirty="0">
              <a:solidFill>
                <a:schemeClr val="accent5"/>
              </a:solidFill>
              <a:latin typeface="Consolas" panose="020B0609020204030204"/>
              <a:ea typeface="Consolas" panose="020B0609020204030204"/>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4360" y="422910"/>
            <a:ext cx="3307080" cy="849630"/>
            <a:chOff x="594360" y="422910"/>
            <a:chExt cx="3307080" cy="849630"/>
          </a:xfrm>
        </p:grpSpPr>
        <p:sp>
          <p:nvSpPr>
            <p:cNvPr id="2" name="TextBox 2"/>
            <p:cNvSpPr txBox="1"/>
            <p:nvPr/>
          </p:nvSpPr>
          <p:spPr>
            <a:xfrm>
              <a:off x="603504" y="422910"/>
              <a:ext cx="3297936"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PHẦN 4 · KẾT QUẢ &amp; HƯỚNG PHÁT TRIỂN</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3" name="TextBox 3"/>
            <p:cNvSpPr txBox="1"/>
            <p:nvPr/>
          </p:nvSpPr>
          <p:spPr>
            <a:xfrm>
              <a:off x="594360" y="685800"/>
              <a:ext cx="3171776"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Demo &amp; kết quả</a:t>
              </a:r>
              <a:endParaRPr lang="vi-VN" sz="3000" b="1" dirty="0">
                <a:solidFill>
                  <a:schemeClr val="dk1"/>
                </a:solidFill>
                <a:latin typeface="+mn-lt"/>
                <a:ea typeface="+mn-ea"/>
                <a:cs typeface="+mn-cs"/>
              </a:endParaRPr>
            </a:p>
          </p:txBody>
        </p:sp>
      </p:grpSp>
      <p:grpSp>
        <p:nvGrpSpPr>
          <p:cNvPr id="10" name="led-motif"/>
          <p:cNvGrpSpPr/>
          <p:nvPr/>
        </p:nvGrpSpPr>
        <p:grpSpPr>
          <a:xfrm>
            <a:off x="10534650" y="533400"/>
            <a:ext cx="1028700" cy="114300"/>
            <a:chOff x="10534650" y="533400"/>
            <a:chExt cx="1028700" cy="114300"/>
          </a:xfrm>
        </p:grpSpPr>
        <p:sp>
          <p:nvSpPr>
            <p:cNvPr id="5" name="Ellipse 5"/>
            <p:cNvSpPr/>
            <p:nvPr/>
          </p:nvSpPr>
          <p:spPr>
            <a:xfrm>
              <a:off x="10534650" y="533400"/>
              <a:ext cx="114300" cy="114300"/>
            </a:xfrm>
            <a:prstGeom prst="ellipse">
              <a:avLst/>
            </a:prstGeom>
            <a:solidFill>
              <a:schemeClr val="accent2"/>
            </a:solidFill>
            <a:ln>
              <a:noFill/>
            </a:ln>
          </p:spPr>
        </p:sp>
        <p:sp>
          <p:nvSpPr>
            <p:cNvPr id="6" name="Ellipse 6"/>
            <p:cNvSpPr/>
            <p:nvPr/>
          </p:nvSpPr>
          <p:spPr>
            <a:xfrm>
              <a:off x="10763250" y="533400"/>
              <a:ext cx="114300" cy="114300"/>
            </a:xfrm>
            <a:prstGeom prst="ellipse">
              <a:avLst/>
            </a:prstGeom>
            <a:solidFill>
              <a:srgbClr val="4F8CFF"/>
            </a:solidFill>
            <a:ln>
              <a:noFill/>
            </a:ln>
          </p:spPr>
        </p:sp>
        <p:sp>
          <p:nvSpPr>
            <p:cNvPr id="7" name="Ellipse 7"/>
            <p:cNvSpPr/>
            <p:nvPr/>
          </p:nvSpPr>
          <p:spPr>
            <a:xfrm>
              <a:off x="10991850" y="533400"/>
              <a:ext cx="114300" cy="114300"/>
            </a:xfrm>
            <a:prstGeom prst="ellipse">
              <a:avLst/>
            </a:prstGeom>
            <a:solidFill>
              <a:srgbClr val="FF5A5F"/>
            </a:solidFill>
            <a:ln>
              <a:noFill/>
            </a:ln>
          </p:spPr>
        </p:sp>
        <p:sp>
          <p:nvSpPr>
            <p:cNvPr id="8" name="Ellipse 8"/>
            <p:cNvSpPr/>
            <p:nvPr/>
          </p:nvSpPr>
          <p:spPr>
            <a:xfrm>
              <a:off x="11220450" y="533400"/>
              <a:ext cx="114300" cy="114300"/>
            </a:xfrm>
            <a:prstGeom prst="ellipse">
              <a:avLst/>
            </a:prstGeom>
            <a:solidFill>
              <a:schemeClr val="accent3"/>
            </a:solidFill>
            <a:ln>
              <a:noFill/>
            </a:ln>
          </p:spPr>
        </p:sp>
        <p:sp>
          <p:nvSpPr>
            <p:cNvPr id="9" name="Ellipse 9"/>
            <p:cNvSpPr/>
            <p:nvPr/>
          </p:nvSpPr>
          <p:spPr>
            <a:xfrm>
              <a:off x="11449050" y="533400"/>
              <a:ext cx="114300" cy="114300"/>
            </a:xfrm>
            <a:prstGeom prst="ellipse">
              <a:avLst/>
            </a:prstGeom>
            <a:solidFill>
              <a:schemeClr val="dk1"/>
            </a:solidFill>
            <a:ln>
              <a:noFill/>
            </a:ln>
          </p:spPr>
        </p:sp>
      </p:grpSp>
      <p:grpSp>
        <p:nvGrpSpPr>
          <p:cNvPr id="30" name="results"/>
          <p:cNvGrpSpPr/>
          <p:nvPr/>
        </p:nvGrpSpPr>
        <p:grpSpPr>
          <a:xfrm>
            <a:off x="603504" y="1394460"/>
            <a:ext cx="5111496" cy="3444240"/>
            <a:chOff x="603504" y="1394460"/>
            <a:chExt cx="5111496" cy="3444240"/>
          </a:xfrm>
        </p:grpSpPr>
        <p:sp>
          <p:nvSpPr>
            <p:cNvPr id="11" name="TextBox 11"/>
            <p:cNvSpPr txBox="1"/>
            <p:nvPr/>
          </p:nvSpPr>
          <p:spPr>
            <a:xfrm>
              <a:off x="603504" y="1394460"/>
              <a:ext cx="1326490" cy="234696"/>
            </a:xfrm>
            <a:prstGeom prst="rect">
              <a:avLst/>
            </a:prstGeom>
            <a:noFill/>
            <a:ln>
              <a:noFill/>
            </a:ln>
          </p:spPr>
          <p:txBody>
            <a:bodyPr wrap="none" lIns="0" tIns="0" rIns="0" bIns="0" anchor="t" anchorCtr="0">
              <a:spAutoFit/>
            </a:bodyPr>
            <a:lstStyle/>
            <a:p>
              <a:pPr algn="l"/>
              <a:r>
                <a:rPr lang="vi-VN" sz="1200" dirty="0">
                  <a:solidFill>
                    <a:srgbClr val="34D399"/>
                  </a:solidFill>
                  <a:latin typeface="Consolas" panose="020B0609020204030204"/>
                  <a:ea typeface="Consolas" panose="020B0609020204030204"/>
                  <a:cs typeface="Consolas" panose="020B0609020204030204"/>
                </a:rPr>
                <a:t>KẾT QUẢ ĐÃ ĐẠT</a:t>
              </a:r>
              <a:endParaRPr lang="vi-VN" sz="1200" dirty="0">
                <a:solidFill>
                  <a:srgbClr val="34D399"/>
                </a:solidFill>
                <a:latin typeface="Consolas" panose="020B0609020204030204"/>
                <a:ea typeface="Consolas" panose="020B0609020204030204"/>
                <a:cs typeface="Consolas" panose="020B0609020204030204"/>
              </a:endParaRPr>
            </a:p>
          </p:txBody>
        </p:sp>
        <p:grpSp>
          <p:nvGrpSpPr>
            <p:cNvPr id="17" name="result-1"/>
            <p:cNvGrpSpPr/>
            <p:nvPr/>
          </p:nvGrpSpPr>
          <p:grpSpPr>
            <a:xfrm>
              <a:off x="609600" y="1676400"/>
              <a:ext cx="5105400" cy="952500"/>
              <a:chOff x="609600" y="1676400"/>
              <a:chExt cx="5105400" cy="952500"/>
            </a:xfrm>
          </p:grpSpPr>
          <p:sp>
            <p:nvSpPr>
              <p:cNvPr id="12" name="Rectangle 12"/>
              <p:cNvSpPr/>
              <p:nvPr/>
            </p:nvSpPr>
            <p:spPr>
              <a:xfrm>
                <a:off x="609600" y="1676400"/>
                <a:ext cx="5105400" cy="952500"/>
              </a:xfrm>
              <a:prstGeom prst="roundRect">
                <a:avLst>
                  <a:gd name="adj" fmla="val 12000"/>
                </a:avLst>
              </a:prstGeom>
              <a:solidFill>
                <a:schemeClr val="lt2"/>
              </a:solidFill>
              <a:ln w="14288">
                <a:solidFill>
                  <a:schemeClr val="accent6"/>
                </a:solidFill>
              </a:ln>
            </p:spPr>
          </p:sp>
          <p:sp>
            <p:nvSpPr>
              <p:cNvPr id="13" name="Ellipse 13"/>
              <p:cNvSpPr/>
              <p:nvPr/>
            </p:nvSpPr>
            <p:spPr>
              <a:xfrm>
                <a:off x="800100" y="1866900"/>
                <a:ext cx="342900" cy="342900"/>
              </a:xfrm>
              <a:prstGeom prst="ellipse">
                <a:avLst/>
              </a:prstGeom>
              <a:solidFill>
                <a:srgbClr val="34D399"/>
              </a:solidFill>
              <a:ln>
                <a:noFill/>
              </a:ln>
            </p:spPr>
          </p:sp>
          <p:sp>
            <p:nvSpPr>
              <p:cNvPr id="14" name="TextBox 14"/>
              <p:cNvSpPr txBox="1"/>
              <p:nvPr/>
            </p:nvSpPr>
            <p:spPr>
              <a:xfrm>
                <a:off x="835190" y="1920240"/>
                <a:ext cx="272720" cy="352044"/>
              </a:xfrm>
              <a:prstGeom prst="rect">
                <a:avLst/>
              </a:prstGeom>
              <a:noFill/>
              <a:ln>
                <a:noFill/>
              </a:ln>
            </p:spPr>
            <p:txBody>
              <a:bodyPr wrap="none" lIns="0" tIns="0" rIns="0" bIns="0" anchor="t" anchorCtr="0">
                <a:spAutoFit/>
              </a:bodyPr>
              <a:lstStyle/>
              <a:p>
                <a:pPr algn="ctr"/>
                <a:r>
                  <a:rPr lang="vi-VN" sz="1800" b="1" dirty="0">
                    <a:solidFill>
                      <a:srgbClr val="0B1020"/>
                    </a:solidFill>
                    <a:latin typeface="+mn-lt"/>
                    <a:ea typeface="+mn-ea"/>
                    <a:cs typeface="+mn-cs"/>
                  </a:rPr>
                  <a:t>✓</a:t>
                </a:r>
                <a:endParaRPr lang="vi-VN" sz="1800" b="1" dirty="0">
                  <a:solidFill>
                    <a:srgbClr val="0B1020"/>
                  </a:solidFill>
                  <a:latin typeface="+mn-lt"/>
                  <a:ea typeface="+mn-ea"/>
                  <a:cs typeface="+mn-cs"/>
                </a:endParaRPr>
              </a:p>
            </p:txBody>
          </p:sp>
          <p:sp>
            <p:nvSpPr>
              <p:cNvPr id="15" name="TextBox 15"/>
              <p:cNvSpPr txBox="1"/>
              <p:nvPr/>
            </p:nvSpPr>
            <p:spPr>
              <a:xfrm>
                <a:off x="1286256" y="1901190"/>
                <a:ext cx="2814889"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Chạy trọn vòng trên Pi 5</a:t>
                </a:r>
                <a:endParaRPr lang="vi-VN" sz="1800" b="1" dirty="0">
                  <a:solidFill>
                    <a:schemeClr val="dk1"/>
                  </a:solidFill>
                  <a:latin typeface="+mn-lt"/>
                  <a:ea typeface="+mn-ea"/>
                  <a:cs typeface="+mn-cs"/>
                </a:endParaRPr>
              </a:p>
            </p:txBody>
          </p:sp>
          <p:sp>
            <p:nvSpPr>
              <p:cNvPr id="16" name="TextBox 16"/>
              <p:cNvSpPr txBox="1"/>
              <p:nvPr/>
            </p:nvSpPr>
            <p:spPr>
              <a:xfrm>
                <a:off x="1288542" y="2235518"/>
                <a:ext cx="3654217"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nhận mặt → phát nhạc → chấm điểm → quét lại</a:t>
                </a:r>
                <a:endParaRPr lang="vi-VN" sz="1350" dirty="0">
                  <a:solidFill>
                    <a:schemeClr val="accent5"/>
                  </a:solidFill>
                  <a:latin typeface="+mn-lt"/>
                  <a:ea typeface="+mn-ea"/>
                  <a:cs typeface="+mn-cs"/>
                </a:endParaRPr>
              </a:p>
            </p:txBody>
          </p:sp>
        </p:grpSp>
        <p:grpSp>
          <p:nvGrpSpPr>
            <p:cNvPr id="23" name="result-2"/>
            <p:cNvGrpSpPr/>
            <p:nvPr/>
          </p:nvGrpSpPr>
          <p:grpSpPr>
            <a:xfrm>
              <a:off x="609600" y="2781300"/>
              <a:ext cx="5105400" cy="952500"/>
              <a:chOff x="609600" y="2781300"/>
              <a:chExt cx="5105400" cy="952500"/>
            </a:xfrm>
          </p:grpSpPr>
          <p:sp>
            <p:nvSpPr>
              <p:cNvPr id="18" name="Rectangle 18"/>
              <p:cNvSpPr/>
              <p:nvPr/>
            </p:nvSpPr>
            <p:spPr>
              <a:xfrm>
                <a:off x="609600" y="2781300"/>
                <a:ext cx="5105400" cy="952500"/>
              </a:xfrm>
              <a:prstGeom prst="roundRect">
                <a:avLst>
                  <a:gd name="adj" fmla="val 12000"/>
                </a:avLst>
              </a:prstGeom>
              <a:solidFill>
                <a:schemeClr val="lt2"/>
              </a:solidFill>
              <a:ln w="14288">
                <a:solidFill>
                  <a:schemeClr val="accent6"/>
                </a:solidFill>
              </a:ln>
            </p:spPr>
          </p:sp>
          <p:sp>
            <p:nvSpPr>
              <p:cNvPr id="19" name="Ellipse 19"/>
              <p:cNvSpPr/>
              <p:nvPr/>
            </p:nvSpPr>
            <p:spPr>
              <a:xfrm>
                <a:off x="800100" y="2971800"/>
                <a:ext cx="342900" cy="342900"/>
              </a:xfrm>
              <a:prstGeom prst="ellipse">
                <a:avLst/>
              </a:prstGeom>
              <a:solidFill>
                <a:srgbClr val="34D399"/>
              </a:solidFill>
              <a:ln>
                <a:noFill/>
              </a:ln>
            </p:spPr>
          </p:sp>
          <p:sp>
            <p:nvSpPr>
              <p:cNvPr id="20" name="TextBox 20"/>
              <p:cNvSpPr txBox="1"/>
              <p:nvPr/>
            </p:nvSpPr>
            <p:spPr>
              <a:xfrm>
                <a:off x="835190" y="3025140"/>
                <a:ext cx="272720" cy="352044"/>
              </a:xfrm>
              <a:prstGeom prst="rect">
                <a:avLst/>
              </a:prstGeom>
              <a:noFill/>
              <a:ln>
                <a:noFill/>
              </a:ln>
            </p:spPr>
            <p:txBody>
              <a:bodyPr wrap="none" lIns="0" tIns="0" rIns="0" bIns="0" anchor="t" anchorCtr="0">
                <a:spAutoFit/>
              </a:bodyPr>
              <a:lstStyle/>
              <a:p>
                <a:pPr algn="ctr"/>
                <a:r>
                  <a:rPr lang="vi-VN" sz="1800" b="1" dirty="0">
                    <a:solidFill>
                      <a:srgbClr val="0B1020"/>
                    </a:solidFill>
                    <a:latin typeface="+mn-lt"/>
                    <a:ea typeface="+mn-ea"/>
                    <a:cs typeface="+mn-cs"/>
                  </a:rPr>
                  <a:t>✓</a:t>
                </a:r>
                <a:endParaRPr lang="vi-VN" sz="1800" b="1" dirty="0">
                  <a:solidFill>
                    <a:srgbClr val="0B1020"/>
                  </a:solidFill>
                  <a:latin typeface="+mn-lt"/>
                  <a:ea typeface="+mn-ea"/>
                  <a:cs typeface="+mn-cs"/>
                </a:endParaRPr>
              </a:p>
            </p:txBody>
          </p:sp>
          <p:sp>
            <p:nvSpPr>
              <p:cNvPr id="21" name="TextBox 21"/>
              <p:cNvSpPr txBox="1"/>
              <p:nvPr/>
            </p:nvSpPr>
            <p:spPr>
              <a:xfrm>
                <a:off x="1286256" y="3006090"/>
                <a:ext cx="2640613"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Ghi đúng vào database</a:t>
                </a:r>
                <a:endParaRPr lang="vi-VN" sz="1800" b="1" dirty="0">
                  <a:solidFill>
                    <a:schemeClr val="dk1"/>
                  </a:solidFill>
                  <a:latin typeface="+mn-lt"/>
                  <a:ea typeface="+mn-ea"/>
                  <a:cs typeface="+mn-cs"/>
                </a:endParaRPr>
              </a:p>
            </p:txBody>
          </p:sp>
          <p:sp>
            <p:nvSpPr>
              <p:cNvPr id="22" name="TextBox 22"/>
              <p:cNvSpPr txBox="1"/>
              <p:nvPr/>
            </p:nvSpPr>
            <p:spPr>
              <a:xfrm>
                <a:off x="1288542" y="3340418"/>
                <a:ext cx="220817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lịch sử cảm xúc và phản hồi</a:t>
                </a:r>
                <a:endParaRPr lang="vi-VN" sz="1350" dirty="0">
                  <a:solidFill>
                    <a:schemeClr val="accent5"/>
                  </a:solidFill>
                  <a:latin typeface="+mn-lt"/>
                  <a:ea typeface="+mn-ea"/>
                  <a:cs typeface="+mn-cs"/>
                </a:endParaRPr>
              </a:p>
            </p:txBody>
          </p:sp>
        </p:grpSp>
        <p:grpSp>
          <p:nvGrpSpPr>
            <p:cNvPr id="29" name="result-3"/>
            <p:cNvGrpSpPr/>
            <p:nvPr/>
          </p:nvGrpSpPr>
          <p:grpSpPr>
            <a:xfrm>
              <a:off x="609600" y="3886200"/>
              <a:ext cx="5105400" cy="952500"/>
              <a:chOff x="609600" y="3886200"/>
              <a:chExt cx="5105400" cy="952500"/>
            </a:xfrm>
          </p:grpSpPr>
          <p:sp>
            <p:nvSpPr>
              <p:cNvPr id="24" name="Rectangle 24"/>
              <p:cNvSpPr/>
              <p:nvPr/>
            </p:nvSpPr>
            <p:spPr>
              <a:xfrm>
                <a:off x="609600" y="3886200"/>
                <a:ext cx="5105400" cy="952500"/>
              </a:xfrm>
              <a:prstGeom prst="roundRect">
                <a:avLst>
                  <a:gd name="adj" fmla="val 12000"/>
                </a:avLst>
              </a:prstGeom>
              <a:solidFill>
                <a:schemeClr val="lt2"/>
              </a:solidFill>
              <a:ln w="14288">
                <a:solidFill>
                  <a:schemeClr val="accent6"/>
                </a:solidFill>
              </a:ln>
            </p:spPr>
          </p:sp>
          <p:sp>
            <p:nvSpPr>
              <p:cNvPr id="25" name="Ellipse 25"/>
              <p:cNvSpPr/>
              <p:nvPr/>
            </p:nvSpPr>
            <p:spPr>
              <a:xfrm>
                <a:off x="800100" y="4076700"/>
                <a:ext cx="342900" cy="342900"/>
              </a:xfrm>
              <a:prstGeom prst="ellipse">
                <a:avLst/>
              </a:prstGeom>
              <a:solidFill>
                <a:srgbClr val="34D399"/>
              </a:solidFill>
              <a:ln>
                <a:noFill/>
              </a:ln>
            </p:spPr>
          </p:sp>
          <p:sp>
            <p:nvSpPr>
              <p:cNvPr id="26" name="TextBox 26"/>
              <p:cNvSpPr txBox="1"/>
              <p:nvPr/>
            </p:nvSpPr>
            <p:spPr>
              <a:xfrm>
                <a:off x="835190" y="4130040"/>
                <a:ext cx="272720" cy="352044"/>
              </a:xfrm>
              <a:prstGeom prst="rect">
                <a:avLst/>
              </a:prstGeom>
              <a:noFill/>
              <a:ln>
                <a:noFill/>
              </a:ln>
            </p:spPr>
            <p:txBody>
              <a:bodyPr wrap="none" lIns="0" tIns="0" rIns="0" bIns="0" anchor="t" anchorCtr="0">
                <a:spAutoFit/>
              </a:bodyPr>
              <a:lstStyle/>
              <a:p>
                <a:pPr algn="ctr"/>
                <a:r>
                  <a:rPr lang="vi-VN" sz="1800" b="1" dirty="0">
                    <a:solidFill>
                      <a:srgbClr val="0B1020"/>
                    </a:solidFill>
                    <a:latin typeface="+mn-lt"/>
                    <a:ea typeface="+mn-ea"/>
                    <a:cs typeface="+mn-cs"/>
                  </a:rPr>
                  <a:t>✓</a:t>
                </a:r>
                <a:endParaRPr lang="vi-VN" sz="1800" b="1" dirty="0">
                  <a:solidFill>
                    <a:srgbClr val="0B1020"/>
                  </a:solidFill>
                  <a:latin typeface="+mn-lt"/>
                  <a:ea typeface="+mn-ea"/>
                  <a:cs typeface="+mn-cs"/>
                </a:endParaRPr>
              </a:p>
            </p:txBody>
          </p:sp>
          <p:sp>
            <p:nvSpPr>
              <p:cNvPr id="27" name="TextBox 27"/>
              <p:cNvSpPr txBox="1"/>
              <p:nvPr/>
            </p:nvSpPr>
            <p:spPr>
              <a:xfrm>
                <a:off x="1286256" y="4110990"/>
                <a:ext cx="2818723"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Demo được ở bất kỳ đâu</a:t>
                </a:r>
                <a:endParaRPr lang="vi-VN" sz="1800" b="1" dirty="0">
                  <a:solidFill>
                    <a:schemeClr val="dk1"/>
                  </a:solidFill>
                  <a:latin typeface="+mn-lt"/>
                  <a:ea typeface="+mn-ea"/>
                  <a:cs typeface="+mn-cs"/>
                </a:endParaRPr>
              </a:p>
            </p:txBody>
          </p:sp>
          <p:sp>
            <p:nvSpPr>
              <p:cNvPr id="28" name="TextBox 28"/>
              <p:cNvSpPr txBox="1"/>
              <p:nvPr/>
            </p:nvSpPr>
            <p:spPr>
              <a:xfrm>
                <a:off x="1288542" y="4445318"/>
                <a:ext cx="2003227"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dùng hotspot của laptop</a:t>
                </a:r>
                <a:endParaRPr lang="vi-VN" sz="1350" dirty="0">
                  <a:solidFill>
                    <a:schemeClr val="accent5"/>
                  </a:solidFill>
                  <a:latin typeface="+mn-lt"/>
                  <a:ea typeface="+mn-ea"/>
                  <a:cs typeface="+mn-cs"/>
                </a:endParaRPr>
              </a:p>
            </p:txBody>
          </p:sp>
        </p:grpSp>
      </p:grpSp>
      <p:grpSp>
        <p:nvGrpSpPr>
          <p:cNvPr id="32" name="core-claim"/>
          <p:cNvGrpSpPr/>
          <p:nvPr/>
        </p:nvGrpSpPr>
        <p:grpSpPr>
          <a:xfrm>
            <a:off x="598932" y="5221605"/>
            <a:ext cx="3390210" cy="772668"/>
            <a:chOff x="598932" y="5221605"/>
            <a:chExt cx="3390210" cy="772668"/>
          </a:xfrm>
        </p:grpSpPr>
        <p:sp>
          <p:nvSpPr>
            <p:cNvPr id="31" name="TextBox 31"/>
            <p:cNvSpPr txBox="1"/>
            <p:nvPr/>
          </p:nvSpPr>
          <p:spPr>
            <a:xfrm>
              <a:off x="598932" y="5221605"/>
              <a:ext cx="3390210" cy="772668"/>
            </a:xfrm>
            <a:prstGeom prst="rect">
              <a:avLst/>
            </a:prstGeom>
            <a:noFill/>
            <a:ln>
              <a:noFill/>
            </a:ln>
          </p:spPr>
          <p:txBody>
            <a:bodyPr wrap="none" lIns="0" tIns="0" rIns="0" bIns="0" anchor="t" anchorCtr="0">
              <a:spAutoFit/>
            </a:bodyPr>
            <a:lstStyle/>
            <a:p>
              <a:pPr algn="l">
                <a:lnSpc>
                  <a:spcPts val="2850"/>
                </a:lnSpc>
              </a:pPr>
              <a:r>
                <a:rPr lang="vi-VN" sz="2100" b="1" dirty="0">
                  <a:solidFill>
                    <a:schemeClr val="dk1"/>
                  </a:solidFill>
                  <a:latin typeface="+mn-lt"/>
                  <a:ea typeface="+mn-ea"/>
                  <a:cs typeface="+mn-cs"/>
                </a:rPr>
                <a:t>Vòng lặp đã chạy trọn</a:t>
              </a:r>
              <a:br>
                <a:rPr lang="vi-VN" sz="2100" b="1" dirty="0">
                  <a:solidFill>
                    <a:schemeClr val="dk1"/>
                  </a:solidFill>
                  <a:latin typeface="+mn-lt"/>
                  <a:ea typeface="+mn-ea"/>
                  <a:cs typeface="+mn-cs"/>
                </a:rPr>
              </a:br>
              <a:r>
                <a:rPr lang="vi-VN" sz="2100" b="1" dirty="0">
                  <a:solidFill>
                    <a:schemeClr val="dk1"/>
                  </a:solidFill>
                  <a:latin typeface="+mn-lt"/>
                  <a:ea typeface="+mn-ea"/>
                  <a:cs typeface="+mn-cs"/>
                </a:rPr>
                <a:t>trên Pi 5 — </a:t>
              </a:r>
              <a:r>
                <a:rPr lang="vi-VN" sz="2100" b="1" dirty="0">
                  <a:solidFill>
                    <a:schemeClr val="accent2"/>
                  </a:solidFill>
                  <a:latin typeface="+mn-lt"/>
                  <a:ea typeface="+mn-ea"/>
                  <a:cs typeface="+mn-cs"/>
                </a:rPr>
                <a:t>xem trực tiếp →</a:t>
              </a:r>
              <a:endParaRPr lang="vi-VN" sz="2100" b="1" dirty="0">
                <a:solidFill>
                  <a:schemeClr val="accent2"/>
                </a:solidFill>
                <a:latin typeface="+mn-lt"/>
                <a:ea typeface="+mn-ea"/>
                <a:cs typeface="+mn-cs"/>
              </a:endParaRPr>
            </a:p>
          </p:txBody>
        </p:sp>
      </p:grpSp>
      <p:grpSp>
        <p:nvGrpSpPr>
          <p:cNvPr id="67" name="demo"/>
          <p:cNvGrpSpPr/>
          <p:nvPr/>
        </p:nvGrpSpPr>
        <p:grpSpPr>
          <a:xfrm>
            <a:off x="6096000" y="1428750"/>
            <a:ext cx="5486400" cy="4667250"/>
            <a:chOff x="6096000" y="1428750"/>
            <a:chExt cx="5486400" cy="4667250"/>
          </a:xfrm>
        </p:grpSpPr>
        <p:sp>
          <p:nvSpPr>
            <p:cNvPr id="33" name="Rectangle 33"/>
            <p:cNvSpPr/>
            <p:nvPr/>
          </p:nvSpPr>
          <p:spPr>
            <a:xfrm>
              <a:off x="6096000" y="1428750"/>
              <a:ext cx="5486400" cy="4667250"/>
            </a:xfrm>
            <a:prstGeom prst="roundRect">
              <a:avLst>
                <a:gd name="adj" fmla="val 3265"/>
              </a:avLst>
            </a:prstGeom>
            <a:solidFill>
              <a:schemeClr val="accent1">
                <a:alpha val="6000"/>
              </a:schemeClr>
            </a:solidFill>
            <a:ln w="19050">
              <a:solidFill>
                <a:schemeClr val="accent1"/>
              </a:solidFill>
            </a:ln>
          </p:spPr>
        </p:sp>
        <p:grpSp>
          <p:nvGrpSpPr>
            <p:cNvPr id="36" name="Group 36"/>
            <p:cNvGrpSpPr/>
            <p:nvPr/>
          </p:nvGrpSpPr>
          <p:grpSpPr>
            <a:xfrm>
              <a:off x="6496050" y="1729987"/>
              <a:ext cx="261910" cy="310793"/>
              <a:chOff x="6496050" y="1729987"/>
              <a:chExt cx="261910" cy="310793"/>
            </a:xfrm>
          </p:grpSpPr>
          <p:sp>
            <p:nvSpPr>
              <p:cNvPr id="34" name="Freeform 34"/>
              <p:cNvSpPr/>
              <p:nvPr/>
            </p:nvSpPr>
            <p:spPr>
              <a:xfrm>
                <a:off x="6507956" y="1742539"/>
                <a:ext cx="238126" cy="286822"/>
              </a:xfrm>
              <a:custGeom>
                <a:avLst/>
                <a:gdLst/>
                <a:ahLst/>
                <a:cxnLst/>
                <a:rect l="l" t="t" r="r" b="b"/>
                <a:pathLst>
                  <a:path w="238126" h="286822">
                    <a:moveTo>
                      <a:pt x="232514" y="153368"/>
                    </a:moveTo>
                    <a:lnTo>
                      <a:pt x="18083" y="284515"/>
                    </a:lnTo>
                    <a:cubicBezTo>
                      <a:pt x="14440" y="286726"/>
                      <a:pt x="9894" y="286822"/>
                      <a:pt x="6161" y="284767"/>
                    </a:cubicBezTo>
                    <a:cubicBezTo>
                      <a:pt x="2429" y="282712"/>
                      <a:pt x="79" y="278819"/>
                      <a:pt x="0" y="274559"/>
                    </a:cubicBezTo>
                    <a:lnTo>
                      <a:pt x="0" y="12264"/>
                    </a:lnTo>
                    <a:cubicBezTo>
                      <a:pt x="79" y="8004"/>
                      <a:pt x="2429" y="4110"/>
                      <a:pt x="6161" y="2055"/>
                    </a:cubicBezTo>
                    <a:cubicBezTo>
                      <a:pt x="9894" y="0"/>
                      <a:pt x="14440" y="96"/>
                      <a:pt x="18083" y="2307"/>
                    </a:cubicBezTo>
                    <a:lnTo>
                      <a:pt x="232514" y="133455"/>
                    </a:lnTo>
                    <a:cubicBezTo>
                      <a:pt x="235998" y="135563"/>
                      <a:pt x="238126" y="139339"/>
                      <a:pt x="238126" y="143411"/>
                    </a:cubicBezTo>
                    <a:cubicBezTo>
                      <a:pt x="238126" y="147483"/>
                      <a:pt x="235998" y="151259"/>
                      <a:pt x="232514" y="153368"/>
                    </a:cubicBezTo>
                    <a:close/>
                  </a:path>
                </a:pathLst>
              </a:custGeom>
              <a:solidFill>
                <a:schemeClr val="accent1">
                  <a:alpha val="20000"/>
                </a:schemeClr>
              </a:solidFill>
              <a:ln>
                <a:noFill/>
              </a:ln>
            </p:spPr>
          </p:sp>
          <p:sp>
            <p:nvSpPr>
              <p:cNvPr id="35" name="Freeform 35"/>
              <p:cNvSpPr/>
              <p:nvPr/>
            </p:nvSpPr>
            <p:spPr>
              <a:xfrm>
                <a:off x="6496050" y="1729987"/>
                <a:ext cx="261910" cy="310793"/>
              </a:xfrm>
              <a:custGeom>
                <a:avLst/>
                <a:gdLst/>
                <a:ahLst/>
                <a:cxnLst/>
                <a:rect l="l" t="t" r="r" b="b"/>
                <a:pathLst>
                  <a:path w="261910" h="310793">
                    <a:moveTo>
                      <a:pt x="250627" y="135856"/>
                    </a:moveTo>
                    <a:lnTo>
                      <a:pt x="36195" y="4679"/>
                    </a:lnTo>
                    <a:cubicBezTo>
                      <a:pt x="28833" y="171"/>
                      <a:pt x="19608" y="0"/>
                      <a:pt x="12085" y="4232"/>
                    </a:cubicBezTo>
                    <a:cubicBezTo>
                      <a:pt x="4634" y="8398"/>
                      <a:pt x="12" y="16263"/>
                      <a:pt x="0" y="24800"/>
                    </a:cubicBezTo>
                    <a:lnTo>
                      <a:pt x="0" y="287125"/>
                    </a:lnTo>
                    <a:cubicBezTo>
                      <a:pt x="57" y="300221"/>
                      <a:pt x="10716" y="310793"/>
                      <a:pt x="23812" y="310744"/>
                    </a:cubicBezTo>
                    <a:cubicBezTo>
                      <a:pt x="28202" y="310742"/>
                      <a:pt x="32507" y="309532"/>
                      <a:pt x="36255" y="307246"/>
                    </a:cubicBezTo>
                    <a:lnTo>
                      <a:pt x="250627" y="176069"/>
                    </a:lnTo>
                    <a:cubicBezTo>
                      <a:pt x="257634" y="171798"/>
                      <a:pt x="261910" y="164184"/>
                      <a:pt x="261910" y="155977"/>
                    </a:cubicBezTo>
                    <a:cubicBezTo>
                      <a:pt x="261910" y="147771"/>
                      <a:pt x="257634" y="140157"/>
                      <a:pt x="250627" y="135886"/>
                    </a:cubicBezTo>
                    <a:close/>
                    <a:moveTo>
                      <a:pt x="23812" y="286842"/>
                    </a:moveTo>
                    <a:lnTo>
                      <a:pt x="23812" y="24994"/>
                    </a:lnTo>
                    <a:lnTo>
                      <a:pt x="237872" y="155963"/>
                    </a:lnTo>
                    <a:close/>
                  </a:path>
                </a:pathLst>
              </a:custGeom>
              <a:solidFill>
                <a:schemeClr val="accent1"/>
              </a:solidFill>
              <a:ln>
                <a:noFill/>
              </a:ln>
            </p:spPr>
          </p:sp>
        </p:grpSp>
        <p:sp>
          <p:nvSpPr>
            <p:cNvPr id="37" name="TextBox 37"/>
            <p:cNvSpPr txBox="1"/>
            <p:nvPr/>
          </p:nvSpPr>
          <p:spPr>
            <a:xfrm>
              <a:off x="6918960" y="1695450"/>
              <a:ext cx="3517508" cy="586740"/>
            </a:xfrm>
            <a:prstGeom prst="rect">
              <a:avLst/>
            </a:prstGeom>
            <a:noFill/>
            <a:ln>
              <a:noFill/>
            </a:ln>
          </p:spPr>
          <p:txBody>
            <a:bodyPr wrap="none" lIns="0" tIns="0" rIns="0" bIns="0" anchor="t" anchorCtr="0">
              <a:spAutoFit/>
            </a:bodyPr>
            <a:lstStyle/>
            <a:p>
              <a:pPr algn="l"/>
              <a:r>
                <a:rPr lang="vi-VN" sz="3000" b="1" dirty="0">
                  <a:solidFill>
                    <a:schemeClr val="dk1"/>
                  </a:solidFill>
                  <a:latin typeface="+mn-lt"/>
                  <a:ea typeface="+mn-ea"/>
                  <a:cs typeface="+mn-cs"/>
                </a:rPr>
                <a:t>DEMO TRỰC TIẾP</a:t>
              </a:r>
              <a:endParaRPr lang="vi-VN" sz="3000" b="1" dirty="0">
                <a:solidFill>
                  <a:schemeClr val="dk1"/>
                </a:solidFill>
                <a:latin typeface="+mn-lt"/>
                <a:ea typeface="+mn-ea"/>
                <a:cs typeface="+mn-cs"/>
              </a:endParaRPr>
            </a:p>
          </p:txBody>
        </p:sp>
        <p:sp>
          <p:nvSpPr>
            <p:cNvPr id="38" name="TextBox 38"/>
            <p:cNvSpPr txBox="1"/>
            <p:nvPr/>
          </p:nvSpPr>
          <p:spPr>
            <a:xfrm>
              <a:off x="6394704" y="2327910"/>
              <a:ext cx="763219"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KỊCH BẢN</a:t>
              </a:r>
              <a:endParaRPr lang="vi-VN" sz="1200" dirty="0">
                <a:solidFill>
                  <a:schemeClr val="accent1"/>
                </a:solidFill>
                <a:latin typeface="Consolas" panose="020B0609020204030204"/>
                <a:ea typeface="Consolas" panose="020B0609020204030204"/>
                <a:cs typeface="Consolas" panose="020B0609020204030204"/>
              </a:endParaRPr>
            </a:p>
          </p:txBody>
        </p:sp>
        <p:grpSp>
          <p:nvGrpSpPr>
            <p:cNvPr id="44" name="demo-steps-num"/>
            <p:cNvGrpSpPr/>
            <p:nvPr/>
          </p:nvGrpSpPr>
          <p:grpSpPr>
            <a:xfrm>
              <a:off x="6394704" y="2632710"/>
              <a:ext cx="101041" cy="1377696"/>
              <a:chOff x="6394704" y="2632710"/>
              <a:chExt cx="101041" cy="1377696"/>
            </a:xfrm>
          </p:grpSpPr>
          <p:sp>
            <p:nvSpPr>
              <p:cNvPr id="39" name="TextBox 39"/>
              <p:cNvSpPr txBox="1"/>
              <p:nvPr/>
            </p:nvSpPr>
            <p:spPr>
              <a:xfrm>
                <a:off x="6394704" y="2632710"/>
                <a:ext cx="10104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1</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40" name="TextBox 40"/>
              <p:cNvSpPr txBox="1"/>
              <p:nvPr/>
            </p:nvSpPr>
            <p:spPr>
              <a:xfrm>
                <a:off x="6394704" y="2918460"/>
                <a:ext cx="10104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2</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41" name="TextBox 41"/>
              <p:cNvSpPr txBox="1"/>
              <p:nvPr/>
            </p:nvSpPr>
            <p:spPr>
              <a:xfrm>
                <a:off x="6394704" y="3204210"/>
                <a:ext cx="10104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3</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42" name="TextBox 42"/>
              <p:cNvSpPr txBox="1"/>
              <p:nvPr/>
            </p:nvSpPr>
            <p:spPr>
              <a:xfrm>
                <a:off x="6394704" y="3489960"/>
                <a:ext cx="10104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4</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43" name="TextBox 43"/>
              <p:cNvSpPr txBox="1"/>
              <p:nvPr/>
            </p:nvSpPr>
            <p:spPr>
              <a:xfrm>
                <a:off x="6394704" y="3775710"/>
                <a:ext cx="101041"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5</a:t>
                </a:r>
                <a:endParaRPr lang="vi-VN" sz="1200" dirty="0">
                  <a:solidFill>
                    <a:schemeClr val="accent1"/>
                  </a:solidFill>
                  <a:latin typeface="Consolas" panose="020B0609020204030204"/>
                  <a:ea typeface="Consolas" panose="020B0609020204030204"/>
                  <a:cs typeface="Consolas" panose="020B0609020204030204"/>
                </a:endParaRPr>
              </a:p>
            </p:txBody>
          </p:sp>
        </p:grpSp>
        <p:grpSp>
          <p:nvGrpSpPr>
            <p:cNvPr id="50" name="demo-steps"/>
            <p:cNvGrpSpPr/>
            <p:nvPr/>
          </p:nvGrpSpPr>
          <p:grpSpPr>
            <a:xfrm>
              <a:off x="6622542" y="2616518"/>
              <a:ext cx="3381278" cy="1407033"/>
              <a:chOff x="6622542" y="2616518"/>
              <a:chExt cx="3381278" cy="1407033"/>
            </a:xfrm>
          </p:grpSpPr>
          <p:sp>
            <p:nvSpPr>
              <p:cNvPr id="45" name="TextBox 45"/>
              <p:cNvSpPr txBox="1"/>
              <p:nvPr/>
            </p:nvSpPr>
            <p:spPr>
              <a:xfrm>
                <a:off x="6622542" y="2616518"/>
                <a:ext cx="271061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Bấm nút 1 → đèn trắng nhấp nháy</a:t>
                </a:r>
                <a:endParaRPr lang="vi-VN" sz="1350" dirty="0">
                  <a:solidFill>
                    <a:schemeClr val="dk1"/>
                  </a:solidFill>
                  <a:latin typeface="+mn-lt"/>
                  <a:ea typeface="+mn-ea"/>
                  <a:cs typeface="+mn-cs"/>
                </a:endParaRPr>
              </a:p>
            </p:txBody>
          </p:sp>
          <p:sp>
            <p:nvSpPr>
              <p:cNvPr id="46" name="TextBox 46"/>
              <p:cNvSpPr txBox="1"/>
              <p:nvPr/>
            </p:nvSpPr>
            <p:spPr>
              <a:xfrm>
                <a:off x="6622542" y="2902268"/>
                <a:ext cx="137446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Nhìn vào camera</a:t>
                </a:r>
                <a:endParaRPr lang="vi-VN" sz="1350" dirty="0">
                  <a:solidFill>
                    <a:schemeClr val="dk1"/>
                  </a:solidFill>
                  <a:latin typeface="+mn-lt"/>
                  <a:ea typeface="+mn-ea"/>
                  <a:cs typeface="+mn-cs"/>
                </a:endParaRPr>
              </a:p>
            </p:txBody>
          </p:sp>
          <p:sp>
            <p:nvSpPr>
              <p:cNvPr id="47" name="TextBox 47"/>
              <p:cNvSpPr txBox="1"/>
              <p:nvPr/>
            </p:nvSpPr>
            <p:spPr>
              <a:xfrm>
                <a:off x="6622542" y="3188018"/>
                <a:ext cx="3070293"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Nhạc phát, đèn đổi màu theo cảm xúc</a:t>
                </a:r>
                <a:endParaRPr lang="vi-VN" sz="1350" dirty="0">
                  <a:solidFill>
                    <a:schemeClr val="dk1"/>
                  </a:solidFill>
                  <a:latin typeface="+mn-lt"/>
                  <a:ea typeface="+mn-ea"/>
                  <a:cs typeface="+mn-cs"/>
                </a:endParaRPr>
              </a:p>
            </p:txBody>
          </p:sp>
          <p:sp>
            <p:nvSpPr>
              <p:cNvPr id="48" name="TextBox 48"/>
              <p:cNvSpPr txBox="1"/>
              <p:nvPr/>
            </p:nvSpPr>
            <p:spPr>
              <a:xfrm>
                <a:off x="6622542" y="3473768"/>
                <a:ext cx="190691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Bấm nút 1 → chuyển bài</a:t>
                </a:r>
                <a:endParaRPr lang="vi-VN" sz="1350" dirty="0">
                  <a:solidFill>
                    <a:schemeClr val="dk1"/>
                  </a:solidFill>
                  <a:latin typeface="+mn-lt"/>
                  <a:ea typeface="+mn-ea"/>
                  <a:cs typeface="+mn-cs"/>
                </a:endParaRPr>
              </a:p>
            </p:txBody>
          </p:sp>
          <p:sp>
            <p:nvSpPr>
              <p:cNvPr id="49" name="TextBox 49"/>
              <p:cNvSpPr txBox="1"/>
              <p:nvPr/>
            </p:nvSpPr>
            <p:spPr>
              <a:xfrm>
                <a:off x="6622542" y="3759518"/>
                <a:ext cx="338127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Mở database xem dòng </a:t>
                </a:r>
                <a:r>
                  <a:rPr lang="vi-VN" sz="1350" b="1" dirty="0">
                    <a:solidFill>
                      <a:srgbClr val="FF5A5F"/>
                    </a:solidFill>
                    <a:latin typeface="+mn-lt"/>
                    <a:ea typeface="+mn-ea"/>
                    <a:cs typeface="+mn-cs"/>
                  </a:rPr>
                  <a:t>bad</a:t>
                </a:r>
                <a:r>
                  <a:rPr lang="vi-VN" sz="1350" dirty="0">
                    <a:solidFill>
                      <a:schemeClr val="dk1"/>
                    </a:solidFill>
                    <a:latin typeface="+mn-lt"/>
                    <a:ea typeface="+mn-ea"/>
                    <a:cs typeface="+mn-cs"/>
                  </a:rPr>
                  <a:t> vừa được ghi</a:t>
                </a:r>
                <a:endParaRPr lang="vi-VN" sz="1350" dirty="0">
                  <a:solidFill>
                    <a:schemeClr val="dk1"/>
                  </a:solidFill>
                  <a:latin typeface="+mn-lt"/>
                  <a:ea typeface="+mn-ea"/>
                  <a:cs typeface="+mn-cs"/>
                </a:endParaRPr>
              </a:p>
            </p:txBody>
          </p:sp>
        </p:grpSp>
        <p:sp>
          <p:nvSpPr>
            <p:cNvPr id="51" name="TextBox 51"/>
            <p:cNvSpPr txBox="1"/>
            <p:nvPr/>
          </p:nvSpPr>
          <p:spPr>
            <a:xfrm>
              <a:off x="6394704" y="4213860"/>
              <a:ext cx="1919097"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MẪU BẢNG mood_history</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52" name="Rectangle 52"/>
            <p:cNvSpPr/>
            <p:nvPr/>
          </p:nvSpPr>
          <p:spPr>
            <a:xfrm>
              <a:off x="6400800" y="4476750"/>
              <a:ext cx="4876800" cy="1238250"/>
            </a:xfrm>
            <a:prstGeom prst="roundRect">
              <a:avLst>
                <a:gd name="adj" fmla="val 6154"/>
              </a:avLst>
            </a:prstGeom>
            <a:solidFill>
              <a:schemeClr val="lt1"/>
            </a:solidFill>
            <a:ln w="9525">
              <a:solidFill>
                <a:schemeClr val="accent6"/>
              </a:solidFill>
            </a:ln>
          </p:spPr>
        </p:sp>
        <p:grpSp>
          <p:nvGrpSpPr>
            <p:cNvPr id="65" name="mood-sample"/>
            <p:cNvGrpSpPr/>
            <p:nvPr/>
          </p:nvGrpSpPr>
          <p:grpSpPr>
            <a:xfrm>
              <a:off x="6585204" y="4594860"/>
              <a:ext cx="2716835" cy="1072896"/>
              <a:chOff x="6585204" y="4594860"/>
              <a:chExt cx="2716835" cy="1072896"/>
            </a:xfrm>
          </p:grpSpPr>
          <p:sp>
            <p:nvSpPr>
              <p:cNvPr id="53" name="TextBox 53"/>
              <p:cNvSpPr txBox="1"/>
              <p:nvPr/>
            </p:nvSpPr>
            <p:spPr>
              <a:xfrm>
                <a:off x="6585204" y="4594860"/>
                <a:ext cx="189890"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id</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54" name="TextBox 54"/>
              <p:cNvSpPr txBox="1"/>
              <p:nvPr/>
            </p:nvSpPr>
            <p:spPr>
              <a:xfrm>
                <a:off x="7156704" y="4594860"/>
                <a:ext cx="634136"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emotion</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55" name="TextBox 55"/>
              <p:cNvSpPr txBox="1"/>
              <p:nvPr/>
            </p:nvSpPr>
            <p:spPr>
              <a:xfrm>
                <a:off x="8490204" y="4594860"/>
                <a:ext cx="545287" cy="234696"/>
              </a:xfrm>
              <a:prstGeom prst="rect">
                <a:avLst/>
              </a:prstGeom>
              <a:noFill/>
              <a:ln>
                <a:noFill/>
              </a:ln>
            </p:spPr>
            <p:txBody>
              <a:bodyPr wrap="none" lIns="0" tIns="0" rIns="0" bIns="0" anchor="t" anchorCtr="0">
                <a:spAutoFit/>
              </a:bodyPr>
              <a:lstStyle/>
              <a:p>
                <a:pPr algn="l"/>
                <a:r>
                  <a:rPr lang="vi-VN" sz="1200" dirty="0">
                    <a:solidFill>
                      <a:schemeClr val="accent5"/>
                    </a:solidFill>
                    <a:latin typeface="Consolas" panose="020B0609020204030204"/>
                    <a:ea typeface="Consolas" panose="020B0609020204030204"/>
                    <a:cs typeface="Consolas" panose="020B0609020204030204"/>
                  </a:rPr>
                  <a:t>action</a:t>
                </a:r>
                <a:endParaRPr lang="vi-VN" sz="1200" dirty="0">
                  <a:solidFill>
                    <a:schemeClr val="accent5"/>
                  </a:solidFill>
                  <a:latin typeface="Consolas" panose="020B0609020204030204"/>
                  <a:ea typeface="Consolas" panose="020B0609020204030204"/>
                  <a:cs typeface="Consolas" panose="020B0609020204030204"/>
                </a:endParaRPr>
              </a:p>
            </p:txBody>
          </p:sp>
          <p:sp>
            <p:nvSpPr>
              <p:cNvPr id="56" name="TextBox 56"/>
              <p:cNvSpPr txBox="1"/>
              <p:nvPr/>
            </p:nvSpPr>
            <p:spPr>
              <a:xfrm>
                <a:off x="6585204" y="4899660"/>
                <a:ext cx="101041"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panose="020B0609020204030204"/>
                    <a:ea typeface="Consolas" panose="020B0609020204030204"/>
                    <a:cs typeface="Consolas" panose="020B0609020204030204"/>
                  </a:rPr>
                  <a:t>1</a:t>
                </a:r>
                <a:endParaRPr lang="vi-VN" sz="1200" dirty="0">
                  <a:solidFill>
                    <a:schemeClr val="dk1"/>
                  </a:solidFill>
                  <a:latin typeface="Consolas" panose="020B0609020204030204"/>
                  <a:ea typeface="Consolas" panose="020B0609020204030204"/>
                  <a:cs typeface="Consolas" panose="020B0609020204030204"/>
                </a:endParaRPr>
              </a:p>
            </p:txBody>
          </p:sp>
          <p:sp>
            <p:nvSpPr>
              <p:cNvPr id="57" name="TextBox 57"/>
              <p:cNvSpPr txBox="1"/>
              <p:nvPr/>
            </p:nvSpPr>
            <p:spPr>
              <a:xfrm>
                <a:off x="7156704" y="4899660"/>
                <a:ext cx="456438"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panose="020B0609020204030204"/>
                    <a:ea typeface="Consolas" panose="020B0609020204030204"/>
                    <a:cs typeface="Consolas" panose="020B0609020204030204"/>
                  </a:rPr>
                  <a:t>happy</a:t>
                </a:r>
                <a:endParaRPr lang="vi-VN" sz="1200" dirty="0">
                  <a:solidFill>
                    <a:schemeClr val="dk1"/>
                  </a:solidFill>
                  <a:latin typeface="Consolas" panose="020B0609020204030204"/>
                  <a:ea typeface="Consolas" panose="020B0609020204030204"/>
                  <a:cs typeface="Consolas" panose="020B0609020204030204"/>
                </a:endParaRPr>
              </a:p>
            </p:txBody>
          </p:sp>
          <p:sp>
            <p:nvSpPr>
              <p:cNvPr id="58" name="TextBox 58"/>
              <p:cNvSpPr txBox="1"/>
              <p:nvPr/>
            </p:nvSpPr>
            <p:spPr>
              <a:xfrm>
                <a:off x="8490204" y="4899660"/>
                <a:ext cx="811835"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Consolas" panose="020B0609020204030204"/>
                    <a:ea typeface="Consolas" panose="020B0609020204030204"/>
                    <a:cs typeface="Consolas" panose="020B0609020204030204"/>
                  </a:rPr>
                  <a:t>suggested</a:t>
                </a:r>
                <a:endParaRPr lang="vi-VN" sz="1200" dirty="0">
                  <a:solidFill>
                    <a:schemeClr val="accent1"/>
                  </a:solidFill>
                  <a:latin typeface="Consolas" panose="020B0609020204030204"/>
                  <a:ea typeface="Consolas" panose="020B0609020204030204"/>
                  <a:cs typeface="Consolas" panose="020B0609020204030204"/>
                </a:endParaRPr>
              </a:p>
            </p:txBody>
          </p:sp>
          <p:sp>
            <p:nvSpPr>
              <p:cNvPr id="59" name="TextBox 59"/>
              <p:cNvSpPr txBox="1"/>
              <p:nvPr/>
            </p:nvSpPr>
            <p:spPr>
              <a:xfrm>
                <a:off x="6585204" y="5166360"/>
                <a:ext cx="101041"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panose="020B0609020204030204"/>
                    <a:ea typeface="Consolas" panose="020B0609020204030204"/>
                    <a:cs typeface="Consolas" panose="020B0609020204030204"/>
                  </a:rPr>
                  <a:t>2</a:t>
                </a:r>
                <a:endParaRPr lang="vi-VN" sz="1200" dirty="0">
                  <a:solidFill>
                    <a:schemeClr val="dk1"/>
                  </a:solidFill>
                  <a:latin typeface="Consolas" panose="020B0609020204030204"/>
                  <a:ea typeface="Consolas" panose="020B0609020204030204"/>
                  <a:cs typeface="Consolas" panose="020B0609020204030204"/>
                </a:endParaRPr>
              </a:p>
            </p:txBody>
          </p:sp>
          <p:sp>
            <p:nvSpPr>
              <p:cNvPr id="60" name="TextBox 60"/>
              <p:cNvSpPr txBox="1"/>
              <p:nvPr/>
            </p:nvSpPr>
            <p:spPr>
              <a:xfrm>
                <a:off x="7156704" y="5166360"/>
                <a:ext cx="456438"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panose="020B0609020204030204"/>
                    <a:ea typeface="Consolas" panose="020B0609020204030204"/>
                    <a:cs typeface="Consolas" panose="020B0609020204030204"/>
                  </a:rPr>
                  <a:t>happy</a:t>
                </a:r>
                <a:endParaRPr lang="vi-VN" sz="1200" dirty="0">
                  <a:solidFill>
                    <a:schemeClr val="dk1"/>
                  </a:solidFill>
                  <a:latin typeface="Consolas" panose="020B0609020204030204"/>
                  <a:ea typeface="Consolas" panose="020B0609020204030204"/>
                  <a:cs typeface="Consolas" panose="020B0609020204030204"/>
                </a:endParaRPr>
              </a:p>
            </p:txBody>
          </p:sp>
          <p:sp>
            <p:nvSpPr>
              <p:cNvPr id="61" name="TextBox 61"/>
              <p:cNvSpPr txBox="1"/>
              <p:nvPr/>
            </p:nvSpPr>
            <p:spPr>
              <a:xfrm>
                <a:off x="8490204" y="5166360"/>
                <a:ext cx="278740" cy="234696"/>
              </a:xfrm>
              <a:prstGeom prst="rect">
                <a:avLst/>
              </a:prstGeom>
              <a:noFill/>
              <a:ln>
                <a:noFill/>
              </a:ln>
            </p:spPr>
            <p:txBody>
              <a:bodyPr wrap="none" lIns="0" tIns="0" rIns="0" bIns="0" anchor="t" anchorCtr="0">
                <a:spAutoFit/>
              </a:bodyPr>
              <a:lstStyle/>
              <a:p>
                <a:pPr algn="l"/>
                <a:r>
                  <a:rPr lang="vi-VN" sz="1200" dirty="0">
                    <a:solidFill>
                      <a:srgbClr val="FF5A5F"/>
                    </a:solidFill>
                    <a:latin typeface="Consolas" panose="020B0609020204030204"/>
                    <a:ea typeface="Consolas" panose="020B0609020204030204"/>
                    <a:cs typeface="Consolas" panose="020B0609020204030204"/>
                  </a:rPr>
                  <a:t>bad</a:t>
                </a:r>
                <a:endParaRPr lang="vi-VN" sz="1200" dirty="0">
                  <a:solidFill>
                    <a:srgbClr val="FF5A5F"/>
                  </a:solidFill>
                  <a:latin typeface="Consolas" panose="020B0609020204030204"/>
                  <a:ea typeface="Consolas" panose="020B0609020204030204"/>
                  <a:cs typeface="Consolas" panose="020B0609020204030204"/>
                </a:endParaRPr>
              </a:p>
            </p:txBody>
          </p:sp>
          <p:sp>
            <p:nvSpPr>
              <p:cNvPr id="62" name="TextBox 62"/>
              <p:cNvSpPr txBox="1"/>
              <p:nvPr/>
            </p:nvSpPr>
            <p:spPr>
              <a:xfrm>
                <a:off x="6585204" y="5433060"/>
                <a:ext cx="101041"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panose="020B0609020204030204"/>
                    <a:ea typeface="Consolas" panose="020B0609020204030204"/>
                    <a:cs typeface="Consolas" panose="020B0609020204030204"/>
                  </a:rPr>
                  <a:t>3</a:t>
                </a:r>
                <a:endParaRPr lang="vi-VN" sz="1200" dirty="0">
                  <a:solidFill>
                    <a:schemeClr val="dk1"/>
                  </a:solidFill>
                  <a:latin typeface="Consolas" panose="020B0609020204030204"/>
                  <a:ea typeface="Consolas" panose="020B0609020204030204"/>
                  <a:cs typeface="Consolas" panose="020B0609020204030204"/>
                </a:endParaRPr>
              </a:p>
            </p:txBody>
          </p:sp>
          <p:sp>
            <p:nvSpPr>
              <p:cNvPr id="63" name="TextBox 63"/>
              <p:cNvSpPr txBox="1"/>
              <p:nvPr/>
            </p:nvSpPr>
            <p:spPr>
              <a:xfrm>
                <a:off x="7156704" y="5433060"/>
                <a:ext cx="278740" cy="234696"/>
              </a:xfrm>
              <a:prstGeom prst="rect">
                <a:avLst/>
              </a:prstGeom>
              <a:noFill/>
              <a:ln>
                <a:noFill/>
              </a:ln>
            </p:spPr>
            <p:txBody>
              <a:bodyPr wrap="none" lIns="0" tIns="0" rIns="0" bIns="0" anchor="t" anchorCtr="0">
                <a:spAutoFit/>
              </a:bodyPr>
              <a:lstStyle/>
              <a:p>
                <a:pPr algn="l"/>
                <a:r>
                  <a:rPr lang="vi-VN" sz="1200" dirty="0">
                    <a:solidFill>
                      <a:schemeClr val="dk1"/>
                    </a:solidFill>
                    <a:latin typeface="Consolas" panose="020B0609020204030204"/>
                    <a:ea typeface="Consolas" panose="020B0609020204030204"/>
                    <a:cs typeface="Consolas" panose="020B0609020204030204"/>
                  </a:rPr>
                  <a:t>sad</a:t>
                </a:r>
                <a:endParaRPr lang="vi-VN" sz="1200" dirty="0">
                  <a:solidFill>
                    <a:schemeClr val="dk1"/>
                  </a:solidFill>
                  <a:latin typeface="Consolas" panose="020B0609020204030204"/>
                  <a:ea typeface="Consolas" panose="020B0609020204030204"/>
                  <a:cs typeface="Consolas" panose="020B0609020204030204"/>
                </a:endParaRPr>
              </a:p>
            </p:txBody>
          </p:sp>
          <p:sp>
            <p:nvSpPr>
              <p:cNvPr id="64" name="TextBox 64"/>
              <p:cNvSpPr txBox="1"/>
              <p:nvPr/>
            </p:nvSpPr>
            <p:spPr>
              <a:xfrm>
                <a:off x="8490204" y="5433060"/>
                <a:ext cx="367589" cy="234696"/>
              </a:xfrm>
              <a:prstGeom prst="rect">
                <a:avLst/>
              </a:prstGeom>
              <a:noFill/>
              <a:ln>
                <a:noFill/>
              </a:ln>
            </p:spPr>
            <p:txBody>
              <a:bodyPr wrap="none" lIns="0" tIns="0" rIns="0" bIns="0" anchor="t" anchorCtr="0">
                <a:spAutoFit/>
              </a:bodyPr>
              <a:lstStyle/>
              <a:p>
                <a:pPr algn="l"/>
                <a:r>
                  <a:rPr lang="vi-VN" sz="1200" dirty="0">
                    <a:solidFill>
                      <a:srgbClr val="34D399"/>
                    </a:solidFill>
                    <a:latin typeface="Consolas" panose="020B0609020204030204"/>
                    <a:ea typeface="Consolas" panose="020B0609020204030204"/>
                    <a:cs typeface="Consolas" panose="020B0609020204030204"/>
                  </a:rPr>
                  <a:t>good</a:t>
                </a:r>
                <a:endParaRPr lang="vi-VN" sz="1200" dirty="0">
                  <a:solidFill>
                    <a:srgbClr val="34D399"/>
                  </a:solidFill>
                  <a:latin typeface="Consolas" panose="020B0609020204030204"/>
                  <a:ea typeface="Consolas" panose="020B0609020204030204"/>
                  <a:cs typeface="Consolas" panose="020B0609020204030204"/>
                </a:endParaRPr>
              </a:p>
            </p:txBody>
          </p:sp>
        </p:grpSp>
        <p:sp>
          <p:nvSpPr>
            <p:cNvPr id="66" name="TextBox 66"/>
            <p:cNvSpPr txBox="1"/>
            <p:nvPr/>
          </p:nvSpPr>
          <p:spPr>
            <a:xfrm>
              <a:off x="6395466" y="5849302"/>
              <a:ext cx="1083651" cy="205359"/>
            </a:xfrm>
            <a:prstGeom prst="rect">
              <a:avLst/>
            </a:prstGeom>
            <a:noFill/>
            <a:ln>
              <a:noFill/>
            </a:ln>
          </p:spPr>
          <p:txBody>
            <a:bodyPr wrap="none" lIns="0" tIns="0" rIns="0" bIns="0" anchor="t" anchorCtr="0">
              <a:spAutoFit/>
            </a:bodyPr>
            <a:lstStyle/>
            <a:p>
              <a:pPr algn="l"/>
              <a:r>
                <a:rPr lang="vi-VN" sz="1050" dirty="0">
                  <a:solidFill>
                    <a:schemeClr val="accent5"/>
                  </a:solidFill>
                  <a:latin typeface="+mn-lt"/>
                  <a:ea typeface="+mn-ea"/>
                  <a:cs typeface="+mn-cs"/>
                </a:rPr>
                <a:t>Dữ liệu minh họa</a:t>
              </a:r>
              <a:endParaRPr lang="vi-VN" sz="1050" dirty="0">
                <a:solidFill>
                  <a:schemeClr val="accent5"/>
                </a:solidFill>
                <a:latin typeface="+mn-lt"/>
                <a:ea typeface="+mn-ea"/>
                <a:cs typeface="+mn-cs"/>
              </a:endParaRPr>
            </a:p>
          </p:txBody>
        </p:sp>
      </p:grpSp>
      <p:sp>
        <p:nvSpPr>
          <p:cNvPr id="68" name="TextBox 68"/>
          <p:cNvSpPr txBox="1"/>
          <p:nvPr/>
        </p:nvSpPr>
        <p:spPr>
          <a:xfrm>
            <a:off x="10954360" y="6385560"/>
            <a:ext cx="634136" cy="234696"/>
          </a:xfrm>
          <a:prstGeom prst="rect">
            <a:avLst/>
          </a:prstGeom>
          <a:noFill/>
          <a:ln>
            <a:noFill/>
          </a:ln>
        </p:spPr>
        <p:txBody>
          <a:bodyPr wrap="none" lIns="0" tIns="0" rIns="0" bIns="0" anchor="t" anchorCtr="0">
            <a:spAutoFit/>
          </a:bodyPr>
          <a:lstStyle/>
          <a:p>
            <a:pPr algn="r"/>
            <a:r>
              <a:rPr lang="vi-VN" sz="1200" dirty="0">
                <a:solidFill>
                  <a:schemeClr val="accent5"/>
                </a:solidFill>
                <a:latin typeface="Consolas" panose="020B0609020204030204"/>
                <a:ea typeface="Consolas" panose="020B0609020204030204"/>
                <a:cs typeface="Consolas" panose="020B0609020204030204"/>
              </a:rPr>
              <a:t>12 / 13</a:t>
            </a:r>
            <a:endParaRPr lang="vi-VN" sz="1200" dirty="0">
              <a:solidFill>
                <a:schemeClr val="accent5"/>
              </a:solidFill>
              <a:latin typeface="Consolas" panose="020B0609020204030204"/>
              <a:ea typeface="Consolas" panose="020B0609020204030204"/>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emotune_bao_cao">
  <a:themeElements>
    <a:clrScheme name="emotune_bao_cao">
      <a:dk1>
        <a:srgbClr val="E8ECF4"/>
      </a:dk1>
      <a:lt1>
        <a:srgbClr val="0B1020"/>
      </a:lt1>
      <a:dk2>
        <a:srgbClr val="1F497D"/>
      </a:dk2>
      <a:lt2>
        <a:srgbClr val="161D33"/>
      </a:lt2>
      <a:accent1>
        <a:srgbClr val="22D3EE"/>
      </a:accent1>
      <a:accent2>
        <a:srgbClr val="FFC93C"/>
      </a:accent2>
      <a:accent3>
        <a:srgbClr val="B46CFF"/>
      </a:accent3>
      <a:accent4>
        <a:srgbClr val="22D3EE"/>
      </a:accent4>
      <a:accent5>
        <a:srgbClr val="8B95AD"/>
      </a:accent5>
      <a:accent6>
        <a:srgbClr val="2A3350"/>
      </a:accent6>
      <a:hlink>
        <a:srgbClr val="FFC93C"/>
      </a:hlink>
      <a:folHlink>
        <a:srgbClr val="B46CFF"/>
      </a:folHlink>
    </a:clrScheme>
    <a:fontScheme name="emotune_bao_cao">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motune_bao_ca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motune_bao_cao">
  <a:themeElements>
    <a:clrScheme name="emotune_bao_cao">
      <a:dk1>
        <a:srgbClr val="E8ECF4"/>
      </a:dk1>
      <a:lt1>
        <a:srgbClr val="0B1020"/>
      </a:lt1>
      <a:dk2>
        <a:srgbClr val="1F497D"/>
      </a:dk2>
      <a:lt2>
        <a:srgbClr val="161D33"/>
      </a:lt2>
      <a:accent1>
        <a:srgbClr val="22D3EE"/>
      </a:accent1>
      <a:accent2>
        <a:srgbClr val="FFC93C"/>
      </a:accent2>
      <a:accent3>
        <a:srgbClr val="B46CFF"/>
      </a:accent3>
      <a:accent4>
        <a:srgbClr val="22D3EE"/>
      </a:accent4>
      <a:accent5>
        <a:srgbClr val="8B95AD"/>
      </a:accent5>
      <a:accent6>
        <a:srgbClr val="2A3350"/>
      </a:accent6>
      <a:hlink>
        <a:srgbClr val="FFC93C"/>
      </a:hlink>
      <a:folHlink>
        <a:srgbClr val="B46CFF"/>
      </a:folHlink>
    </a:clrScheme>
    <a:fontScheme name="emotune_bao_cao">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motune_bao_ca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4656</Words>
  <Application>WPS Presentation</Application>
  <PresentationFormat>On-screen Show (16:9)</PresentationFormat>
  <Paragraphs>464</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Arial</vt:lpstr>
      <vt:lpstr>Consolas</vt:lpstr>
      <vt:lpstr>Microsoft YaHei</vt:lpstr>
      <vt:lpstr>Arial Unicode MS</vt:lpstr>
      <vt:lpstr>Segoe UI</vt:lpstr>
      <vt:lpstr>emotune_bao_cao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Vinh Nguyen</cp:lastModifiedBy>
  <cp:revision>2</cp:revision>
  <dcterms:created xsi:type="dcterms:W3CDTF">2026-09-28T00:39:00Z</dcterms:created>
  <dcterms:modified xsi:type="dcterms:W3CDTF">2026-09-28T01:13:10Z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61C535650A614E799C81B284FA10880C_12</vt:lpwstr>
  </property>
</Properties>
</file>